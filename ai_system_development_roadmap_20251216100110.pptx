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6572707" y="1190549"/>
            <a:ext cx="5143500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6572707" y="1440180"/>
            <a:ext cx="5143500" cy="1923898"/>
          </a:xfrm>
          <a:prstGeom prst="roundRect">
            <a:avLst>
              <a:gd name="adj" fmla="val 2823"/>
            </a:avLst>
          </a:prstGeom>
          <a:solidFill>
            <a:srgbClr val="ECFDF5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72707" y="1440180"/>
            <a:ext cx="57607" cy="1923898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67144" y="1687982"/>
            <a:ext cx="171907" cy="1719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72707" y="3555187"/>
            <a:ext cx="5143500" cy="1619402"/>
          </a:xfrm>
          <a:prstGeom prst="roundRect">
            <a:avLst>
              <a:gd name="adj" fmla="val 3986"/>
            </a:avLst>
          </a:prstGeom>
          <a:solidFill>
            <a:srgbClr val="FEF2F2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72707" y="3555187"/>
            <a:ext cx="57607" cy="161940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67144" y="3802075"/>
            <a:ext cx="171907" cy="17190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72707" y="6124651"/>
            <a:ext cx="51435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572707" y="381305"/>
            <a:ext cx="1357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CURRENT STAGE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572707" y="580644"/>
            <a:ext cx="34290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基礎段階 (1〜3合目)</a:t>
            </a:r>
            <a:endParaRPr lang="en-US" sz="2700" dirty="0"/>
          </a:p>
        </p:txBody>
      </p:sp>
      <p:sp>
        <p:nvSpPr>
          <p:cNvPr id="13" name="Text 9"/>
          <p:cNvSpPr txBox="1"/>
          <p:nvPr/>
        </p:nvSpPr>
        <p:spPr>
          <a:xfrm>
            <a:off x="7039051" y="1630375"/>
            <a:ext cx="1095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できること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867144" y="2030882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7114946" y="2030882"/>
            <a:ext cx="3610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AIコード補完・静的解析による実装速度と品質向上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867144" y="2335378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114946" y="2335378"/>
            <a:ext cx="3572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自動テストとCI/CD構築によるブランチ毎の自動化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867144" y="2640787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114946" y="2640787"/>
            <a:ext cx="2848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仕様整理・見積もりへのAIアシスト活用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867144" y="2945282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114946" y="2945282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社内チャットボット導入によるナレッジ効率化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039051" y="3745382"/>
            <a:ext cx="12865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できないこと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6867144" y="4144975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114946" y="4144975"/>
            <a:ext cx="2867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ゴール指示のみでの完全自動実装・設計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6867144" y="4450385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7114946" y="4450385"/>
            <a:ext cx="2695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本番リリース判断や合意形成のAI一任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6867144" y="4754880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7114946" y="4754880"/>
            <a:ext cx="3305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横断的な影響範囲のAIによる自動修正・マージ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6572707" y="6277356"/>
            <a:ext cx="3243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STEP: AI主導開発、自動デバッグ、MLOps基盤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rcRect l="25193" r="25193" t="0" b="0"/>
          <a:stretch/>
        </p:blipFill>
        <p:spPr>
          <a:xfrm>
            <a:off x="0" y="0"/>
            <a:ext cx="60963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6524244" y="1019556"/>
            <a:ext cx="5238598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6524244" y="1227125"/>
            <a:ext cx="5238598" cy="1857146"/>
          </a:xfrm>
          <a:prstGeom prst="roundRect">
            <a:avLst>
              <a:gd name="adj" fmla="val 3030"/>
            </a:avLst>
          </a:prstGeom>
          <a:solidFill>
            <a:srgbClr val="ECFDF5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24244" y="1227125"/>
            <a:ext cx="57607" cy="1857146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72046" y="1467612"/>
            <a:ext cx="171907" cy="1719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24244" y="3269894"/>
            <a:ext cx="5238598" cy="1561795"/>
          </a:xfrm>
          <a:prstGeom prst="roundRect">
            <a:avLst>
              <a:gd name="adj" fmla="val 428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24244" y="3269894"/>
            <a:ext cx="57607" cy="1561795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72046" y="3510382"/>
            <a:ext cx="171907" cy="17190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24244" y="6219749"/>
            <a:ext cx="523859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524244" y="286207"/>
            <a:ext cx="10533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PHASE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524244" y="485546"/>
            <a:ext cx="324337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成長段階 (4〜6合目)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6943954" y="1417320"/>
            <a:ext cx="10415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できること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772046" y="1803197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010705" y="1803197"/>
            <a:ext cx="43845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AI主導のコード・テスト生成と自動デバッグによる反復開発の短縮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772046" y="2093976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010705" y="2093976"/>
            <a:ext cx="32607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リグレッションの早期検知と自動修正提案の実装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772046" y="2383841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010705" y="2383841"/>
            <a:ext cx="31171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ドキュメントとコード間の自動整合性チェック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772046" y="2674620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7010705" y="2674620"/>
            <a:ext cx="46698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定型的な機能追加におけるAIの自律的実装（人間によるレビュー前提）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943954" y="3460090"/>
            <a:ext cx="123169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できないこと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772046" y="3845966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7010705" y="3845966"/>
            <a:ext cx="33841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複雑なアーキテクチャ判断を伴う自律的な機能設計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772046" y="4136746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7010705" y="4136746"/>
            <a:ext cx="29653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人間のレビューを介さない完全自動リリース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6772046" y="4427525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7010705" y="4427525"/>
            <a:ext cx="36795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未知のバグパターンに対する創造的な解決策の自律適用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6524244" y="6372454"/>
            <a:ext cx="4472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STEP: MLOps基盤の確立、ガードレール運用、完全自律化への準備</a:t>
            </a:r>
            <a:endParaRPr lang="en-US" sz="10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rcRect l="25193" r="25193" t="0" b="0"/>
          <a:stretch/>
        </p:blipFill>
        <p:spPr>
          <a:xfrm>
            <a:off x="0" y="0"/>
            <a:ext cx="60963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6524244" y="1019556"/>
            <a:ext cx="5238598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6524244" y="1227125"/>
            <a:ext cx="5238598" cy="1561795"/>
          </a:xfrm>
          <a:prstGeom prst="roundRect">
            <a:avLst>
              <a:gd name="adj" fmla="val 4284"/>
            </a:avLst>
          </a:prstGeom>
          <a:solidFill>
            <a:srgbClr val="ECFDF5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24244" y="1227125"/>
            <a:ext cx="57607" cy="156179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72046" y="1467612"/>
            <a:ext cx="171907" cy="1719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24244" y="2979115"/>
            <a:ext cx="5238598" cy="1561795"/>
          </a:xfrm>
          <a:prstGeom prst="roundRect">
            <a:avLst>
              <a:gd name="adj" fmla="val 428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24244" y="2979115"/>
            <a:ext cx="57607" cy="1561795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72046" y="3219602"/>
            <a:ext cx="171907" cy="17190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24244" y="6219749"/>
            <a:ext cx="5238598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524244" y="286207"/>
            <a:ext cx="13578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CURRENT STAGE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524244" y="485546"/>
            <a:ext cx="3243377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発展段階 (7〜9合目)</a:t>
            </a:r>
            <a:endParaRPr lang="en-US" sz="2500" dirty="0"/>
          </a:p>
        </p:txBody>
      </p:sp>
      <p:sp>
        <p:nvSpPr>
          <p:cNvPr id="13" name="Text 9"/>
          <p:cNvSpPr txBox="1"/>
          <p:nvPr/>
        </p:nvSpPr>
        <p:spPr>
          <a:xfrm>
            <a:off x="6943954" y="1417320"/>
            <a:ext cx="10415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できること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772046" y="1803197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010705" y="1803197"/>
            <a:ext cx="41276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MLOps基盤による継続的なモデル監視と再学習サイクルの確立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772046" y="2093976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7010705" y="2093976"/>
            <a:ext cx="3670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AIガードレールの実装による出力の安全性と品質の担保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772046" y="2383841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100" dirty="0"/>
          </a:p>
        </p:txBody>
      </p:sp>
      <p:sp>
        <p:nvSpPr>
          <p:cNvPr id="19" name="Text 15"/>
          <p:cNvSpPr txBox="1"/>
          <p:nvPr/>
        </p:nvSpPr>
        <p:spPr>
          <a:xfrm>
            <a:off x="7010705" y="2383841"/>
            <a:ext cx="38322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リグレッションテストの自動化と自律的な修正提案の準備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943954" y="3170225"/>
            <a:ext cx="123169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できないこと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772046" y="3556102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7010705" y="3556102"/>
            <a:ext cx="38221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人間の承認なしでの完全自動デプロイ（最終承認は必須）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772046" y="3845966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7010705" y="3845966"/>
            <a:ext cx="31080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未知の異常事態に対する自律的なシステム修復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6772046" y="4136746"/>
            <a:ext cx="2596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7010705" y="4136746"/>
            <a:ext cx="26892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経営判断レベルの最適化提案と自動実行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6524244" y="6372454"/>
            <a:ext cx="2805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STEP: 目標地点 - 完全AI統合（頂上）へ</a:t>
            </a:r>
            <a:endParaRPr lang="en-US" sz="10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rcRect l="25172" r="25172" t="0" b="0"/>
          <a:stretch/>
        </p:blipFill>
        <p:spPr>
          <a:xfrm>
            <a:off x="0" y="0"/>
            <a:ext cx="609630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6572707" y="1190549"/>
            <a:ext cx="5143500" cy="1920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Shape 2"/>
          <p:cNvSpPr/>
          <p:nvPr/>
        </p:nvSpPr>
        <p:spPr>
          <a:xfrm>
            <a:off x="6572707" y="1440180"/>
            <a:ext cx="5143500" cy="1561795"/>
          </a:xfrm>
          <a:prstGeom prst="roundRect">
            <a:avLst>
              <a:gd name="adj" fmla="val 4284"/>
            </a:avLst>
          </a:prstGeom>
          <a:solidFill>
            <a:srgbClr val="ECFDF5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72707" y="1440180"/>
            <a:ext cx="57607" cy="1561795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67144" y="1673352"/>
            <a:ext cx="171907" cy="17190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72707" y="3193085"/>
            <a:ext cx="5143500" cy="1561795"/>
          </a:xfrm>
          <a:prstGeom prst="roundRect">
            <a:avLst>
              <a:gd name="adj" fmla="val 428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572707" y="3193085"/>
            <a:ext cx="57607" cy="1561795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67144" y="3426257"/>
            <a:ext cx="171907" cy="17190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72707" y="5934456"/>
            <a:ext cx="5143500" cy="543154"/>
          </a:xfrm>
          <a:prstGeom prst="roundRect">
            <a:avLst>
              <a:gd name="adj" fmla="val 23628"/>
            </a:avLst>
          </a:prstGeom>
          <a:solidFill>
            <a:srgbClr val="F1F5F9"/>
          </a:solidFill>
          <a:ln/>
        </p:spPr>
      </p:sp>
      <p:sp>
        <p:nvSpPr>
          <p:cNvPr id="11" name="Shape 7"/>
          <p:cNvSpPr/>
          <p:nvPr/>
        </p:nvSpPr>
        <p:spPr>
          <a:xfrm>
            <a:off x="6572707" y="5934456"/>
            <a:ext cx="5143500" cy="9144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15354" y="6143854"/>
            <a:ext cx="133502" cy="1335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572707" y="381305"/>
            <a:ext cx="1014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FINAL GOAL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6572707" y="580644"/>
            <a:ext cx="44677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完全AI統合 (頂上／10合目)</a:t>
            </a:r>
            <a:endParaRPr lang="en-US" sz="2700" dirty="0"/>
          </a:p>
        </p:txBody>
      </p:sp>
      <p:sp>
        <p:nvSpPr>
          <p:cNvPr id="15" name="Text 10"/>
          <p:cNvSpPr txBox="1"/>
          <p:nvPr/>
        </p:nvSpPr>
        <p:spPr>
          <a:xfrm>
            <a:off x="7039051" y="1630375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できること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867144" y="2050085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7077456" y="2002536"/>
            <a:ext cx="41083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要件〜デプロイまでガードレール下で自動連携・閉ループ開発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867144" y="2345436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7077456" y="2297887"/>
            <a:ext cx="44037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自己検証・自己回復・回帰修正の自動提案と安全なローリング適用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867144" y="2640787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077456" y="2592324"/>
            <a:ext cx="4241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データ駆動でのアーキテクチャ最適化（コスト・性能・信頼性）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7039051" y="3383280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できないこと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867144" y="3802075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7077456" y="3754526"/>
            <a:ext cx="35368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法規制・倫理を超える完全無人運用（人の承認必須）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6867144" y="4097426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7077456" y="4049878"/>
            <a:ext cx="36795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ブラックボックス運用（説明可能性・責任所在の放棄）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6867144" y="4392778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●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7077456" y="4345229"/>
            <a:ext cx="34893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100%のリスクゼロ保証（継続的リスク管理が必要）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6848856" y="6038698"/>
            <a:ext cx="47155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Note: 最終判断と責任は人が保持します。AIはあくまで強力なパートナーとして機能し、意思決定を支援します。</a:t>
            </a:r>
            <a:endParaRPr lang="en-US" sz="9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25193" r="25193" t="0" b="0"/>
          <a:stretch/>
        </p:blipFill>
        <p:spPr>
          <a:xfrm>
            <a:off x="0" y="0"/>
            <a:ext cx="609630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2025-12-16T10:01:10Z</dcterms:created>
  <dcterms:modified xsi:type="dcterms:W3CDTF">2025-12-16T10:01:10Z</dcterms:modified>
</cp:coreProperties>
</file>