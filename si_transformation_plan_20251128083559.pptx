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Shape 2"/>
          <p:cNvSpPr/>
          <p:nvPr/>
        </p:nvSpPr>
        <p:spPr>
          <a:xfrm>
            <a:off x="533095" y="457200"/>
            <a:ext cx="609905" cy="38405"/>
          </a:xfrm>
          <a:prstGeom prst="roundRect">
            <a:avLst>
              <a:gd name="adj" fmla="val 2380940"/>
            </a:avLst>
          </a:prstGeom>
          <a:solidFill>
            <a:srgbClr val="1E6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3095" y="666598"/>
            <a:ext cx="61722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SIの変革と来年度計画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533095" y="1505102"/>
            <a:ext cx="6191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品質・データノウハウの事業化とプロジェクト適用の両輪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33095" y="6172200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日付：2025-11-28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40941" y="6172200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用途：社長ヒアリング準備資料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1305"/>
            <a:ext cx="533095" cy="38405"/>
          </a:xfrm>
          <a:prstGeom prst="roundRect">
            <a:avLst>
              <a:gd name="adj" fmla="val 2380940"/>
            </a:avLst>
          </a:prstGeom>
          <a:solidFill>
            <a:srgbClr val="1E6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90702"/>
            <a:ext cx="372435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SIの変革：磨きこみの世界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38605"/>
            <a:ext cx="38405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7395" y="1638605"/>
            <a:ext cx="3381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目的・方針を明確化し、継続的に磨き込むための要点を整理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17797" y="381305"/>
            <a:ext cx="3076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目的：デリバリ品質と生産性の非連続向上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17797" y="761695"/>
            <a:ext cx="4467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アプローチ：標準化／再利用資産の強化、並行開発の可否検討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17797" y="1143000"/>
            <a:ext cx="430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品質：メトリクス設計、レビュー強化、改善サイクルの定着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17797" y="1524305"/>
            <a:ext cx="3686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協働資産：横断的に使えるアセット化と運用モデル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17797" y="1904695"/>
            <a:ext cx="3696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期待効果：案件安定化、原価改善、顧客満足の向上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361895"/>
            <a:ext cx="2719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テンプレート：section_overview_bullets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1305"/>
            <a:ext cx="533095" cy="38405"/>
          </a:xfrm>
          <a:prstGeom prst="roundRect">
            <a:avLst>
              <a:gd name="adj" fmla="val 2380940"/>
            </a:avLst>
          </a:prstGeom>
          <a:solidFill>
            <a:srgbClr val="1E6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52298"/>
            <a:ext cx="75154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SI外への展開：品質・データノウハウの商品化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5705"/>
            <a:ext cx="1472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提供価値・プロダクト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91056"/>
            <a:ext cx="1305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品質ノウハウ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899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7395" y="1952244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レビュー設計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6189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" y="2295144"/>
            <a:ext cx="8339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欠陥予測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0479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395" y="2638044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品質指標設計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38551"/>
            <a:ext cx="1495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データノウハウ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674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7395" y="3400654"/>
            <a:ext cx="10049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データ基盤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103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395" y="3743554"/>
            <a:ext cx="1528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データガバナンス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532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395" y="4086454"/>
            <a:ext cx="7196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ML運用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86500" y="1295705"/>
            <a:ext cx="1795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Go-To-Market（営業主体）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86500" y="1600200"/>
            <a:ext cx="151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推進体制：営業主導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86500" y="1943100"/>
            <a:ext cx="2229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売り方検討：AAさん／BBさん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86500" y="2286000"/>
            <a:ext cx="244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開始タイミング：年明けから着手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86500" y="2628900"/>
            <a:ext cx="4753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必要成果物：提案テンプレ、事例、価格メニュー、PoCパッケージ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86500" y="2971800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初期KPI：商談創出数、PoC受注、初期売上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572000"/>
            <a:ext cx="2462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テンプレート：two_column_strategy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10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1305"/>
            <a:ext cx="533095" cy="38405"/>
          </a:xfrm>
          <a:prstGeom prst="roundRect">
            <a:avLst>
              <a:gd name="adj" fmla="val 2380940"/>
            </a:avLst>
          </a:prstGeom>
          <a:solidFill>
            <a:srgbClr val="1E6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52298"/>
            <a:ext cx="75255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来年度計画の具体化：社長ヒアリングに向けて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8700"/>
            <a:ext cx="1329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四半期ロードマップ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47495"/>
            <a:ext cx="5524805" cy="1809598"/>
          </a:xfrm>
          <a:prstGeom prst="roundRect">
            <a:avLst>
              <a:gd name="adj" fmla="val 212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049" y="16093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E6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0372" y="1676095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7844" y="1638605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初期合意と設計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9" y="2104949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9244" y="2018995"/>
            <a:ext cx="1209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社長ヒアリング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049" y="239115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9244" y="230520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売り方合意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049" y="2676449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244" y="2590495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PoCテーマ確定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049" y="296265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9244" y="2876702"/>
            <a:ext cx="151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品質理論の実装設計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0605" y="1447495"/>
            <a:ext cx="5524805" cy="1809598"/>
          </a:xfrm>
          <a:prstGeom prst="roundRect">
            <a:avLst>
              <a:gd name="adj" fmla="val 212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2454" y="16093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E6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3777" y="1676095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791249" y="1638605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試行と実証開始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72454" y="2104949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0B1F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62649" y="2018995"/>
            <a:ext cx="2915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プロジェクト適用（並行開発？）の試行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72454" y="239115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62649" y="2305202"/>
            <a:ext cx="1209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協働資産の整備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72454" y="2676449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0B1F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62649" y="2590495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実証開始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72454" y="296265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0B1F3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62649" y="2876702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金回り（資金計画）案作成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86607"/>
            <a:ext cx="5524805" cy="1809598"/>
          </a:xfrm>
          <a:prstGeom prst="roundRect">
            <a:avLst>
              <a:gd name="adj" fmla="val 212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9" y="364845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E6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0372" y="3715207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37844" y="3676802"/>
            <a:ext cx="13478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ローンチと展開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9049" y="414314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9244" y="4058107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共同施策ローンチ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9049" y="44293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09244" y="4343400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本格展開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049" y="471464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9244" y="4629607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特許出願可否判断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9049" y="50008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09244" y="4914900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契約整理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0605" y="3486607"/>
            <a:ext cx="5524805" cy="1809598"/>
          </a:xfrm>
          <a:prstGeom prst="roundRect">
            <a:avLst>
              <a:gd name="adj" fmla="val 212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2454" y="364845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E6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43777" y="3715207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Q4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791249" y="3676802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総括と標準化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72454" y="414314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0B1F3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62649" y="405810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成果評価とスケール計画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72454" y="44293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0B1F3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62649" y="4343400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標準化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72454" y="471464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0B1F3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62649" y="4629607"/>
            <a:ext cx="1209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次年度投資判断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5524805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関係者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5753405"/>
            <a:ext cx="56299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CCさん（品質理論実証）、DDさん／EEさん（実装・整理）、営業（GTM）、経営（意思決定）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210605" y="5524805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主要意思決定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210605" y="5753405"/>
            <a:ext cx="4629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並行開発の採否／協働資産か共同施策か／特許戦略／金回り設計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439205"/>
            <a:ext cx="2319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テンプレート：roadmap_quarterly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1305"/>
            <a:ext cx="533095" cy="38405"/>
          </a:xfrm>
          <a:prstGeom prst="roundRect">
            <a:avLst>
              <a:gd name="adj" fmla="val 2380940"/>
            </a:avLst>
          </a:prstGeom>
          <a:solidFill>
            <a:srgbClr val="1E6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52298"/>
            <a:ext cx="37243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まとめ・次のステップ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18895"/>
            <a:ext cx="4572000" cy="2286000"/>
          </a:xfrm>
          <a:prstGeom prst="roundRect">
            <a:avLst>
              <a:gd name="adj" fmla="val 133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9049" y="1380744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アクション（時系列）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9049" y="172364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8" name="Shape 6"/>
          <p:cNvSpPr/>
          <p:nvPr/>
        </p:nvSpPr>
        <p:spPr>
          <a:xfrm>
            <a:off x="809244" y="1647749"/>
            <a:ext cx="857707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5198" y="1676095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今週〜来週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9244" y="19339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社長ヒア素案・論点整理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9" y="231434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9244" y="2238451"/>
            <a:ext cx="448056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5198" y="2266798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年内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" y="2523744"/>
            <a:ext cx="3838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売り方検討（AAさん・BBさん）、提案骨子、PoC設計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049" y="2905049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" y="2829154"/>
            <a:ext cx="580644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5198" y="2857500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年明け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" y="3114446"/>
            <a:ext cx="385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GTMキックオフ、初期案件開拓、品質理論の実証開始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51399" y="1218895"/>
            <a:ext cx="2648102" cy="2286000"/>
          </a:xfrm>
          <a:prstGeom prst="roundRect">
            <a:avLst>
              <a:gd name="adj" fmla="val 133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13248" y="1380744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リスクと対応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13248" y="1723644"/>
            <a:ext cx="66751" cy="75895"/>
          </a:xfrm>
          <a:prstGeom prst="roundRect">
            <a:avLst>
              <a:gd name="adj" fmla="val 1369867"/>
            </a:avLst>
          </a:prstGeom>
          <a:solidFill>
            <a:srgbClr val="0B1F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87898" y="1647749"/>
            <a:ext cx="2210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リソース逼迫 → 優先順位・ローテ設計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13248" y="22576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03443" y="2180844"/>
            <a:ext cx="1752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知財 → 外部弁理士相談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13248" y="2562149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99786" y="2486254"/>
            <a:ext cx="2210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金回り → 原価・価格モデル試算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102" y="1218895"/>
            <a:ext cx="3610051" cy="2286000"/>
          </a:xfrm>
          <a:prstGeom prst="roundRect">
            <a:avLst>
              <a:gd name="adj" fmla="val 133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9950" y="1380744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成果指標（初期）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89950" y="172364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42655" y="1647749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初期受注数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007194" y="172364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59898" y="1647749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PoC成功率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89950" y="20290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42655" y="1952244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品質指標改善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07194" y="202905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E6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159898" y="1952244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粗利率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733495"/>
            <a:ext cx="2576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テンプレート：summary_next_actions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2025-11-28T08:35:59Z</dcterms:created>
  <dcterms:modified xsi:type="dcterms:W3CDTF">2025-11-28T08:35:59Z</dcterms:modified>
</cp:coreProperties>
</file>