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76695" y="-2095805"/>
            <a:ext cx="7810805" cy="7810805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647395"/>
            <a:ext cx="59920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2026年度の計画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5098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48226" y="914400"/>
            <a:ext cx="355335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アジェンダ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1790395"/>
            <a:ext cx="2705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2026年度の計画 — 2つの主要取り組み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905" y="2210105"/>
            <a:ext cx="5333695" cy="2171700"/>
          </a:xfrm>
          <a:prstGeom prst="roundRect">
            <a:avLst>
              <a:gd name="adj" fmla="val 1108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609905" y="2210105"/>
            <a:ext cx="38405" cy="217170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8" name="Shape 6"/>
          <p:cNvSpPr/>
          <p:nvPr/>
        </p:nvSpPr>
        <p:spPr>
          <a:xfrm>
            <a:off x="6248095" y="2210105"/>
            <a:ext cx="5333695" cy="2266798"/>
          </a:xfrm>
          <a:prstGeom prst="roundRect">
            <a:avLst>
              <a:gd name="adj" fmla="val 1017"/>
            </a:avLst>
          </a:prstGeom>
          <a:solidFill>
            <a:srgbClr val="F8F9FA"/>
          </a:solidFill>
          <a:ln/>
        </p:spPr>
      </p:sp>
      <p:sp>
        <p:nvSpPr>
          <p:cNvPr id="9" name="Shape 7"/>
          <p:cNvSpPr/>
          <p:nvPr/>
        </p:nvSpPr>
        <p:spPr>
          <a:xfrm>
            <a:off x="6248095" y="2210105"/>
            <a:ext cx="38405" cy="2266798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0" name="Shape 8"/>
          <p:cNvSpPr/>
          <p:nvPr/>
        </p:nvSpPr>
        <p:spPr>
          <a:xfrm>
            <a:off x="800100" y="2371954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007B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39205" y="2371954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007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7026" y="2396642"/>
            <a:ext cx="1856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36131" y="2396642"/>
            <a:ext cx="1856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62202" y="2409444"/>
            <a:ext cx="2429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SIの変革に対する取り組み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01307" y="2409444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SI外のビジネスモデル構築に対する取り組み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0100" y="2762402"/>
            <a:ext cx="4990795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9205" y="2762402"/>
            <a:ext cx="4990795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" y="2876702"/>
            <a:ext cx="383407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「今のSIビジネスにおいて、圧倒的な生産性を確立する世界」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43446" y="2876702"/>
            <a:ext cx="210037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「ノウハウを売り物にする世界」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" y="3276295"/>
            <a:ext cx="1638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・実プロジェクト適用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" y="3805733"/>
            <a:ext cx="25530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・開発プロセスのブラッシュアップ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52805" y="3495751"/>
            <a:ext cx="3770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→ 並行開発 → 小規模拡大 → 課題取込 → 実績蓄積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52805" y="4024274"/>
            <a:ext cx="39227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→ 品質実証 → 要件定義 → 保守運用 → 別AIプロセス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39205" y="3276295"/>
            <a:ext cx="1791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・ビジネスモデルの検討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90995" y="3543300"/>
            <a:ext cx="2381098" cy="352044"/>
          </a:xfrm>
          <a:prstGeom prst="roundRect">
            <a:avLst>
              <a:gd name="adj" fmla="val 2808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48902" y="3543300"/>
            <a:ext cx="2381098" cy="352044"/>
          </a:xfrm>
          <a:prstGeom prst="roundRect">
            <a:avLst>
              <a:gd name="adj" fmla="val 2808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90995" y="3970325"/>
            <a:ext cx="2381098" cy="352044"/>
          </a:xfrm>
          <a:prstGeom prst="roundRect">
            <a:avLst>
              <a:gd name="adj" fmla="val 2808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48902" y="3970325"/>
            <a:ext cx="2381098" cy="352044"/>
          </a:xfrm>
          <a:prstGeom prst="roundRect">
            <a:avLst>
              <a:gd name="adj" fmla="val 2808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6151" y="3638398"/>
            <a:ext cx="185166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情報収集・技術進化の追求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153144" y="3638398"/>
            <a:ext cx="155722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著作権・契約書・特許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96151" y="4065422"/>
            <a:ext cx="127101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強み・マネタイズ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53144" y="4065422"/>
            <a:ext cx="185166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マーケット分析・競合分析</a:t>
            </a:r>
            <a:endParaRPr lang="en-US" sz="11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5198" y="6478524"/>
            <a:ext cx="171907" cy="171907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43000" y="6490411"/>
            <a:ext cx="10652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2026年度の計画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1213287" y="6490411"/>
            <a:ext cx="14081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Page 2 — アジェンダ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629107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52805" y="647395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7B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システムインテグレーション事業部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1228954"/>
            <a:ext cx="38679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SIの変革 概要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609905" y="2011680"/>
            <a:ext cx="809244" cy="295351"/>
          </a:xfrm>
          <a:prstGeom prst="roundRect">
            <a:avLst>
              <a:gd name="adj" fmla="val 39948"/>
            </a:avLst>
          </a:prstGeom>
          <a:solidFill>
            <a:srgbClr val="007B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4205" y="2050085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ビジョン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905" y="2419502"/>
            <a:ext cx="5181905" cy="52395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609905" y="2419502"/>
            <a:ext cx="38405" cy="523951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1695" y="2590495"/>
            <a:ext cx="45976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「今のSIビジネスにおいて、圧倒的な生産性を確立する世界」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9905" y="3126334"/>
            <a:ext cx="1248156" cy="295351"/>
          </a:xfrm>
          <a:prstGeom prst="roundRect">
            <a:avLst>
              <a:gd name="adj" fmla="val 39948"/>
            </a:avLst>
          </a:prstGeom>
          <a:solidFill>
            <a:srgbClr val="007B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4205" y="3164738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取り組み全体像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" y="3590849"/>
            <a:ext cx="20445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実プロジェクト適用の推進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90295" y="3917290"/>
            <a:ext cx="36447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並行開発から開始し、小規模案件から徐々に拡大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90295" y="4205326"/>
            <a:ext cx="34829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実プロジェクトの課題を取り込み、実績を蓄積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" y="4569257"/>
            <a:ext cx="252100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開発プロセスのブラッシュアップ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90295" y="4895698"/>
            <a:ext cx="45976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品質理論の実証、要件定義・保守運用の工程取込、別AIの活用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221" r="221" t="0" b="0"/>
          <a:stretch/>
        </p:blipFill>
        <p:spPr>
          <a:xfrm>
            <a:off x="6400800" y="2011680"/>
            <a:ext cx="5181905" cy="290504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00800" y="5054803"/>
            <a:ext cx="21744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>
                    <a:alpha val="90000"/>
                  </a:srgbClr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図: 開発プロセスフロー（概念図）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6014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666598"/>
            <a:ext cx="152705" cy="1527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75995" y="647395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7B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システムインテグレーション事業部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905" y="1104595"/>
            <a:ext cx="743407" cy="286207"/>
          </a:xfrm>
          <a:prstGeom prst="roundRect">
            <a:avLst>
              <a:gd name="adj" fmla="val 319489"/>
            </a:avLst>
          </a:prstGeom>
          <a:solidFill>
            <a:srgbClr val="007B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05002" y="1171346"/>
            <a:ext cx="6556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SIの変革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1501445"/>
            <a:ext cx="54864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実プロジェクト適用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2834640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4段階ステップ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100" r="100" t="0" b="0"/>
          <a:stretch/>
        </p:blipFill>
        <p:spPr>
          <a:xfrm>
            <a:off x="609905" y="3177540"/>
            <a:ext cx="5105095" cy="381944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76695" y="1104595"/>
            <a:ext cx="5105095" cy="866851"/>
          </a:xfrm>
          <a:prstGeom prst="roundRect">
            <a:avLst>
              <a:gd name="adj" fmla="val 4637"/>
            </a:avLst>
          </a:prstGeom>
          <a:solidFill>
            <a:srgbClr val="007BF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667805" y="1304849"/>
            <a:ext cx="2143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1) 並行開発から始める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667805" y="1628546"/>
            <a:ext cx="402336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複数タスクを並走し、初期段階からスピードと学習を両立。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76695" y="2083918"/>
            <a:ext cx="5105095" cy="905256"/>
          </a:xfrm>
          <a:prstGeom prst="roundRect">
            <a:avLst>
              <a:gd name="adj" fmla="val 4253"/>
            </a:avLst>
          </a:prstGeom>
          <a:noFill/>
          <a:ln w="25400">
            <a:solidFill>
              <a:srgbClr val="007B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87007" y="2303374"/>
            <a:ext cx="3477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7B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2) 小規模プロジェクトから徐々に拡大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687007" y="2627071"/>
            <a:ext cx="41669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小さく始め、成功パターンを確認しながら段階的にスケール。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76695" y="3101645"/>
            <a:ext cx="5105095" cy="866851"/>
          </a:xfrm>
          <a:prstGeom prst="roundRect">
            <a:avLst>
              <a:gd name="adj" fmla="val 4637"/>
            </a:avLst>
          </a:prstGeom>
          <a:solidFill>
            <a:srgbClr val="007BF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667805" y="3300984"/>
            <a:ext cx="36676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3) 実プロジェクトで出た課題を取り込む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667805" y="3625596"/>
            <a:ext cx="402336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現場課題を即時にプロセスへ反映し、改善サイクルを加速。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76695" y="4080053"/>
            <a:ext cx="5105095" cy="905256"/>
          </a:xfrm>
          <a:prstGeom prst="roundRect">
            <a:avLst>
              <a:gd name="adj" fmla="val 4253"/>
            </a:avLst>
          </a:prstGeom>
          <a:noFill/>
          <a:ln w="25400">
            <a:solidFill>
              <a:srgbClr val="007B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87007" y="4299509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7B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4) 開発実績を積む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687007" y="4623206"/>
            <a:ext cx="30047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適用事例を増やし、再現性と信頼性を強化。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007BFF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629107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52805" y="647395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システムインテグレーション事業部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905" y="1181405"/>
            <a:ext cx="847649" cy="333756"/>
          </a:xfrm>
          <a:prstGeom prst="roundRect">
            <a:avLst>
              <a:gd name="adj" fmla="val 31311"/>
            </a:avLst>
          </a:prstGeom>
          <a:solidFill>
            <a:srgbClr val="007B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3407" y="1266444"/>
            <a:ext cx="6903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SIの変革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1741018"/>
            <a:ext cx="8858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プロセスブラッシュアップ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2617013"/>
            <a:ext cx="5372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4つの改善項目により、開発ライフサイクル全体の品質と再現性を高めます。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9905" y="3112618"/>
            <a:ext cx="5372100" cy="981151"/>
          </a:xfrm>
          <a:prstGeom prst="roundRect">
            <a:avLst>
              <a:gd name="adj" fmla="val 3619"/>
            </a:avLst>
          </a:prstGeom>
          <a:solidFill>
            <a:srgbClr val="007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780898" y="3322015"/>
            <a:ext cx="133502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10605" y="3112618"/>
            <a:ext cx="5372100" cy="981151"/>
          </a:xfrm>
          <a:prstGeom prst="roundRect">
            <a:avLst>
              <a:gd name="adj" fmla="val 3619"/>
            </a:avLst>
          </a:prstGeom>
          <a:solidFill>
            <a:srgbClr val="007BFF"/>
          </a:solidFill>
          <a:ln/>
        </p:spPr>
      </p:sp>
      <p:sp>
        <p:nvSpPr>
          <p:cNvPr id="13" name="Shape 9"/>
          <p:cNvSpPr/>
          <p:nvPr/>
        </p:nvSpPr>
        <p:spPr>
          <a:xfrm>
            <a:off x="609905" y="4320540"/>
            <a:ext cx="5372100" cy="1200607"/>
          </a:xfrm>
          <a:prstGeom prst="roundRect">
            <a:avLst>
              <a:gd name="adj" fmla="val 2418"/>
            </a:avLst>
          </a:prstGeom>
          <a:solidFill>
            <a:srgbClr val="007BFF"/>
          </a:solidFill>
          <a:ln/>
        </p:spPr>
      </p:sp>
      <p:sp>
        <p:nvSpPr>
          <p:cNvPr id="14" name="Shape 10"/>
          <p:cNvSpPr/>
          <p:nvPr/>
        </p:nvSpPr>
        <p:spPr>
          <a:xfrm>
            <a:off x="6210605" y="4320540"/>
            <a:ext cx="5372100" cy="1200607"/>
          </a:xfrm>
          <a:prstGeom prst="roundRect">
            <a:avLst>
              <a:gd name="adj" fmla="val 2418"/>
            </a:avLst>
          </a:prstGeom>
          <a:solidFill>
            <a:srgbClr val="007BF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028700" y="3332074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品質理論実証検証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80898" y="3731666"/>
            <a:ext cx="489021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品質メトリクスの定義と評価を徹底し、理論に基づく改善ループを構築。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6381598" y="3322015"/>
            <a:ext cx="171907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67805" y="3332074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要件定義工程の取込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687007" y="4539996"/>
            <a:ext cx="2809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別AIによる開発プロセスの取込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81598" y="3731666"/>
            <a:ext cx="459486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上流工程を標準化し、要件〜設計〜実装のトレーサビリティを確保。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80898" y="4529938"/>
            <a:ext cx="152705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47902" y="4539996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保守運用工程の取込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80898" y="4939589"/>
            <a:ext cx="510052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運用要件・監視・SLAを設計段階から取り込み、運用コストと障害リスクを低減。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6381598" y="4529938"/>
            <a:ext cx="190195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381598" y="4939589"/>
            <a:ext cx="495696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補助AI/生成AIを適材適所で活用し、コード/レビュー/テストの生産性を向上。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609905" y="6086246"/>
            <a:ext cx="403433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2026年度計画｜プロセス改善の4本柱で「圧倒的な生産性」を実現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629107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52805" y="647395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7B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システムインテグレーション事業部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1228954"/>
            <a:ext cx="813450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SI外のビジネスモデル構築 概要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609905" y="2011680"/>
            <a:ext cx="809244" cy="295351"/>
          </a:xfrm>
          <a:prstGeom prst="roundRect">
            <a:avLst>
              <a:gd name="adj" fmla="val 39948"/>
            </a:avLst>
          </a:prstGeom>
          <a:solidFill>
            <a:srgbClr val="007B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4205" y="2050085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ビジョン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905" y="2400300"/>
            <a:ext cx="5181905" cy="7808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609905" y="2400300"/>
            <a:ext cx="38405" cy="780898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1695" y="2562149"/>
            <a:ext cx="49213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「ノウハウを売り物にする世界」を実現し、再現性ある提供形態で収益化する。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9905" y="3401568"/>
            <a:ext cx="666598" cy="295351"/>
          </a:xfrm>
          <a:prstGeom prst="roundRect">
            <a:avLst>
              <a:gd name="adj" fmla="val 39948"/>
            </a:avLst>
          </a:prstGeom>
          <a:solidFill>
            <a:srgbClr val="007B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4205" y="3439973"/>
            <a:ext cx="5468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全体像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" y="3856939"/>
            <a:ext cx="48444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ビジネスモデルの検討（4要素）を軸に価値提案と提供形態を設計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" y="4205326"/>
            <a:ext cx="50831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提供形態はライセンス・サブスク・研修/コンサル・テンプレート/ツール等を比較検討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" y="4825289"/>
            <a:ext cx="34061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Q3までに仮説検証を行い、MVPリリースへ接続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040026"/>
            <a:ext cx="242041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>
                    <a:alpha val="90000"/>
                  </a:srgbClr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ビジネスモデル検討の4要素（概要）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2336292"/>
            <a:ext cx="2514600" cy="504749"/>
          </a:xfrm>
          <a:prstGeom prst="roundRect">
            <a:avLst>
              <a:gd name="adj" fmla="val 13672"/>
            </a:avLst>
          </a:prstGeom>
          <a:solidFill>
            <a:srgbClr val="F8F9FA"/>
          </a:solidFill>
          <a:ln/>
        </p:spPr>
      </p:sp>
      <p:sp>
        <p:nvSpPr>
          <p:cNvPr id="19" name="Shape 16"/>
          <p:cNvSpPr/>
          <p:nvPr/>
        </p:nvSpPr>
        <p:spPr>
          <a:xfrm>
            <a:off x="6400800" y="2336292"/>
            <a:ext cx="38405" cy="504749"/>
          </a:xfrm>
          <a:prstGeom prst="rect">
            <a:avLst/>
          </a:prstGeom>
          <a:solidFill>
            <a:srgbClr val="007BF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53505" y="2450592"/>
            <a:ext cx="152705" cy="1527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705295" y="2498141"/>
            <a:ext cx="20445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情報収集・技術進化の追求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068105" y="2336292"/>
            <a:ext cx="2514600" cy="504749"/>
          </a:xfrm>
          <a:prstGeom prst="roundRect">
            <a:avLst>
              <a:gd name="adj" fmla="val 13672"/>
            </a:avLst>
          </a:prstGeom>
          <a:solidFill>
            <a:srgbClr val="F8F9FA"/>
          </a:solidFill>
          <a:ln/>
        </p:spPr>
      </p:sp>
      <p:sp>
        <p:nvSpPr>
          <p:cNvPr id="23" name="Shape 19"/>
          <p:cNvSpPr/>
          <p:nvPr/>
        </p:nvSpPr>
        <p:spPr>
          <a:xfrm>
            <a:off x="9068105" y="2336292"/>
            <a:ext cx="38405" cy="504749"/>
          </a:xfrm>
          <a:prstGeom prst="rect">
            <a:avLst/>
          </a:prstGeom>
          <a:solidFill>
            <a:srgbClr val="007B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9219895" y="2450592"/>
            <a:ext cx="190195" cy="152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411005" y="2498141"/>
            <a:ext cx="172090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著作権・契約書・特許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00800" y="2989174"/>
            <a:ext cx="2514600" cy="504749"/>
          </a:xfrm>
          <a:prstGeom prst="roundRect">
            <a:avLst>
              <a:gd name="adj" fmla="val 13672"/>
            </a:avLst>
          </a:prstGeom>
          <a:solidFill>
            <a:srgbClr val="F8F9FA"/>
          </a:solidFill>
          <a:ln/>
        </p:spPr>
      </p:sp>
      <p:sp>
        <p:nvSpPr>
          <p:cNvPr id="27" name="Shape 22"/>
          <p:cNvSpPr/>
          <p:nvPr/>
        </p:nvSpPr>
        <p:spPr>
          <a:xfrm>
            <a:off x="6400800" y="2989174"/>
            <a:ext cx="38405" cy="504749"/>
          </a:xfrm>
          <a:prstGeom prst="rect">
            <a:avLst/>
          </a:prstGeom>
          <a:solidFill>
            <a:srgbClr val="007B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53505" y="3103474"/>
            <a:ext cx="152705" cy="15270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705295" y="3151022"/>
            <a:ext cx="140634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強み・マネタイズ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068105" y="2989174"/>
            <a:ext cx="2514600" cy="504749"/>
          </a:xfrm>
          <a:prstGeom prst="roundRect">
            <a:avLst>
              <a:gd name="adj" fmla="val 13672"/>
            </a:avLst>
          </a:prstGeom>
          <a:solidFill>
            <a:srgbClr val="F8F9FA"/>
          </a:solidFill>
          <a:ln/>
        </p:spPr>
      </p:sp>
      <p:sp>
        <p:nvSpPr>
          <p:cNvPr id="31" name="Shape 25"/>
          <p:cNvSpPr/>
          <p:nvPr/>
        </p:nvSpPr>
        <p:spPr>
          <a:xfrm>
            <a:off x="9068105" y="2989174"/>
            <a:ext cx="38405" cy="504749"/>
          </a:xfrm>
          <a:prstGeom prst="rect">
            <a:avLst/>
          </a:prstGeom>
          <a:solidFill>
            <a:srgbClr val="007B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19895" y="3103474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372600" y="3151022"/>
            <a:ext cx="20445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マーケット分析・競合分析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6400800" y="3671316"/>
            <a:ext cx="333481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>
                    <a:alpha val="90000"/>
                  </a:srgbClr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次ページで各要素の詳細と期待成果を説明します。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007BFF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629107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52805" y="647395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システムインテグレーション事業部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905" y="1181405"/>
            <a:ext cx="2009851" cy="333756"/>
          </a:xfrm>
          <a:prstGeom prst="roundRect">
            <a:avLst>
              <a:gd name="adj" fmla="val 31311"/>
            </a:avLst>
          </a:prstGeom>
          <a:solidFill>
            <a:srgbClr val="007B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3407" y="1266444"/>
            <a:ext cx="185166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SI外のビジネスモデル構築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1636776"/>
            <a:ext cx="66486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ビジネスモデルの検討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2381098"/>
            <a:ext cx="5067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ビジネスモデル検討の4要素を具体化し、実行レベルに落とし込みます。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9905" y="2952598"/>
            <a:ext cx="5372100" cy="1123798"/>
          </a:xfrm>
          <a:prstGeom prst="roundRect">
            <a:avLst>
              <a:gd name="adj" fmla="val 2758"/>
            </a:avLst>
          </a:prstGeom>
          <a:solidFill>
            <a:srgbClr val="007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761695" y="3143707"/>
            <a:ext cx="133502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10605" y="4299509"/>
            <a:ext cx="5372100" cy="1123798"/>
          </a:xfrm>
          <a:prstGeom prst="roundRect">
            <a:avLst>
              <a:gd name="adj" fmla="val 2758"/>
            </a:avLst>
          </a:prstGeom>
          <a:solidFill>
            <a:srgbClr val="007BF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009498" y="3143707"/>
            <a:ext cx="233812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情報収集・技術進化の追求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4490618"/>
            <a:ext cx="233812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マーケット分析・競合分析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990295" y="3493922"/>
            <a:ext cx="36621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情報源：市場レポート／OSS／学術論文を定常レビュー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990295" y="3725266"/>
            <a:ext cx="308061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技術評価：PoC・スパイクで適用性を短期検証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0605" y="2952598"/>
            <a:ext cx="5372100" cy="1123798"/>
          </a:xfrm>
          <a:prstGeom prst="roundRect">
            <a:avLst>
              <a:gd name="adj" fmla="val 2758"/>
            </a:avLst>
          </a:prstGeom>
          <a:solidFill>
            <a:srgbClr val="F8F9FA"/>
          </a:solidFill>
          <a:ln/>
        </p:spPr>
      </p:sp>
      <p:sp>
        <p:nvSpPr>
          <p:cNvPr id="18" name="Shape 14"/>
          <p:cNvSpPr/>
          <p:nvPr/>
        </p:nvSpPr>
        <p:spPr>
          <a:xfrm>
            <a:off x="6210605" y="2952598"/>
            <a:ext cx="38405" cy="1123798"/>
          </a:xfrm>
          <a:prstGeom prst="rect">
            <a:avLst/>
          </a:prstGeom>
          <a:solidFill>
            <a:srgbClr val="007B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6400800" y="3143707"/>
            <a:ext cx="114300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90995" y="4840834"/>
            <a:ext cx="350946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市場規模：TAM／SAM／SOM算定と優先セグメント定義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590995" y="5072177"/>
            <a:ext cx="330007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ベンチマーク：価格／機能／チャネルの競合比較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09905" y="4299509"/>
            <a:ext cx="5372100" cy="1123798"/>
          </a:xfrm>
          <a:prstGeom prst="roundRect">
            <a:avLst>
              <a:gd name="adj" fmla="val 2758"/>
            </a:avLst>
          </a:prstGeom>
          <a:solidFill>
            <a:srgbClr val="F8F9FA"/>
          </a:solidFill>
          <a:ln/>
        </p:spPr>
      </p:sp>
      <p:sp>
        <p:nvSpPr>
          <p:cNvPr id="23" name="Shape 18"/>
          <p:cNvSpPr/>
          <p:nvPr/>
        </p:nvSpPr>
        <p:spPr>
          <a:xfrm>
            <a:off x="609905" y="4299509"/>
            <a:ext cx="38405" cy="1123798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629400" y="3143707"/>
            <a:ext cx="19659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著作権・契約書・特許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1067105" y="4490618"/>
            <a:ext cx="160477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強み・マネタイズ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629400" y="3493922"/>
            <a:ext cx="358536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権利整理：著作権／ライセンス／成果物の帰属明確化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629400" y="3725266"/>
            <a:ext cx="330007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知財戦略：先行出願・守秘徹底・契約雛形の整備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0100" y="4490618"/>
            <a:ext cx="152705" cy="15270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28700" y="4840834"/>
            <a:ext cx="387157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提供価値：ナレッジ／テンプレート／ツールとして資産化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1028700" y="5072177"/>
            <a:ext cx="344271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収益モデル：サブスク／ライセンス／プロサービス</a:t>
            </a:r>
            <a:endParaRPr lang="en-US" sz="11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62395" y="4490618"/>
            <a:ext cx="152705" cy="1527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09905" y="5675681"/>
            <a:ext cx="490118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期待効果：ノウハウの資産化と収益性の可視化により、継続的な成長基盤を構築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007BFF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629107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52805" y="647395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システムインテグレーション事業部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1123798"/>
            <a:ext cx="484266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まとめと今後の展望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1755648"/>
            <a:ext cx="8801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2026年度の取り組みを総括し、SIの変革とSI外ビジネスモデルの方向性、ならびに年度内の実行ロードマップを明確化します。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5" y="2189988"/>
            <a:ext cx="5372100" cy="1123798"/>
          </a:xfrm>
          <a:prstGeom prst="roundRect">
            <a:avLst>
              <a:gd name="adj" fmla="val 2758"/>
            </a:avLst>
          </a:prstGeom>
          <a:solidFill>
            <a:srgbClr val="F8F9FA"/>
          </a:solidFill>
          <a:ln/>
        </p:spPr>
      </p:sp>
      <p:sp>
        <p:nvSpPr>
          <p:cNvPr id="9" name="Shape 6"/>
          <p:cNvSpPr/>
          <p:nvPr/>
        </p:nvSpPr>
        <p:spPr>
          <a:xfrm>
            <a:off x="609905" y="2189988"/>
            <a:ext cx="38405" cy="1123798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0" name="Shape 7"/>
          <p:cNvSpPr/>
          <p:nvPr/>
        </p:nvSpPr>
        <p:spPr>
          <a:xfrm>
            <a:off x="6210605" y="2189988"/>
            <a:ext cx="5372100" cy="1123798"/>
          </a:xfrm>
          <a:prstGeom prst="roundRect">
            <a:avLst>
              <a:gd name="adj" fmla="val 2758"/>
            </a:avLst>
          </a:prstGeom>
          <a:solidFill>
            <a:srgbClr val="F8F9FA"/>
          </a:solidFill>
          <a:ln/>
        </p:spPr>
      </p:sp>
      <p:sp>
        <p:nvSpPr>
          <p:cNvPr id="11" name="Shape 8"/>
          <p:cNvSpPr/>
          <p:nvPr/>
        </p:nvSpPr>
        <p:spPr>
          <a:xfrm>
            <a:off x="6210605" y="2189988"/>
            <a:ext cx="38405" cy="1123798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0100" y="2380183"/>
            <a:ext cx="206197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B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SIの変革 重要ポイント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380183"/>
            <a:ext cx="297637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B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SI外ビジネスモデル 重要ポイント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90295" y="2730398"/>
            <a:ext cx="430956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実プロジェクト適用を段階的に拡大（並行開発→小規模→拡大）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90295" y="2962656"/>
            <a:ext cx="387157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プロセス改善を継続（品質・要件定義・保守運用・別AI）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90995" y="2730398"/>
            <a:ext cx="41669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ノウハウの資産化と収益化の設計（テンプレート／ツール化）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590995" y="2962656"/>
            <a:ext cx="28620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知財・契約の先行整備と市場／競合の検証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905" y="3670402"/>
            <a:ext cx="152705" cy="1527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8505" y="3660343"/>
            <a:ext cx="18434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2026年度ロードマップ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09905" y="3994099"/>
            <a:ext cx="3562502" cy="362102"/>
          </a:xfrm>
          <a:prstGeom prst="roundRect">
            <a:avLst>
              <a:gd name="adj" fmla="val 252526"/>
            </a:avLst>
          </a:prstGeom>
          <a:noFill/>
          <a:ln w="25400">
            <a:solidFill>
              <a:srgbClr val="007B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17797" y="3994099"/>
            <a:ext cx="3562502" cy="362102"/>
          </a:xfrm>
          <a:prstGeom prst="roundRect">
            <a:avLst>
              <a:gd name="adj" fmla="val 252526"/>
            </a:avLst>
          </a:prstGeom>
          <a:noFill/>
          <a:ln w="25400">
            <a:solidFill>
              <a:srgbClr val="007B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26603" y="3994099"/>
            <a:ext cx="3562502" cy="362102"/>
          </a:xfrm>
          <a:prstGeom prst="roundRect">
            <a:avLst>
              <a:gd name="adj" fmla="val 252526"/>
            </a:avLst>
          </a:prstGeom>
          <a:noFill/>
          <a:ln w="25400">
            <a:solidFill>
              <a:srgbClr val="007B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3407" y="4069994"/>
            <a:ext cx="209398" cy="209398"/>
          </a:xfrm>
          <a:prstGeom prst="roundRect">
            <a:avLst>
              <a:gd name="adj" fmla="val 436680"/>
            </a:avLst>
          </a:prstGeom>
          <a:solidFill>
            <a:srgbClr val="007BFF"/>
          </a:solidFill>
          <a:ln/>
        </p:spPr>
      </p:sp>
      <p:sp>
        <p:nvSpPr>
          <p:cNvPr id="24" name="Shape 20"/>
          <p:cNvSpPr/>
          <p:nvPr/>
        </p:nvSpPr>
        <p:spPr>
          <a:xfrm>
            <a:off x="4451299" y="4069994"/>
            <a:ext cx="209398" cy="209398"/>
          </a:xfrm>
          <a:prstGeom prst="roundRect">
            <a:avLst>
              <a:gd name="adj" fmla="val 436680"/>
            </a:avLst>
          </a:prstGeom>
          <a:solidFill>
            <a:srgbClr val="007BFF"/>
          </a:solidFill>
          <a:ln/>
        </p:spPr>
      </p:sp>
      <p:sp>
        <p:nvSpPr>
          <p:cNvPr id="25" name="Shape 21"/>
          <p:cNvSpPr/>
          <p:nvPr/>
        </p:nvSpPr>
        <p:spPr>
          <a:xfrm>
            <a:off x="8160106" y="4069994"/>
            <a:ext cx="209398" cy="209398"/>
          </a:xfrm>
          <a:prstGeom prst="roundRect">
            <a:avLst>
              <a:gd name="adj" fmla="val 436680"/>
            </a:avLst>
          </a:prstGeom>
          <a:solidFill>
            <a:srgbClr val="007BF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17474" y="4083710"/>
            <a:ext cx="1581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4525366" y="4083710"/>
            <a:ext cx="1581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8234172" y="4083710"/>
            <a:ext cx="1581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028700" y="4101084"/>
            <a:ext cx="26462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B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Q1–Q2: 並行開発＋小規模案件で実績創出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737506" y="4101084"/>
            <a:ext cx="24368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B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Q3: 改善点の全社展開・モジュール化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8445398" y="4101084"/>
            <a:ext cx="23701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B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Q4: ノウハウ商品MVPローンチと検証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2025-11-28T09:13:10Z</dcterms:created>
  <dcterms:modified xsi:type="dcterms:W3CDTF">2025-11-28T09:13:10Z</dcterms:modified>
</cp:coreProperties>
</file>