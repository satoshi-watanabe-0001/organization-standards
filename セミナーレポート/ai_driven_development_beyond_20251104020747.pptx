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sp>
      <p:sp>
        <p:nvSpPr>
          <p:cNvPr id="3" name="Shape 1"/>
          <p:cNvSpPr/>
          <p:nvPr/>
        </p:nvSpPr>
        <p:spPr>
          <a:xfrm>
            <a:off x="1143000" y="1995221"/>
            <a:ext cx="1429207" cy="57607"/>
          </a:xfrm>
          <a:prstGeom prst="rect">
            <a:avLst/>
          </a:prstGeom>
          <a:solidFill>
            <a:srgbClr val="00AEFF"/>
          </a:solidFill>
          <a:ln/>
        </p:spPr>
      </p:sp>
      <p:sp>
        <p:nvSpPr>
          <p:cNvPr id="4" name="Text 2"/>
          <p:cNvSpPr txBox="1"/>
          <p:nvPr/>
        </p:nvSpPr>
        <p:spPr>
          <a:xfrm>
            <a:off x="1143000" y="1976018"/>
            <a:ext cx="6134710" cy="829361"/>
          </a:xfrm>
          <a:prstGeom prst="rect">
            <a:avLst/>
          </a:prstGeom>
          <a:noFill/>
          <a:ln/>
        </p:spPr>
        <p:txBody>
          <a:bodyPr wrap="square" lIns="0" tIns="0" rIns="0" bIns="0" rtlCol="0" anchor="ctr"/>
          <a:lstStyle/>
          <a:p>
            <a:pPr algn="l" indent="0" marL="0">
              <a:buNone/>
            </a:pPr>
            <a:r>
              <a:rPr lang="en-US" sz="4500" b="1" dirty="0">
                <a:solidFill>
                  <a:srgbClr val="FFFFFF"/>
                </a:solidFill>
                <a:latin typeface="Noto Sans JP" pitchFamily="34" charset="0"/>
                <a:ea typeface="Noto Sans JP" pitchFamily="34" charset="-122"/>
                <a:cs typeface="Noto Sans JP" pitchFamily="34" charset="-120"/>
              </a:rPr>
              <a:t>AI駆動開発のその先へ</a:t>
            </a:r>
            <a:endParaRPr lang="en-US" sz="4500" dirty="0"/>
          </a:p>
        </p:txBody>
      </p:sp>
      <p:sp>
        <p:nvSpPr>
          <p:cNvPr id="5" name="Text 3"/>
          <p:cNvSpPr txBox="1"/>
          <p:nvPr/>
        </p:nvSpPr>
        <p:spPr>
          <a:xfrm>
            <a:off x="1143000" y="2967228"/>
            <a:ext cx="5358384" cy="419710"/>
          </a:xfrm>
          <a:prstGeom prst="rect">
            <a:avLst/>
          </a:prstGeom>
          <a:noFill/>
          <a:ln/>
        </p:spPr>
        <p:txBody>
          <a:bodyPr wrap="square" lIns="0" tIns="0" rIns="0" bIns="0" rtlCol="0" anchor="ctr"/>
          <a:lstStyle/>
          <a:p>
            <a:pPr algn="l" indent="0" marL="0">
              <a:buNone/>
            </a:pPr>
            <a:r>
              <a:rPr lang="en-US" sz="2200" dirty="0">
                <a:solidFill>
                  <a:srgbClr val="FFFFFF"/>
                </a:solidFill>
                <a:latin typeface="Noto Sans JP" pitchFamily="34" charset="0"/>
                <a:ea typeface="Noto Sans JP" pitchFamily="34" charset="-122"/>
                <a:cs typeface="Noto Sans JP" pitchFamily="34" charset="-120"/>
              </a:rPr>
              <a:t>真の本質的価値を探求できる組織を作る</a:t>
            </a:r>
            <a:endParaRPr lang="en-US" sz="2200" dirty="0"/>
          </a:p>
        </p:txBody>
      </p:sp>
      <p:sp>
        <p:nvSpPr>
          <p:cNvPr id="6" name="Text 4"/>
          <p:cNvSpPr txBox="1"/>
          <p:nvPr/>
        </p:nvSpPr>
        <p:spPr>
          <a:xfrm>
            <a:off x="1143000" y="3871570"/>
            <a:ext cx="2039112" cy="333756"/>
          </a:xfrm>
          <a:prstGeom prst="rect">
            <a:avLst/>
          </a:prstGeom>
          <a:noFill/>
          <a:ln/>
        </p:spPr>
        <p:txBody>
          <a:bodyPr wrap="square" lIns="0" tIns="0" rIns="0" bIns="0" rtlCol="0" anchor="ctr"/>
          <a:lstStyle/>
          <a:p>
            <a:pPr algn="l" indent="0" marL="0">
              <a:buNone/>
            </a:pPr>
            <a:r>
              <a:rPr lang="en-US" sz="1800" dirty="0">
                <a:solidFill>
                  <a:srgbClr val="FFFFFF"/>
                </a:solidFill>
                <a:latin typeface="Noto Sans JP" pitchFamily="34" charset="0"/>
                <a:ea typeface="Noto Sans JP" pitchFamily="34" charset="-122"/>
                <a:cs typeface="Noto Sans JP" pitchFamily="34" charset="-120"/>
              </a:rPr>
              <a:t>ランスティア 熊井</a:t>
            </a:r>
            <a:endParaRPr lang="en-US" sz="1800" dirty="0"/>
          </a:p>
        </p:txBody>
      </p:sp>
      <p:sp>
        <p:nvSpPr>
          <p:cNvPr id="7" name="Text 5"/>
          <p:cNvSpPr txBox="1"/>
          <p:nvPr/>
        </p:nvSpPr>
        <p:spPr>
          <a:xfrm>
            <a:off x="1143000" y="6344107"/>
            <a:ext cx="1172261" cy="228600"/>
          </a:xfrm>
          <a:prstGeom prst="rect">
            <a:avLst/>
          </a:prstGeom>
          <a:noFill/>
          <a:ln/>
        </p:spPr>
        <p:txBody>
          <a:bodyPr wrap="square" lIns="0" tIns="0" rIns="0" bIns="0" rtlCol="0" anchor="ctr"/>
          <a:lstStyle/>
          <a:p>
            <a:pPr algn="l" indent="0" marL="0">
              <a:buNone/>
            </a:pPr>
            <a:r>
              <a:rPr lang="en-US" sz="1200" dirty="0">
                <a:solidFill>
                  <a:srgbClr val="FFFFFF">
                    <a:alpha val="70000"/>
                  </a:srgbClr>
                </a:solidFill>
                <a:latin typeface="Noto Sans JP" pitchFamily="34" charset="0"/>
                <a:ea typeface="Noto Sans JP" pitchFamily="34" charset="-122"/>
                <a:cs typeface="Noto Sans JP" pitchFamily="34" charset="-120"/>
              </a:rPr>
              <a:t>2025年11月4日</a:t>
            </a:r>
            <a:endParaRPr lang="en-US" sz="1200" dirty="0"/>
          </a:p>
        </p:txBody>
      </p:sp>
      <p:sp>
        <p:nvSpPr>
          <p:cNvPr id="8" name="Shape 6"/>
          <p:cNvSpPr/>
          <p:nvPr/>
        </p:nvSpPr>
        <p:spPr>
          <a:xfrm>
            <a:off x="8572500" y="3238805"/>
            <a:ext cx="4762195" cy="4762195"/>
          </a:xfrm>
          <a:prstGeom prst="ellipse">
            <a:avLst/>
          </a:prstGeom>
          <a:solidFill>
            <a:srgbClr val="00AEFF">
              <a:alpha val="10000"/>
            </a:srgbClr>
          </a:solidFill>
          <a:ln/>
        </p:spPr>
      </p:sp>
      <p:sp>
        <p:nvSpPr>
          <p:cNvPr id="9" name="Shape 7"/>
          <p:cNvSpPr/>
          <p:nvPr/>
        </p:nvSpPr>
        <p:spPr>
          <a:xfrm>
            <a:off x="-476402" y="-476402"/>
            <a:ext cx="2857500" cy="2857500"/>
          </a:xfrm>
          <a:prstGeom prst="ellipse">
            <a:avLst/>
          </a:prstGeom>
          <a:solidFill>
            <a:srgbClr val="00AEFF">
              <a:alpha val="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sp>
      <p:sp>
        <p:nvSpPr>
          <p:cNvPr id="3" name="Text 1"/>
          <p:cNvSpPr txBox="1"/>
          <p:nvPr/>
        </p:nvSpPr>
        <p:spPr>
          <a:xfrm>
            <a:off x="761695" y="485546"/>
            <a:ext cx="6291986" cy="581558"/>
          </a:xfrm>
          <a:prstGeom prst="rect">
            <a:avLst/>
          </a:prstGeom>
          <a:noFill/>
          <a:ln/>
        </p:spPr>
        <p:txBody>
          <a:bodyPr wrap="square" lIns="0" tIns="0" rIns="0" bIns="0" rtlCol="0" anchor="ctr"/>
          <a:lstStyle/>
          <a:p>
            <a:pPr algn="l" indent="0" marL="0">
              <a:buNone/>
            </a:pPr>
            <a:r>
              <a:rPr lang="en-US" sz="3100" b="1" dirty="0">
                <a:solidFill>
                  <a:srgbClr val="FFFFFF"/>
                </a:solidFill>
                <a:latin typeface="Noto Sans JP" pitchFamily="34" charset="0"/>
                <a:ea typeface="Noto Sans JP" pitchFamily="34" charset="-122"/>
                <a:cs typeface="Noto Sans JP" pitchFamily="34" charset="-120"/>
              </a:rPr>
              <a:t>IT受託開発の難しさ（現状整理）</a:t>
            </a:r>
            <a:endParaRPr lang="en-US" sz="3100" dirty="0"/>
          </a:p>
        </p:txBody>
      </p:sp>
      <p:sp>
        <p:nvSpPr>
          <p:cNvPr id="4" name="Shape 2"/>
          <p:cNvSpPr/>
          <p:nvPr/>
        </p:nvSpPr>
        <p:spPr>
          <a:xfrm>
            <a:off x="952805" y="1742846"/>
            <a:ext cx="381305" cy="381305"/>
          </a:xfrm>
          <a:prstGeom prst="roundRect">
            <a:avLst>
              <a:gd name="adj" fmla="val 47962"/>
            </a:avLst>
          </a:prstGeom>
          <a:solidFill>
            <a:srgbClr val="00AEFF">
              <a:alpha val="20000"/>
            </a:srgbClr>
          </a:solidFill>
          <a:ln/>
        </p:spPr>
      </p:sp>
      <p:pic>
        <p:nvPicPr>
          <p:cNvPr id="5" name="Image 0" descr="preencoded.png">    </p:cNvPr>
          <p:cNvPicPr>
            <a:picLocks noChangeAspect="1"/>
          </p:cNvPicPr>
          <p:nvPr/>
        </p:nvPicPr>
        <p:blipFill>
          <a:blip r:embed="rId1"/>
          <a:srcRect l="-989999" r="-989999" t="0" b="0"/>
          <a:stretch/>
        </p:blipFill>
        <p:spPr>
          <a:xfrm>
            <a:off x="1047902" y="1928470"/>
            <a:ext cx="190195" cy="9144"/>
          </a:xfrm>
          <a:prstGeom prst="rect">
            <a:avLst/>
          </a:prstGeom>
        </p:spPr>
      </p:pic>
      <p:sp>
        <p:nvSpPr>
          <p:cNvPr id="6" name="Shape 3"/>
          <p:cNvSpPr/>
          <p:nvPr/>
        </p:nvSpPr>
        <p:spPr>
          <a:xfrm>
            <a:off x="6238951" y="1742846"/>
            <a:ext cx="381305" cy="381305"/>
          </a:xfrm>
          <a:prstGeom prst="roundRect">
            <a:avLst>
              <a:gd name="adj" fmla="val 47962"/>
            </a:avLst>
          </a:prstGeom>
          <a:solidFill>
            <a:srgbClr val="00AEFF">
              <a:alpha val="20000"/>
            </a:srgbClr>
          </a:solidFill>
          <a:ln/>
        </p:spPr>
      </p:sp>
      <p:sp>
        <p:nvSpPr>
          <p:cNvPr id="7" name="Shape 4"/>
          <p:cNvSpPr/>
          <p:nvPr/>
        </p:nvSpPr>
        <p:spPr>
          <a:xfrm>
            <a:off x="952805" y="2676449"/>
            <a:ext cx="381305" cy="381305"/>
          </a:xfrm>
          <a:prstGeom prst="roundRect">
            <a:avLst>
              <a:gd name="adj" fmla="val 47962"/>
            </a:avLst>
          </a:prstGeom>
          <a:solidFill>
            <a:srgbClr val="00AEFF">
              <a:alpha val="20000"/>
            </a:srgbClr>
          </a:solidFill>
          <a:ln/>
        </p:spPr>
      </p:sp>
      <p:sp>
        <p:nvSpPr>
          <p:cNvPr id="8" name="Shape 5"/>
          <p:cNvSpPr/>
          <p:nvPr/>
        </p:nvSpPr>
        <p:spPr>
          <a:xfrm>
            <a:off x="6238951" y="2676449"/>
            <a:ext cx="381305" cy="381305"/>
          </a:xfrm>
          <a:prstGeom prst="roundRect">
            <a:avLst>
              <a:gd name="adj" fmla="val 47962"/>
            </a:avLst>
          </a:prstGeom>
          <a:solidFill>
            <a:srgbClr val="00AEFF">
              <a:alpha val="20000"/>
            </a:srgbClr>
          </a:solidFill>
          <a:ln/>
        </p:spPr>
      </p:sp>
      <p:sp>
        <p:nvSpPr>
          <p:cNvPr id="9" name="Shape 6"/>
          <p:cNvSpPr/>
          <p:nvPr/>
        </p:nvSpPr>
        <p:spPr>
          <a:xfrm>
            <a:off x="952805" y="3610051"/>
            <a:ext cx="381305" cy="381305"/>
          </a:xfrm>
          <a:prstGeom prst="roundRect">
            <a:avLst>
              <a:gd name="adj" fmla="val 47962"/>
            </a:avLst>
          </a:prstGeom>
          <a:solidFill>
            <a:srgbClr val="00AEFF">
              <a:alpha val="20000"/>
            </a:srgbClr>
          </a:solidFill>
          <a:ln/>
        </p:spPr>
      </p:sp>
      <p:sp>
        <p:nvSpPr>
          <p:cNvPr id="10" name="Text 7"/>
          <p:cNvSpPr txBox="1"/>
          <p:nvPr/>
        </p:nvSpPr>
        <p:spPr>
          <a:xfrm>
            <a:off x="1485900" y="1742846"/>
            <a:ext cx="1666951"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キャッシュフロー</a:t>
            </a:r>
            <a:endParaRPr lang="en-US" sz="1500" dirty="0"/>
          </a:p>
        </p:txBody>
      </p:sp>
      <p:sp>
        <p:nvSpPr>
          <p:cNvPr id="11" name="Text 8"/>
          <p:cNvSpPr txBox="1"/>
          <p:nvPr/>
        </p:nvSpPr>
        <p:spPr>
          <a:xfrm>
            <a:off x="1485900" y="2676449"/>
            <a:ext cx="2238451"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技術スタックとセールス</a:t>
            </a:r>
            <a:endParaRPr lang="en-US" sz="1500" dirty="0"/>
          </a:p>
        </p:txBody>
      </p:sp>
      <p:sp>
        <p:nvSpPr>
          <p:cNvPr id="12" name="Text 9"/>
          <p:cNvSpPr txBox="1"/>
          <p:nvPr/>
        </p:nvSpPr>
        <p:spPr>
          <a:xfrm>
            <a:off x="6772046" y="2676449"/>
            <a:ext cx="1476756"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人月商売の限界</a:t>
            </a:r>
            <a:endParaRPr lang="en-US" sz="1500" dirty="0"/>
          </a:p>
        </p:txBody>
      </p:sp>
      <p:sp>
        <p:nvSpPr>
          <p:cNvPr id="13" name="Text 10"/>
          <p:cNvSpPr txBox="1"/>
          <p:nvPr/>
        </p:nvSpPr>
        <p:spPr>
          <a:xfrm>
            <a:off x="1485900" y="2066544"/>
            <a:ext cx="4534510" cy="2286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不安定な収入と支出のバランス、前払い・中間払いの調整が困難</a:t>
            </a:r>
            <a:endParaRPr lang="en-US" sz="1200" dirty="0"/>
          </a:p>
        </p:txBody>
      </p:sp>
      <p:pic>
        <p:nvPicPr>
          <p:cNvPr id="14" name="Image 1" descr="preencoded.png">    </p:cNvPr>
          <p:cNvPicPr>
            <a:picLocks noChangeAspect="1"/>
          </p:cNvPicPr>
          <p:nvPr/>
        </p:nvPicPr>
        <p:blipFill>
          <a:blip r:embed="rId2"/>
          <a:srcRect l="-989999" r="-989999" t="0" b="0"/>
          <a:stretch/>
        </p:blipFill>
        <p:spPr>
          <a:xfrm>
            <a:off x="6310274" y="1928470"/>
            <a:ext cx="237744" cy="9144"/>
          </a:xfrm>
          <a:prstGeom prst="rect">
            <a:avLst/>
          </a:prstGeom>
        </p:spPr>
      </p:pic>
      <p:sp>
        <p:nvSpPr>
          <p:cNvPr id="15" name="Text 11"/>
          <p:cNvSpPr txBox="1"/>
          <p:nvPr/>
        </p:nvSpPr>
        <p:spPr>
          <a:xfrm>
            <a:off x="6772046" y="1742846"/>
            <a:ext cx="1666951"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人材の確保と教育</a:t>
            </a:r>
            <a:endParaRPr lang="en-US" sz="1500" dirty="0"/>
          </a:p>
        </p:txBody>
      </p:sp>
      <p:sp>
        <p:nvSpPr>
          <p:cNvPr id="16" name="Text 12"/>
          <p:cNvSpPr txBox="1"/>
          <p:nvPr/>
        </p:nvSpPr>
        <p:spPr>
          <a:xfrm>
            <a:off x="6772046" y="2066544"/>
            <a:ext cx="4086454" cy="2286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求める技術スキルを持つ人材の採用難、育成期間の長期化</a:t>
            </a:r>
            <a:endParaRPr lang="en-US" sz="1200" dirty="0"/>
          </a:p>
        </p:txBody>
      </p:sp>
      <p:pic>
        <p:nvPicPr>
          <p:cNvPr id="17" name="Image 2" descr="preencoded.png">    </p:cNvPr>
          <p:cNvPicPr>
            <a:picLocks noChangeAspect="1"/>
          </p:cNvPicPr>
          <p:nvPr/>
        </p:nvPicPr>
        <p:blipFill>
          <a:blip r:embed="rId3"/>
          <a:srcRect l="-1016667" r="-1016667" t="0" b="0"/>
          <a:stretch/>
        </p:blipFill>
        <p:spPr>
          <a:xfrm>
            <a:off x="1033272" y="2862072"/>
            <a:ext cx="219456" cy="9144"/>
          </a:xfrm>
          <a:prstGeom prst="rect">
            <a:avLst/>
          </a:prstGeom>
        </p:spPr>
      </p:pic>
      <p:sp>
        <p:nvSpPr>
          <p:cNvPr id="18" name="Text 13"/>
          <p:cNvSpPr txBox="1"/>
          <p:nvPr/>
        </p:nvSpPr>
        <p:spPr>
          <a:xfrm>
            <a:off x="1485900" y="3000146"/>
            <a:ext cx="4219956" cy="2286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技術トレンドと顧客ニーズの乖離、提案と実装力のバランス</a:t>
            </a:r>
            <a:endParaRPr lang="en-US" sz="1200" dirty="0"/>
          </a:p>
        </p:txBody>
      </p:sp>
      <p:pic>
        <p:nvPicPr>
          <p:cNvPr id="19" name="Image 3" descr="preencoded.png">    </p:cNvPr>
          <p:cNvPicPr>
            <a:picLocks noChangeAspect="1"/>
          </p:cNvPicPr>
          <p:nvPr/>
        </p:nvPicPr>
        <p:blipFill>
          <a:blip r:embed="rId4"/>
          <a:srcRect l="-1024284" r="-1024284" t="0" b="0"/>
          <a:stretch/>
        </p:blipFill>
        <p:spPr>
          <a:xfrm>
            <a:off x="6344107" y="2862072"/>
            <a:ext cx="171907" cy="9144"/>
          </a:xfrm>
          <a:prstGeom prst="rect">
            <a:avLst/>
          </a:prstGeom>
        </p:spPr>
      </p:pic>
      <p:sp>
        <p:nvSpPr>
          <p:cNvPr id="20" name="Text 14"/>
          <p:cNvSpPr txBox="1"/>
          <p:nvPr/>
        </p:nvSpPr>
        <p:spPr>
          <a:xfrm>
            <a:off x="6772046" y="3000146"/>
            <a:ext cx="4524451" cy="2286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時間単価ベースのビジネスモデルによる収益性と価値創出の制限</a:t>
            </a:r>
            <a:endParaRPr lang="en-US" sz="1200" dirty="0"/>
          </a:p>
        </p:txBody>
      </p:sp>
      <p:pic>
        <p:nvPicPr>
          <p:cNvPr id="21" name="Image 4" descr="preencoded.png">    </p:cNvPr>
          <p:cNvPicPr>
            <a:picLocks noChangeAspect="1"/>
          </p:cNvPicPr>
          <p:nvPr/>
        </p:nvPicPr>
        <p:blipFill>
          <a:blip r:embed="rId5"/>
          <a:srcRect l="-989999" r="-989999" t="0" b="0"/>
          <a:stretch/>
        </p:blipFill>
        <p:spPr>
          <a:xfrm>
            <a:off x="1047902" y="3795674"/>
            <a:ext cx="190195" cy="9144"/>
          </a:xfrm>
          <a:prstGeom prst="rect">
            <a:avLst/>
          </a:prstGeom>
        </p:spPr>
      </p:pic>
      <p:sp>
        <p:nvSpPr>
          <p:cNvPr id="22" name="Shape 15"/>
          <p:cNvSpPr/>
          <p:nvPr/>
        </p:nvSpPr>
        <p:spPr>
          <a:xfrm>
            <a:off x="6238951" y="3610051"/>
            <a:ext cx="381305" cy="381305"/>
          </a:xfrm>
          <a:prstGeom prst="roundRect">
            <a:avLst>
              <a:gd name="adj" fmla="val 47962"/>
            </a:avLst>
          </a:prstGeom>
          <a:solidFill>
            <a:srgbClr val="00AEFF">
              <a:alpha val="20000"/>
            </a:srgbClr>
          </a:solidFill>
          <a:ln/>
        </p:spPr>
      </p:sp>
      <p:sp>
        <p:nvSpPr>
          <p:cNvPr id="23" name="Text 16"/>
          <p:cNvSpPr txBox="1"/>
          <p:nvPr/>
        </p:nvSpPr>
        <p:spPr>
          <a:xfrm>
            <a:off x="1485900" y="3610051"/>
            <a:ext cx="1476756"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管理、財務体制</a:t>
            </a:r>
            <a:endParaRPr lang="en-US" sz="1500" dirty="0"/>
          </a:p>
        </p:txBody>
      </p:sp>
      <p:sp>
        <p:nvSpPr>
          <p:cNvPr id="24" name="Text 17"/>
          <p:cNvSpPr txBox="1"/>
          <p:nvPr/>
        </p:nvSpPr>
        <p:spPr>
          <a:xfrm>
            <a:off x="6772046" y="3610051"/>
            <a:ext cx="1858061"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品質・納期・コスト</a:t>
            </a:r>
            <a:endParaRPr lang="en-US" sz="1500" dirty="0"/>
          </a:p>
        </p:txBody>
      </p:sp>
      <p:sp>
        <p:nvSpPr>
          <p:cNvPr id="25" name="Text 18"/>
          <p:cNvSpPr txBox="1"/>
          <p:nvPr/>
        </p:nvSpPr>
        <p:spPr>
          <a:xfrm>
            <a:off x="1485900" y="3933749"/>
            <a:ext cx="4543654"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プロジェクト管理の複雑さ、組織成長に合わせた経営管理体制強化</a:t>
            </a:r>
            <a:endParaRPr lang="en-US" sz="1200" dirty="0"/>
          </a:p>
        </p:txBody>
      </p:sp>
      <p:pic>
        <p:nvPicPr>
          <p:cNvPr id="26" name="Image 5" descr="preencoded.png">    </p:cNvPr>
          <p:cNvPicPr>
            <a:picLocks noChangeAspect="1"/>
          </p:cNvPicPr>
          <p:nvPr/>
        </p:nvPicPr>
        <p:blipFill>
          <a:blip r:embed="rId6"/>
          <a:srcRect l="-989999" r="-989999" t="0" b="0"/>
          <a:stretch/>
        </p:blipFill>
        <p:spPr>
          <a:xfrm>
            <a:off x="6310274" y="3795674"/>
            <a:ext cx="237744" cy="9144"/>
          </a:xfrm>
          <a:prstGeom prst="rect">
            <a:avLst/>
          </a:prstGeom>
        </p:spPr>
      </p:pic>
      <p:sp>
        <p:nvSpPr>
          <p:cNvPr id="27" name="Text 19"/>
          <p:cNvSpPr txBox="1"/>
          <p:nvPr/>
        </p:nvSpPr>
        <p:spPr>
          <a:xfrm>
            <a:off x="6772046" y="3933749"/>
            <a:ext cx="3934663" cy="2286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三角トレードオフの常態化、最適解の模索と調整が必要</a:t>
            </a:r>
            <a:endParaRPr lang="en-US" sz="1200" dirty="0"/>
          </a:p>
        </p:txBody>
      </p:sp>
      <p:sp>
        <p:nvSpPr>
          <p:cNvPr id="28" name="Text 20"/>
          <p:cNvSpPr txBox="1"/>
          <p:nvPr/>
        </p:nvSpPr>
        <p:spPr>
          <a:xfrm>
            <a:off x="10109606" y="6505956"/>
            <a:ext cx="1424635" cy="191110"/>
          </a:xfrm>
          <a:prstGeom prst="rect">
            <a:avLst/>
          </a:prstGeom>
          <a:noFill/>
          <a:ln/>
        </p:spPr>
        <p:txBody>
          <a:bodyPr wrap="square" lIns="0" tIns="0" rIns="0" bIns="0" rtlCol="0" anchor="ctr"/>
          <a:lstStyle/>
          <a:p>
            <a:pPr algn="r" indent="0" marL="0">
              <a:buNone/>
            </a:pPr>
            <a:r>
              <a:rPr lang="en-US" sz="1000" dirty="0">
                <a:solidFill>
                  <a:srgbClr val="FFFFFF">
                    <a:alpha val="50000"/>
                  </a:srgbClr>
                </a:solidFill>
                <a:latin typeface="Noto Sans JP" pitchFamily="34" charset="0"/>
                <a:ea typeface="Noto Sans JP" pitchFamily="34" charset="-122"/>
                <a:cs typeface="Noto Sans JP" pitchFamily="34" charset="-120"/>
              </a:rPr>
              <a:t>AI駆動開発のその先へ</a:t>
            </a:r>
            <a:endParaRPr lang="en-US" sz="1000" dirty="0"/>
          </a:p>
        </p:txBody>
      </p:sp>
      <p:sp>
        <p:nvSpPr>
          <p:cNvPr id="29" name="Shape 21"/>
          <p:cNvSpPr/>
          <p:nvPr/>
        </p:nvSpPr>
        <p:spPr>
          <a:xfrm>
            <a:off x="9810598" y="4476902"/>
            <a:ext cx="3810305" cy="3810305"/>
          </a:xfrm>
          <a:prstGeom prst="ellipse">
            <a:avLst/>
          </a:prstGeom>
          <a:solidFill>
            <a:srgbClr val="00AEFF">
              <a:alpha val="5000"/>
            </a:srgbClr>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sp>
      <p:sp>
        <p:nvSpPr>
          <p:cNvPr id="3" name="Text 1"/>
          <p:cNvSpPr txBox="1"/>
          <p:nvPr/>
        </p:nvSpPr>
        <p:spPr>
          <a:xfrm>
            <a:off x="761695" y="485546"/>
            <a:ext cx="5491886" cy="581558"/>
          </a:xfrm>
          <a:prstGeom prst="rect">
            <a:avLst/>
          </a:prstGeom>
          <a:noFill/>
          <a:ln/>
        </p:spPr>
        <p:txBody>
          <a:bodyPr wrap="square" lIns="0" tIns="0" rIns="0" bIns="0" rtlCol="0" anchor="ctr"/>
          <a:lstStyle/>
          <a:p>
            <a:pPr algn="l" indent="0" marL="0">
              <a:buNone/>
            </a:pPr>
            <a:r>
              <a:rPr lang="en-US" sz="3100" b="1" dirty="0">
                <a:solidFill>
                  <a:srgbClr val="FFFFFF"/>
                </a:solidFill>
                <a:latin typeface="Noto Sans JP" pitchFamily="34" charset="0"/>
                <a:ea typeface="Noto Sans JP" pitchFamily="34" charset="-122"/>
                <a:cs typeface="Noto Sans JP" pitchFamily="34" charset="-120"/>
              </a:rPr>
              <a:t>AI駆動開発に向けた直面課題</a:t>
            </a:r>
            <a:endParaRPr lang="en-US" sz="3100" dirty="0"/>
          </a:p>
        </p:txBody>
      </p:sp>
      <p:sp>
        <p:nvSpPr>
          <p:cNvPr id="4" name="Shape 2"/>
          <p:cNvSpPr/>
          <p:nvPr/>
        </p:nvSpPr>
        <p:spPr>
          <a:xfrm>
            <a:off x="952805" y="1742846"/>
            <a:ext cx="381305" cy="381305"/>
          </a:xfrm>
          <a:prstGeom prst="roundRect">
            <a:avLst>
              <a:gd name="adj" fmla="val 47962"/>
            </a:avLst>
          </a:prstGeom>
          <a:solidFill>
            <a:srgbClr val="00AEFF">
              <a:alpha val="20000"/>
            </a:srgbClr>
          </a:solidFill>
          <a:ln/>
        </p:spPr>
      </p:sp>
      <p:pic>
        <p:nvPicPr>
          <p:cNvPr id="5" name="Image 0" descr="preencoded.png">    </p:cNvPr>
          <p:cNvPicPr>
            <a:picLocks noChangeAspect="1"/>
          </p:cNvPicPr>
          <p:nvPr/>
        </p:nvPicPr>
        <p:blipFill>
          <a:blip r:embed="rId1"/>
          <a:srcRect l="-989999" r="-989999" t="0" b="0"/>
          <a:stretch/>
        </p:blipFill>
        <p:spPr>
          <a:xfrm>
            <a:off x="1047902" y="1928470"/>
            <a:ext cx="190195" cy="9144"/>
          </a:xfrm>
          <a:prstGeom prst="rect">
            <a:avLst/>
          </a:prstGeom>
        </p:spPr>
      </p:pic>
      <p:sp>
        <p:nvSpPr>
          <p:cNvPr id="6" name="Shape 3"/>
          <p:cNvSpPr/>
          <p:nvPr/>
        </p:nvSpPr>
        <p:spPr>
          <a:xfrm>
            <a:off x="6238951" y="1742846"/>
            <a:ext cx="381305" cy="381305"/>
          </a:xfrm>
          <a:prstGeom prst="roundRect">
            <a:avLst>
              <a:gd name="adj" fmla="val 47962"/>
            </a:avLst>
          </a:prstGeom>
          <a:solidFill>
            <a:srgbClr val="00AEFF">
              <a:alpha val="20000"/>
            </a:srgbClr>
          </a:solidFill>
          <a:ln/>
        </p:spPr>
      </p:sp>
      <p:sp>
        <p:nvSpPr>
          <p:cNvPr id="7" name="Shape 4"/>
          <p:cNvSpPr/>
          <p:nvPr/>
        </p:nvSpPr>
        <p:spPr>
          <a:xfrm>
            <a:off x="952805" y="2905049"/>
            <a:ext cx="381305" cy="381305"/>
          </a:xfrm>
          <a:prstGeom prst="roundRect">
            <a:avLst>
              <a:gd name="adj" fmla="val 47962"/>
            </a:avLst>
          </a:prstGeom>
          <a:solidFill>
            <a:srgbClr val="00AEFF">
              <a:alpha val="20000"/>
            </a:srgbClr>
          </a:solidFill>
          <a:ln/>
        </p:spPr>
      </p:sp>
      <p:sp>
        <p:nvSpPr>
          <p:cNvPr id="8" name="Shape 5"/>
          <p:cNvSpPr/>
          <p:nvPr/>
        </p:nvSpPr>
        <p:spPr>
          <a:xfrm>
            <a:off x="6238951" y="2905049"/>
            <a:ext cx="381305" cy="381305"/>
          </a:xfrm>
          <a:prstGeom prst="roundRect">
            <a:avLst>
              <a:gd name="adj" fmla="val 47962"/>
            </a:avLst>
          </a:prstGeom>
          <a:solidFill>
            <a:srgbClr val="00AEFF">
              <a:alpha val="20000"/>
            </a:srgbClr>
          </a:solidFill>
          <a:ln/>
        </p:spPr>
      </p:sp>
      <p:sp>
        <p:nvSpPr>
          <p:cNvPr id="9" name="Text 6"/>
          <p:cNvSpPr txBox="1"/>
          <p:nvPr/>
        </p:nvSpPr>
        <p:spPr>
          <a:xfrm>
            <a:off x="1485900" y="1742846"/>
            <a:ext cx="2039112"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短納期とリーズナブル</a:t>
            </a:r>
            <a:endParaRPr lang="en-US" sz="1500" dirty="0"/>
          </a:p>
        </p:txBody>
      </p:sp>
      <p:sp>
        <p:nvSpPr>
          <p:cNvPr id="10" name="Text 7"/>
          <p:cNvSpPr txBox="1"/>
          <p:nvPr/>
        </p:nvSpPr>
        <p:spPr>
          <a:xfrm>
            <a:off x="1485900" y="2905049"/>
            <a:ext cx="1286561"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品質の安定化</a:t>
            </a:r>
            <a:endParaRPr lang="en-US" sz="1500" dirty="0"/>
          </a:p>
        </p:txBody>
      </p:sp>
      <p:sp>
        <p:nvSpPr>
          <p:cNvPr id="11" name="Text 8"/>
          <p:cNvSpPr txBox="1"/>
          <p:nvPr/>
        </p:nvSpPr>
        <p:spPr>
          <a:xfrm>
            <a:off x="6772046" y="2905049"/>
            <a:ext cx="2048256"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再現性のあるプロセス</a:t>
            </a:r>
            <a:endParaRPr lang="en-US" sz="1500" dirty="0"/>
          </a:p>
        </p:txBody>
      </p:sp>
      <p:sp>
        <p:nvSpPr>
          <p:cNvPr id="12" name="Text 9"/>
          <p:cNvSpPr txBox="1"/>
          <p:nvPr/>
        </p:nvSpPr>
        <p:spPr>
          <a:xfrm>
            <a:off x="1485900" y="2066544"/>
            <a:ext cx="4524451"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クライアントの期待に応えつつ、コスト効率の高い開発を実現する両立の難しさ</a:t>
            </a:r>
            <a:endParaRPr lang="en-US" sz="1200" dirty="0"/>
          </a:p>
        </p:txBody>
      </p:sp>
      <p:pic>
        <p:nvPicPr>
          <p:cNvPr id="13" name="Image 1" descr="preencoded.png">    </p:cNvPr>
          <p:cNvPicPr>
            <a:picLocks noChangeAspect="1"/>
          </p:cNvPicPr>
          <p:nvPr/>
        </p:nvPicPr>
        <p:blipFill>
          <a:blip r:embed="rId2"/>
          <a:srcRect l="-1016667" r="-1016667" t="0" b="0"/>
          <a:stretch/>
        </p:blipFill>
        <p:spPr>
          <a:xfrm>
            <a:off x="6319418" y="1928470"/>
            <a:ext cx="219456" cy="9144"/>
          </a:xfrm>
          <a:prstGeom prst="rect">
            <a:avLst/>
          </a:prstGeom>
        </p:spPr>
      </p:pic>
      <p:sp>
        <p:nvSpPr>
          <p:cNvPr id="14" name="Text 10"/>
          <p:cNvSpPr txBox="1"/>
          <p:nvPr/>
        </p:nvSpPr>
        <p:spPr>
          <a:xfrm>
            <a:off x="6772046" y="1742846"/>
            <a:ext cx="1858061"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技術スタックの統一</a:t>
            </a:r>
            <a:endParaRPr lang="en-US" sz="1500" dirty="0"/>
          </a:p>
        </p:txBody>
      </p:sp>
      <p:sp>
        <p:nvSpPr>
          <p:cNvPr id="15" name="Text 11"/>
          <p:cNvSpPr txBox="1"/>
          <p:nvPr/>
        </p:nvSpPr>
        <p:spPr>
          <a:xfrm>
            <a:off x="6772046" y="2066544"/>
            <a:ext cx="4534510"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多様なプロジェクトに対応できる標準化された技術環境の構築と維持</a:t>
            </a:r>
            <a:endParaRPr lang="en-US" sz="1200" dirty="0"/>
          </a:p>
        </p:txBody>
      </p:sp>
      <p:pic>
        <p:nvPicPr>
          <p:cNvPr id="16" name="Image 2" descr="preencoded.png">    </p:cNvPr>
          <p:cNvPicPr>
            <a:picLocks noChangeAspect="1"/>
          </p:cNvPicPr>
          <p:nvPr/>
        </p:nvPicPr>
        <p:blipFill>
          <a:blip r:embed="rId3"/>
          <a:srcRect l="-989999" r="-989999" t="0" b="0"/>
          <a:stretch/>
        </p:blipFill>
        <p:spPr>
          <a:xfrm>
            <a:off x="1071677" y="3090672"/>
            <a:ext cx="142646" cy="9144"/>
          </a:xfrm>
          <a:prstGeom prst="rect">
            <a:avLst/>
          </a:prstGeom>
        </p:spPr>
      </p:pic>
      <p:sp>
        <p:nvSpPr>
          <p:cNvPr id="17" name="Text 12"/>
          <p:cNvSpPr txBox="1"/>
          <p:nvPr/>
        </p:nvSpPr>
        <p:spPr>
          <a:xfrm>
            <a:off x="1485900" y="3228746"/>
            <a:ext cx="4534510"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ドキュメントテンプレートや標準化されたプロセスによる一貫した品質の確保</a:t>
            </a:r>
            <a:endParaRPr lang="en-US" sz="1200" dirty="0"/>
          </a:p>
        </p:txBody>
      </p:sp>
      <p:pic>
        <p:nvPicPr>
          <p:cNvPr id="18" name="Image 3" descr="preencoded.png">    </p:cNvPr>
          <p:cNvPicPr>
            <a:picLocks noChangeAspect="1"/>
          </p:cNvPicPr>
          <p:nvPr/>
        </p:nvPicPr>
        <p:blipFill>
          <a:blip r:embed="rId4"/>
          <a:srcRect l="-989999" r="-989999" t="0" b="0"/>
          <a:stretch/>
        </p:blipFill>
        <p:spPr>
          <a:xfrm>
            <a:off x="6334049" y="3090672"/>
            <a:ext cx="190195" cy="9144"/>
          </a:xfrm>
          <a:prstGeom prst="rect">
            <a:avLst/>
          </a:prstGeom>
        </p:spPr>
      </p:pic>
      <p:sp>
        <p:nvSpPr>
          <p:cNvPr id="19" name="Text 13"/>
          <p:cNvSpPr txBox="1"/>
          <p:nvPr/>
        </p:nvSpPr>
        <p:spPr>
          <a:xfrm>
            <a:off x="6772046" y="3228746"/>
            <a:ext cx="4524451"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メンバーや環境が変わっても同じ品質を維持できる開発プロセスの整備</a:t>
            </a:r>
            <a:endParaRPr lang="en-US" sz="1200" dirty="0"/>
          </a:p>
        </p:txBody>
      </p:sp>
      <p:sp>
        <p:nvSpPr>
          <p:cNvPr id="20" name="Text 14"/>
          <p:cNvSpPr txBox="1"/>
          <p:nvPr/>
        </p:nvSpPr>
        <p:spPr>
          <a:xfrm>
            <a:off x="10109606" y="6505956"/>
            <a:ext cx="1424635" cy="191110"/>
          </a:xfrm>
          <a:prstGeom prst="rect">
            <a:avLst/>
          </a:prstGeom>
          <a:noFill/>
          <a:ln/>
        </p:spPr>
        <p:txBody>
          <a:bodyPr wrap="square" lIns="0" tIns="0" rIns="0" bIns="0" rtlCol="0" anchor="ctr"/>
          <a:lstStyle/>
          <a:p>
            <a:pPr algn="r" indent="0" marL="0">
              <a:buNone/>
            </a:pPr>
            <a:r>
              <a:rPr lang="en-US" sz="1000" dirty="0">
                <a:solidFill>
                  <a:srgbClr val="FFFFFF">
                    <a:alpha val="50000"/>
                  </a:srgbClr>
                </a:solidFill>
                <a:latin typeface="Noto Sans JP" pitchFamily="34" charset="0"/>
                <a:ea typeface="Noto Sans JP" pitchFamily="34" charset="-122"/>
                <a:cs typeface="Noto Sans JP" pitchFamily="34" charset="-120"/>
              </a:rPr>
              <a:t>AI駆動開発のその先へ</a:t>
            </a:r>
            <a:endParaRPr lang="en-US" sz="1000" dirty="0"/>
          </a:p>
        </p:txBody>
      </p:sp>
      <p:sp>
        <p:nvSpPr>
          <p:cNvPr id="21" name="Shape 15"/>
          <p:cNvSpPr/>
          <p:nvPr/>
        </p:nvSpPr>
        <p:spPr>
          <a:xfrm>
            <a:off x="9810598" y="4476902"/>
            <a:ext cx="3810305" cy="3810305"/>
          </a:xfrm>
          <a:prstGeom prst="ellipse">
            <a:avLst/>
          </a:prstGeom>
          <a:solidFill>
            <a:srgbClr val="00AEFF">
              <a:alpha val="5000"/>
            </a:srgbClr>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915607"/>
          </a:xfrm>
          <a:prstGeom prst="rect">
            <a:avLst/>
          </a:prstGeom>
          <a:solidFill>
            <a:srgbClr val="0A1930"/>
          </a:solidFill>
          <a:ln/>
        </p:spPr>
      </p:sp>
      <p:sp>
        <p:nvSpPr>
          <p:cNvPr id="3" name="Text 1"/>
          <p:cNvSpPr txBox="1"/>
          <p:nvPr/>
        </p:nvSpPr>
        <p:spPr>
          <a:xfrm>
            <a:off x="761695" y="485546"/>
            <a:ext cx="6682435" cy="581558"/>
          </a:xfrm>
          <a:prstGeom prst="rect">
            <a:avLst/>
          </a:prstGeom>
          <a:noFill/>
          <a:ln/>
        </p:spPr>
        <p:txBody>
          <a:bodyPr wrap="square" lIns="0" tIns="0" rIns="0" bIns="0" rtlCol="0" anchor="ctr"/>
          <a:lstStyle/>
          <a:p>
            <a:pPr algn="l" indent="0" marL="0">
              <a:buNone/>
            </a:pPr>
            <a:r>
              <a:rPr lang="en-US" sz="3100" b="1" dirty="0">
                <a:solidFill>
                  <a:srgbClr val="FFFFFF"/>
                </a:solidFill>
                <a:latin typeface="Noto Sans JP" pitchFamily="34" charset="0"/>
                <a:ea typeface="Noto Sans JP" pitchFamily="34" charset="-122"/>
                <a:cs typeface="Noto Sans JP" pitchFamily="34" charset="-120"/>
              </a:rPr>
              <a:t>最新のチーム体制（人×AIの協調）</a:t>
            </a:r>
            <a:endParaRPr lang="en-US" sz="3100" dirty="0"/>
          </a:p>
        </p:txBody>
      </p:sp>
      <p:sp>
        <p:nvSpPr>
          <p:cNvPr id="4" name="Text 2"/>
          <p:cNvSpPr txBox="1"/>
          <p:nvPr/>
        </p:nvSpPr>
        <p:spPr>
          <a:xfrm>
            <a:off x="761695" y="1362456"/>
            <a:ext cx="7734910" cy="277063"/>
          </a:xfrm>
          <a:prstGeom prst="rect">
            <a:avLst/>
          </a:prstGeom>
          <a:noFill/>
          <a:ln/>
        </p:spPr>
        <p:txBody>
          <a:bodyPr wrap="square" lIns="0" tIns="0" rIns="0" bIns="0" rtlCol="0" anchor="ctr"/>
          <a:lstStyle/>
          <a:p>
            <a:pPr algn="l" indent="0" marL="0">
              <a:buNone/>
            </a:pPr>
            <a:r>
              <a:rPr lang="en-US" sz="1500" dirty="0">
                <a:solidFill>
                  <a:srgbClr val="FFFFFF">
                    <a:alpha val="90000"/>
                  </a:srgbClr>
                </a:solidFill>
                <a:latin typeface="Noto Sans JP" pitchFamily="34" charset="0"/>
                <a:ea typeface="Noto Sans JP" pitchFamily="34" charset="-122"/>
                <a:cs typeface="Noto Sans JP" pitchFamily="34" charset="-120"/>
              </a:rPr>
              <a:t>AI駆動開発における役割と責任の明確な配置により、プロセスの安定化と品質向上を実現</a:t>
            </a:r>
            <a:endParaRPr lang="en-US" sz="1500" dirty="0"/>
          </a:p>
        </p:txBody>
      </p:sp>
      <p:sp>
        <p:nvSpPr>
          <p:cNvPr id="5" name="Shape 3"/>
          <p:cNvSpPr/>
          <p:nvPr/>
        </p:nvSpPr>
        <p:spPr>
          <a:xfrm>
            <a:off x="761695" y="5572354"/>
            <a:ext cx="4476902" cy="676656"/>
          </a:xfrm>
          <a:prstGeom prst="roundRect">
            <a:avLst>
              <a:gd name="adj" fmla="val 11420"/>
            </a:avLst>
          </a:prstGeom>
          <a:solidFill>
            <a:srgbClr val="00AEFF">
              <a:alpha val="10000"/>
            </a:srgbClr>
          </a:solidFill>
          <a:ln/>
        </p:spPr>
      </p:sp>
      <p:pic>
        <p:nvPicPr>
          <p:cNvPr id="6" name="Image 0" descr="preencoded.png">    </p:cNvPr>
          <p:cNvPicPr>
            <a:picLocks noChangeAspect="1"/>
          </p:cNvPicPr>
          <p:nvPr/>
        </p:nvPicPr>
        <p:blipFill>
          <a:blip r:embed="rId1"/>
          <a:srcRect l="-2512" r="-2512" t="0" b="0"/>
          <a:stretch/>
        </p:blipFill>
        <p:spPr>
          <a:xfrm>
            <a:off x="933602" y="5719572"/>
            <a:ext cx="105156" cy="133502"/>
          </a:xfrm>
          <a:prstGeom prst="rect">
            <a:avLst/>
          </a:prstGeom>
        </p:spPr>
      </p:pic>
      <p:sp>
        <p:nvSpPr>
          <p:cNvPr id="7" name="Shape 4"/>
          <p:cNvSpPr/>
          <p:nvPr/>
        </p:nvSpPr>
        <p:spPr>
          <a:xfrm>
            <a:off x="6824167" y="5572354"/>
            <a:ext cx="4610405" cy="676656"/>
          </a:xfrm>
          <a:prstGeom prst="roundRect">
            <a:avLst>
              <a:gd name="adj" fmla="val 11420"/>
            </a:avLst>
          </a:prstGeom>
          <a:solidFill>
            <a:srgbClr val="00AEFF">
              <a:alpha val="10000"/>
            </a:srgbClr>
          </a:solidFill>
          <a:ln/>
        </p:spPr>
      </p:sp>
      <p:sp>
        <p:nvSpPr>
          <p:cNvPr id="8" name="Text 5"/>
          <p:cNvSpPr txBox="1"/>
          <p:nvPr/>
        </p:nvSpPr>
        <p:spPr>
          <a:xfrm>
            <a:off x="1037844" y="5686654"/>
            <a:ext cx="900684" cy="200254"/>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責務の明確化</a:t>
            </a:r>
            <a:endParaRPr lang="en-US" sz="1000" dirty="0"/>
          </a:p>
        </p:txBody>
      </p:sp>
      <p:sp>
        <p:nvSpPr>
          <p:cNvPr id="9" name="Text 6"/>
          <p:cNvSpPr txBox="1"/>
          <p:nvPr/>
        </p:nvSpPr>
        <p:spPr>
          <a:xfrm>
            <a:off x="933602" y="5934456"/>
            <a:ext cx="4234586" cy="191110"/>
          </a:xfrm>
          <a:prstGeom prst="rect">
            <a:avLst/>
          </a:prstGeom>
          <a:noFill/>
          <a:ln/>
        </p:spPr>
        <p:txBody>
          <a:bodyPr wrap="square" lIns="0" tIns="0" rIns="0" bIns="0" rtlCol="0" anchor="ctr"/>
          <a:lstStyle/>
          <a:p>
            <a:pPr algn="l" indent="0" marL="0">
              <a:buNone/>
            </a:pPr>
            <a:r>
              <a:rPr lang="en-US" sz="1000" dirty="0">
                <a:solidFill>
                  <a:srgbClr val="FFFFFF"/>
                </a:solidFill>
                <a:latin typeface="Noto Sans JP" pitchFamily="34" charset="0"/>
                <a:ea typeface="Noto Sans JP" pitchFamily="34" charset="-122"/>
                <a:cs typeface="Noto Sans JP" pitchFamily="34" charset="-120"/>
              </a:rPr>
              <a:t>各役割の責任範囲とタスクを明確に定義し、作業の重複や漏れを防止</a:t>
            </a:r>
            <a:endParaRPr lang="en-US" sz="1000" dirty="0"/>
          </a:p>
        </p:txBody>
      </p:sp>
      <p:pic>
        <p:nvPicPr>
          <p:cNvPr id="10" name="Image 1" descr="preencoded.png">    </p:cNvPr>
          <p:cNvPicPr>
            <a:picLocks noChangeAspect="1"/>
          </p:cNvPicPr>
          <p:nvPr/>
        </p:nvPicPr>
        <p:blipFill>
          <a:blip r:embed="rId2"/>
          <a:srcRect l="0" r="0" t="0" b="0"/>
          <a:stretch/>
        </p:blipFill>
        <p:spPr>
          <a:xfrm>
            <a:off x="6995160" y="5719572"/>
            <a:ext cx="133502" cy="133502"/>
          </a:xfrm>
          <a:prstGeom prst="rect">
            <a:avLst/>
          </a:prstGeom>
        </p:spPr>
      </p:pic>
      <p:sp>
        <p:nvSpPr>
          <p:cNvPr id="11" name="Text 7"/>
          <p:cNvSpPr txBox="1"/>
          <p:nvPr/>
        </p:nvSpPr>
        <p:spPr>
          <a:xfrm>
            <a:off x="7128662" y="5686654"/>
            <a:ext cx="1300277" cy="200254"/>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ハンドオーバー定義</a:t>
            </a:r>
            <a:endParaRPr lang="en-US" sz="1000" dirty="0"/>
          </a:p>
        </p:txBody>
      </p:sp>
      <p:sp>
        <p:nvSpPr>
          <p:cNvPr id="12" name="Text 8"/>
          <p:cNvSpPr txBox="1"/>
          <p:nvPr/>
        </p:nvSpPr>
        <p:spPr>
          <a:xfrm>
            <a:off x="6995160" y="5934456"/>
            <a:ext cx="4368089" cy="191110"/>
          </a:xfrm>
          <a:prstGeom prst="rect">
            <a:avLst/>
          </a:prstGeom>
          <a:noFill/>
          <a:ln/>
        </p:spPr>
        <p:txBody>
          <a:bodyPr wrap="square" lIns="0" tIns="0" rIns="0" bIns="0" rtlCol="0" anchor="ctr"/>
          <a:lstStyle/>
          <a:p>
            <a:pPr algn="l" indent="0" marL="0">
              <a:buNone/>
            </a:pPr>
            <a:r>
              <a:rPr lang="en-US" sz="1000" dirty="0">
                <a:solidFill>
                  <a:srgbClr val="FFFFFF"/>
                </a:solidFill>
                <a:latin typeface="Noto Sans JP" pitchFamily="34" charset="0"/>
                <a:ea typeface="Noto Sans JP" pitchFamily="34" charset="-122"/>
                <a:cs typeface="Noto Sans JP" pitchFamily="34" charset="-120"/>
              </a:rPr>
              <a:t>作業の引継ぎポイントと必要な情報・成果物を標準化して品質を安定化</a:t>
            </a:r>
            <a:endParaRPr lang="en-US" sz="1000" dirty="0"/>
          </a:p>
        </p:txBody>
      </p:sp>
      <p:sp>
        <p:nvSpPr>
          <p:cNvPr id="13" name="Text 9"/>
          <p:cNvSpPr txBox="1"/>
          <p:nvPr/>
        </p:nvSpPr>
        <p:spPr>
          <a:xfrm>
            <a:off x="10109606" y="6562649"/>
            <a:ext cx="1424635" cy="191110"/>
          </a:xfrm>
          <a:prstGeom prst="rect">
            <a:avLst/>
          </a:prstGeom>
          <a:noFill/>
          <a:ln/>
        </p:spPr>
        <p:txBody>
          <a:bodyPr wrap="square" lIns="0" tIns="0" rIns="0" bIns="0" rtlCol="0" anchor="ctr"/>
          <a:lstStyle/>
          <a:p>
            <a:pPr algn="r" indent="0" marL="0">
              <a:buNone/>
            </a:pPr>
            <a:r>
              <a:rPr lang="en-US" sz="1000" dirty="0">
                <a:solidFill>
                  <a:srgbClr val="FFFFFF">
                    <a:alpha val="50000"/>
                  </a:srgbClr>
                </a:solidFill>
                <a:latin typeface="Noto Sans JP" pitchFamily="34" charset="0"/>
                <a:ea typeface="Noto Sans JP" pitchFamily="34" charset="-122"/>
                <a:cs typeface="Noto Sans JP" pitchFamily="34" charset="-120"/>
              </a:rPr>
              <a:t>AI駆動開発のその先へ</a:t>
            </a:r>
            <a:endParaRPr lang="en-US" sz="1000" dirty="0"/>
          </a:p>
        </p:txBody>
      </p:sp>
      <p:sp>
        <p:nvSpPr>
          <p:cNvPr id="14" name="Shape 10"/>
          <p:cNvSpPr/>
          <p:nvPr/>
        </p:nvSpPr>
        <p:spPr>
          <a:xfrm>
            <a:off x="9810598" y="-1429207"/>
            <a:ext cx="3810305" cy="3810305"/>
          </a:xfrm>
          <a:prstGeom prst="ellipse">
            <a:avLst/>
          </a:prstGeom>
          <a:solidFill>
            <a:srgbClr val="00AEFF">
              <a:alpha val="5000"/>
            </a:srgbClr>
          </a:solidFill>
          <a:ln/>
        </p:spPr>
      </p:sp>
      <p:sp>
        <p:nvSpPr>
          <p:cNvPr id="15" name="Shape 11"/>
          <p:cNvSpPr/>
          <p:nvPr/>
        </p:nvSpPr>
        <p:spPr>
          <a:xfrm>
            <a:off x="6086246" y="2980944"/>
            <a:ext cx="19202" cy="571500"/>
          </a:xfrm>
          <a:prstGeom prst="rect">
            <a:avLst/>
          </a:prstGeom>
          <a:solidFill>
            <a:srgbClr val="FFFFFF">
              <a:alpha val="30000"/>
            </a:srgbClr>
          </a:solidFill>
          <a:ln/>
        </p:spPr>
      </p:sp>
      <p:sp>
        <p:nvSpPr>
          <p:cNvPr id="16" name="Shape 12"/>
          <p:cNvSpPr/>
          <p:nvPr/>
        </p:nvSpPr>
        <p:spPr>
          <a:xfrm>
            <a:off x="2857500" y="3552444"/>
            <a:ext cx="6476695" cy="19202"/>
          </a:xfrm>
          <a:prstGeom prst="rect">
            <a:avLst/>
          </a:prstGeom>
          <a:solidFill>
            <a:srgbClr val="FFFFFF">
              <a:alpha val="30000"/>
            </a:srgbClr>
          </a:solidFill>
          <a:ln/>
        </p:spPr>
      </p:sp>
      <p:sp>
        <p:nvSpPr>
          <p:cNvPr id="17" name="Shape 13"/>
          <p:cNvSpPr/>
          <p:nvPr/>
        </p:nvSpPr>
        <p:spPr>
          <a:xfrm>
            <a:off x="4000500" y="4410151"/>
            <a:ext cx="19202" cy="571500"/>
          </a:xfrm>
          <a:prstGeom prst="rect">
            <a:avLst/>
          </a:prstGeom>
          <a:solidFill>
            <a:srgbClr val="FFFFFF">
              <a:alpha val="30000"/>
            </a:srgbClr>
          </a:solidFill>
          <a:ln/>
        </p:spPr>
      </p:sp>
      <p:sp>
        <p:nvSpPr>
          <p:cNvPr id="18" name="Shape 14"/>
          <p:cNvSpPr/>
          <p:nvPr/>
        </p:nvSpPr>
        <p:spPr>
          <a:xfrm>
            <a:off x="6086246" y="4410151"/>
            <a:ext cx="19202" cy="571500"/>
          </a:xfrm>
          <a:prstGeom prst="rect">
            <a:avLst/>
          </a:prstGeom>
          <a:solidFill>
            <a:srgbClr val="FFFFFF">
              <a:alpha val="30000"/>
            </a:srgbClr>
          </a:solidFill>
          <a:ln/>
        </p:spPr>
      </p:sp>
      <p:sp>
        <p:nvSpPr>
          <p:cNvPr id="19" name="Shape 15"/>
          <p:cNvSpPr/>
          <p:nvPr/>
        </p:nvSpPr>
        <p:spPr>
          <a:xfrm>
            <a:off x="8191195" y="4410151"/>
            <a:ext cx="19202" cy="571500"/>
          </a:xfrm>
          <a:prstGeom prst="rect">
            <a:avLst/>
          </a:prstGeom>
          <a:solidFill>
            <a:srgbClr val="FFFFFF">
              <a:alpha val="30000"/>
            </a:srgbClr>
          </a:solidFill>
          <a:ln/>
        </p:spPr>
      </p:sp>
      <p:sp>
        <p:nvSpPr>
          <p:cNvPr id="20" name="Shape 16"/>
          <p:cNvSpPr/>
          <p:nvPr/>
        </p:nvSpPr>
        <p:spPr>
          <a:xfrm>
            <a:off x="5048402" y="2029054"/>
            <a:ext cx="2095805" cy="952805"/>
          </a:xfrm>
          <a:prstGeom prst="roundRect">
            <a:avLst>
              <a:gd name="adj" fmla="val 7678"/>
            </a:avLst>
          </a:prstGeom>
          <a:solidFill>
            <a:srgbClr val="00AEFF">
              <a:alpha val="20000"/>
            </a:srgbClr>
          </a:solidFill>
          <a:ln w="25400">
            <a:solidFill>
              <a:srgbClr val="00AEFF"/>
            </a:solidFill>
            <a:prstDash val="solid"/>
          </a:ln>
        </p:spPr>
      </p:sp>
      <p:sp>
        <p:nvSpPr>
          <p:cNvPr id="21" name="Text 17"/>
          <p:cNvSpPr txBox="1"/>
          <p:nvPr/>
        </p:nvSpPr>
        <p:spPr>
          <a:xfrm>
            <a:off x="5185562" y="2281428"/>
            <a:ext cx="1943100"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AI生成パイプライン責任者</a:t>
            </a:r>
            <a:endParaRPr lang="en-US" sz="1200" dirty="0"/>
          </a:p>
        </p:txBody>
      </p:sp>
      <p:sp>
        <p:nvSpPr>
          <p:cNvPr id="22" name="Text 18"/>
          <p:cNvSpPr txBox="1"/>
          <p:nvPr/>
        </p:nvSpPr>
        <p:spPr>
          <a:xfrm>
            <a:off x="5467198" y="2557577"/>
            <a:ext cx="1353312" cy="162763"/>
          </a:xfrm>
          <a:prstGeom prst="rect">
            <a:avLst/>
          </a:prstGeom>
          <a:noFill/>
          <a:ln/>
        </p:spPr>
        <p:txBody>
          <a:bodyPr wrap="square" lIns="0" tIns="0" rIns="0" bIns="0" rtlCol="0" anchor="ctr"/>
          <a:lstStyle/>
          <a:p>
            <a:pPr algn="ctr" indent="0" marL="0">
              <a:buNone/>
            </a:pPr>
            <a:r>
              <a:rPr lang="en-US" sz="900" dirty="0">
                <a:solidFill>
                  <a:srgbClr val="FFFFFF">
                    <a:alpha val="80000"/>
                  </a:srgbClr>
                </a:solidFill>
                <a:latin typeface="Noto Sans JP" pitchFamily="34" charset="0"/>
                <a:ea typeface="Noto Sans JP" pitchFamily="34" charset="-122"/>
                <a:cs typeface="Noto Sans JP" pitchFamily="34" charset="-120"/>
              </a:rPr>
              <a:t>全体プロセス設計・監視</a:t>
            </a:r>
            <a:endParaRPr lang="en-US" sz="900" dirty="0"/>
          </a:p>
        </p:txBody>
      </p:sp>
      <p:sp>
        <p:nvSpPr>
          <p:cNvPr id="23" name="Shape 19"/>
          <p:cNvSpPr/>
          <p:nvPr/>
        </p:nvSpPr>
        <p:spPr>
          <a:xfrm>
            <a:off x="4190695" y="3552444"/>
            <a:ext cx="1714500" cy="857707"/>
          </a:xfrm>
          <a:prstGeom prst="roundRect">
            <a:avLst>
              <a:gd name="adj" fmla="val 9476"/>
            </a:avLst>
          </a:prstGeom>
          <a:solidFill>
            <a:srgbClr val="FFFFFF">
              <a:alpha val="10000"/>
            </a:srgbClr>
          </a:solidFill>
          <a:ln w="12700">
            <a:solidFill>
              <a:srgbClr val="FFFFFF">
                <a:alpha val="30000"/>
              </a:srgbClr>
            </a:solidFill>
            <a:prstDash val="solid"/>
          </a:ln>
        </p:spPr>
      </p:sp>
      <p:sp>
        <p:nvSpPr>
          <p:cNvPr id="24" name="Shape 20"/>
          <p:cNvSpPr/>
          <p:nvPr/>
        </p:nvSpPr>
        <p:spPr>
          <a:xfrm>
            <a:off x="6286500" y="3552444"/>
            <a:ext cx="1714500" cy="857707"/>
          </a:xfrm>
          <a:prstGeom prst="roundRect">
            <a:avLst>
              <a:gd name="adj" fmla="val 9476"/>
            </a:avLst>
          </a:prstGeom>
          <a:solidFill>
            <a:srgbClr val="FFFFFF">
              <a:alpha val="10000"/>
            </a:srgbClr>
          </a:solidFill>
          <a:ln w="12700">
            <a:solidFill>
              <a:srgbClr val="FFFFFF">
                <a:alpha val="30000"/>
              </a:srgbClr>
            </a:solidFill>
            <a:prstDash val="solid"/>
          </a:ln>
        </p:spPr>
      </p:sp>
      <p:sp>
        <p:nvSpPr>
          <p:cNvPr id="25" name="Text 21"/>
          <p:cNvSpPr txBox="1"/>
          <p:nvPr/>
        </p:nvSpPr>
        <p:spPr>
          <a:xfrm>
            <a:off x="4667098" y="3672230"/>
            <a:ext cx="886054"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設計リード</a:t>
            </a:r>
            <a:endParaRPr lang="en-US" sz="1200" dirty="0"/>
          </a:p>
        </p:txBody>
      </p:sp>
      <p:sp>
        <p:nvSpPr>
          <p:cNvPr id="26" name="Text 22"/>
          <p:cNvSpPr txBox="1"/>
          <p:nvPr/>
        </p:nvSpPr>
        <p:spPr>
          <a:xfrm>
            <a:off x="6457493" y="3642970"/>
            <a:ext cx="149595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コード生成オペレーター</a:t>
            </a:r>
            <a:endParaRPr lang="en-US" sz="1200" dirty="0"/>
          </a:p>
        </p:txBody>
      </p:sp>
      <p:sp>
        <p:nvSpPr>
          <p:cNvPr id="27" name="Text 23"/>
          <p:cNvSpPr txBox="1"/>
          <p:nvPr/>
        </p:nvSpPr>
        <p:spPr>
          <a:xfrm>
            <a:off x="4309567" y="3948379"/>
            <a:ext cx="1571854" cy="333756"/>
          </a:xfrm>
          <a:prstGeom prst="rect">
            <a:avLst/>
          </a:prstGeom>
          <a:noFill/>
          <a:ln/>
        </p:spPr>
        <p:txBody>
          <a:bodyPr wrap="square" lIns="0" tIns="0" rIns="0" bIns="0" rtlCol="0" anchor="ctr"/>
          <a:lstStyle/>
          <a:p>
            <a:pPr algn="ctr" indent="0" marL="0">
              <a:buNone/>
            </a:pPr>
            <a:r>
              <a:rPr lang="en-US" sz="900" dirty="0">
                <a:solidFill>
                  <a:srgbClr val="FFFFFF">
                    <a:alpha val="80000"/>
                  </a:srgbClr>
                </a:solidFill>
                <a:latin typeface="Noto Sans JP" pitchFamily="34" charset="0"/>
                <a:ea typeface="Noto Sans JP" pitchFamily="34" charset="-122"/>
                <a:cs typeface="Noto Sans JP" pitchFamily="34" charset="-120"/>
              </a:rPr>
              <a:t>要件分析・アーキテクチャ定義</a:t>
            </a:r>
            <a:endParaRPr lang="en-US" sz="900" dirty="0"/>
          </a:p>
        </p:txBody>
      </p:sp>
      <p:sp>
        <p:nvSpPr>
          <p:cNvPr id="28" name="Text 24"/>
          <p:cNvSpPr txBox="1"/>
          <p:nvPr/>
        </p:nvSpPr>
        <p:spPr>
          <a:xfrm>
            <a:off x="6459322" y="4147718"/>
            <a:ext cx="1457554" cy="162763"/>
          </a:xfrm>
          <a:prstGeom prst="rect">
            <a:avLst/>
          </a:prstGeom>
          <a:noFill/>
          <a:ln/>
        </p:spPr>
        <p:txBody>
          <a:bodyPr wrap="square" lIns="0" tIns="0" rIns="0" bIns="0" rtlCol="0" anchor="ctr"/>
          <a:lstStyle/>
          <a:p>
            <a:pPr algn="ctr" indent="0" marL="0">
              <a:buNone/>
            </a:pPr>
            <a:r>
              <a:rPr lang="en-US" sz="900" dirty="0">
                <a:solidFill>
                  <a:srgbClr val="FFFFFF">
                    <a:alpha val="80000"/>
                  </a:srgbClr>
                </a:solidFill>
                <a:latin typeface="Noto Sans JP" pitchFamily="34" charset="0"/>
                <a:ea typeface="Noto Sans JP" pitchFamily="34" charset="-122"/>
                <a:cs typeface="Noto Sans JP" pitchFamily="34" charset="-120"/>
              </a:rPr>
              <a:t>プロンプト設計・生成管理</a:t>
            </a:r>
            <a:endParaRPr lang="en-US" sz="900" dirty="0"/>
          </a:p>
        </p:txBody>
      </p:sp>
      <p:sp>
        <p:nvSpPr>
          <p:cNvPr id="29" name="Shape 25"/>
          <p:cNvSpPr/>
          <p:nvPr/>
        </p:nvSpPr>
        <p:spPr>
          <a:xfrm>
            <a:off x="3143707" y="4981651"/>
            <a:ext cx="1714500" cy="857707"/>
          </a:xfrm>
          <a:prstGeom prst="roundRect">
            <a:avLst>
              <a:gd name="adj" fmla="val 9476"/>
            </a:avLst>
          </a:prstGeom>
          <a:solidFill>
            <a:srgbClr val="FFFFFF">
              <a:alpha val="10000"/>
            </a:srgbClr>
          </a:solidFill>
          <a:ln w="12700">
            <a:solidFill>
              <a:srgbClr val="FFFFFF">
                <a:alpha val="30000"/>
              </a:srgbClr>
            </a:solidFill>
            <a:prstDash val="solid"/>
          </a:ln>
        </p:spPr>
      </p:sp>
      <p:sp>
        <p:nvSpPr>
          <p:cNvPr id="30" name="Shape 26"/>
          <p:cNvSpPr/>
          <p:nvPr/>
        </p:nvSpPr>
        <p:spPr>
          <a:xfrm>
            <a:off x="5238598" y="4981651"/>
            <a:ext cx="1714500" cy="857707"/>
          </a:xfrm>
          <a:prstGeom prst="roundRect">
            <a:avLst>
              <a:gd name="adj" fmla="val 9476"/>
            </a:avLst>
          </a:prstGeom>
          <a:solidFill>
            <a:srgbClr val="FFFFFF">
              <a:alpha val="10000"/>
            </a:srgbClr>
          </a:solidFill>
          <a:ln w="12700">
            <a:solidFill>
              <a:srgbClr val="FFFFFF">
                <a:alpha val="30000"/>
              </a:srgbClr>
            </a:solidFill>
            <a:prstDash val="solid"/>
          </a:ln>
        </p:spPr>
      </p:sp>
      <p:sp>
        <p:nvSpPr>
          <p:cNvPr id="31" name="Shape 27"/>
          <p:cNvSpPr/>
          <p:nvPr/>
        </p:nvSpPr>
        <p:spPr>
          <a:xfrm>
            <a:off x="7334402" y="4981651"/>
            <a:ext cx="1714500" cy="857707"/>
          </a:xfrm>
          <a:prstGeom prst="roundRect">
            <a:avLst>
              <a:gd name="adj" fmla="val 9476"/>
            </a:avLst>
          </a:prstGeom>
          <a:solidFill>
            <a:srgbClr val="FFFFFF">
              <a:alpha val="10000"/>
            </a:srgbClr>
          </a:solidFill>
          <a:ln w="12700">
            <a:solidFill>
              <a:srgbClr val="FFFFFF">
                <a:alpha val="30000"/>
              </a:srgbClr>
            </a:solidFill>
            <a:prstDash val="solid"/>
          </a:ln>
        </p:spPr>
      </p:sp>
      <p:sp>
        <p:nvSpPr>
          <p:cNvPr id="32" name="Text 28"/>
          <p:cNvSpPr txBox="1"/>
          <p:nvPr/>
        </p:nvSpPr>
        <p:spPr>
          <a:xfrm>
            <a:off x="3895344" y="5186477"/>
            <a:ext cx="333756"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QA</a:t>
            </a:r>
            <a:endParaRPr lang="en-US" sz="1200" dirty="0"/>
          </a:p>
        </p:txBody>
      </p:sp>
      <p:sp>
        <p:nvSpPr>
          <p:cNvPr id="33" name="Text 29"/>
          <p:cNvSpPr txBox="1"/>
          <p:nvPr/>
        </p:nvSpPr>
        <p:spPr>
          <a:xfrm>
            <a:off x="5489143" y="5186477"/>
            <a:ext cx="1334110"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リファクタリング</a:t>
            </a:r>
            <a:endParaRPr lang="en-US" sz="1200" dirty="0"/>
          </a:p>
        </p:txBody>
      </p:sp>
      <p:sp>
        <p:nvSpPr>
          <p:cNvPr id="34" name="Text 30"/>
          <p:cNvSpPr txBox="1"/>
          <p:nvPr/>
        </p:nvSpPr>
        <p:spPr>
          <a:xfrm>
            <a:off x="7564831" y="5186477"/>
            <a:ext cx="1371600"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SRE/セキュリティ</a:t>
            </a:r>
            <a:endParaRPr lang="en-US" sz="1200" dirty="0"/>
          </a:p>
        </p:txBody>
      </p:sp>
      <p:sp>
        <p:nvSpPr>
          <p:cNvPr id="35" name="Text 31"/>
          <p:cNvSpPr txBox="1"/>
          <p:nvPr/>
        </p:nvSpPr>
        <p:spPr>
          <a:xfrm>
            <a:off x="3429000" y="5462626"/>
            <a:ext cx="1239012" cy="162763"/>
          </a:xfrm>
          <a:prstGeom prst="rect">
            <a:avLst/>
          </a:prstGeom>
          <a:noFill/>
          <a:ln/>
        </p:spPr>
        <p:txBody>
          <a:bodyPr wrap="square" lIns="0" tIns="0" rIns="0" bIns="0" rtlCol="0" anchor="ctr"/>
          <a:lstStyle/>
          <a:p>
            <a:pPr algn="ctr" indent="0" marL="0">
              <a:buNone/>
            </a:pPr>
            <a:r>
              <a:rPr lang="en-US" sz="900" dirty="0">
                <a:solidFill>
                  <a:srgbClr val="FFFFFF">
                    <a:alpha val="80000"/>
                  </a:srgbClr>
                </a:solidFill>
                <a:latin typeface="Noto Sans JP" pitchFamily="34" charset="0"/>
                <a:ea typeface="Noto Sans JP" pitchFamily="34" charset="-122"/>
                <a:cs typeface="Noto Sans JP" pitchFamily="34" charset="-120"/>
              </a:rPr>
              <a:t>テスト設計・品質検証</a:t>
            </a:r>
            <a:endParaRPr lang="en-US" sz="900" dirty="0"/>
          </a:p>
        </p:txBody>
      </p:sp>
      <p:sp>
        <p:nvSpPr>
          <p:cNvPr id="36" name="Text 32"/>
          <p:cNvSpPr txBox="1"/>
          <p:nvPr/>
        </p:nvSpPr>
        <p:spPr>
          <a:xfrm>
            <a:off x="5524805" y="5462626"/>
            <a:ext cx="1239012" cy="162763"/>
          </a:xfrm>
          <a:prstGeom prst="rect">
            <a:avLst/>
          </a:prstGeom>
          <a:noFill/>
          <a:ln/>
        </p:spPr>
        <p:txBody>
          <a:bodyPr wrap="square" lIns="0" tIns="0" rIns="0" bIns="0" rtlCol="0" anchor="ctr"/>
          <a:lstStyle/>
          <a:p>
            <a:pPr algn="ctr" indent="0" marL="0">
              <a:buNone/>
            </a:pPr>
            <a:r>
              <a:rPr lang="en-US" sz="900" dirty="0">
                <a:solidFill>
                  <a:srgbClr val="FFFFFF">
                    <a:alpha val="80000"/>
                  </a:srgbClr>
                </a:solidFill>
                <a:latin typeface="Noto Sans JP" pitchFamily="34" charset="0"/>
                <a:ea typeface="Noto Sans JP" pitchFamily="34" charset="-122"/>
                <a:cs typeface="Noto Sans JP" pitchFamily="34" charset="-120"/>
              </a:rPr>
              <a:t>コード最適化・再構成</a:t>
            </a:r>
            <a:endParaRPr lang="en-US" sz="900" dirty="0"/>
          </a:p>
        </p:txBody>
      </p:sp>
      <p:sp>
        <p:nvSpPr>
          <p:cNvPr id="37" name="Text 33"/>
          <p:cNvSpPr txBox="1"/>
          <p:nvPr/>
        </p:nvSpPr>
        <p:spPr>
          <a:xfrm>
            <a:off x="7453274" y="5462626"/>
            <a:ext cx="1562710" cy="162763"/>
          </a:xfrm>
          <a:prstGeom prst="rect">
            <a:avLst/>
          </a:prstGeom>
          <a:noFill/>
          <a:ln/>
        </p:spPr>
        <p:txBody>
          <a:bodyPr wrap="square" lIns="0" tIns="0" rIns="0" bIns="0" rtlCol="0" anchor="ctr"/>
          <a:lstStyle/>
          <a:p>
            <a:pPr algn="ctr" indent="0" marL="0">
              <a:buNone/>
            </a:pPr>
            <a:r>
              <a:rPr lang="en-US" sz="900" dirty="0">
                <a:solidFill>
                  <a:srgbClr val="FFFFFF">
                    <a:alpha val="80000"/>
                  </a:srgbClr>
                </a:solidFill>
                <a:latin typeface="Noto Sans JP" pitchFamily="34" charset="0"/>
                <a:ea typeface="Noto Sans JP" pitchFamily="34" charset="-122"/>
                <a:cs typeface="Noto Sans JP" pitchFamily="34" charset="-120"/>
              </a:rPr>
              <a:t>インフラ・セキュリティ対策</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86346"/>
          </a:xfrm>
          <a:prstGeom prst="rect">
            <a:avLst/>
          </a:prstGeom>
          <a:solidFill>
            <a:srgbClr val="0A1930"/>
          </a:solidFill>
          <a:ln/>
        </p:spPr>
      </p:sp>
      <p:sp>
        <p:nvSpPr>
          <p:cNvPr id="3" name="Text 1"/>
          <p:cNvSpPr txBox="1"/>
          <p:nvPr/>
        </p:nvSpPr>
        <p:spPr>
          <a:xfrm>
            <a:off x="761695" y="485546"/>
            <a:ext cx="4529938" cy="581558"/>
          </a:xfrm>
          <a:prstGeom prst="rect">
            <a:avLst/>
          </a:prstGeom>
          <a:noFill/>
          <a:ln/>
        </p:spPr>
        <p:txBody>
          <a:bodyPr wrap="square" lIns="0" tIns="0" rIns="0" bIns="0" rtlCol="0" anchor="ctr"/>
          <a:lstStyle/>
          <a:p>
            <a:pPr algn="l" indent="0" marL="0">
              <a:buNone/>
            </a:pPr>
            <a:r>
              <a:rPr lang="en-US" sz="3100" b="1" dirty="0">
                <a:solidFill>
                  <a:srgbClr val="FFFFFF"/>
                </a:solidFill>
                <a:latin typeface="Noto Sans JP" pitchFamily="34" charset="0"/>
                <a:ea typeface="Noto Sans JP" pitchFamily="34" charset="-122"/>
                <a:cs typeface="Noto Sans JP" pitchFamily="34" charset="-120"/>
              </a:rPr>
              <a:t>AI生成の3課題と解決策</a:t>
            </a:r>
            <a:endParaRPr lang="en-US" sz="3100" dirty="0"/>
          </a:p>
        </p:txBody>
      </p:sp>
      <p:sp>
        <p:nvSpPr>
          <p:cNvPr id="4" name="Shape 2"/>
          <p:cNvSpPr/>
          <p:nvPr/>
        </p:nvSpPr>
        <p:spPr>
          <a:xfrm>
            <a:off x="952805" y="1837944"/>
            <a:ext cx="4791456" cy="1133856"/>
          </a:xfrm>
          <a:prstGeom prst="roundRect">
            <a:avLst>
              <a:gd name="adj" fmla="val 6777"/>
            </a:avLst>
          </a:prstGeom>
          <a:solidFill>
            <a:srgbClr val="FF7878">
              <a:alpha val="10000"/>
            </a:srgbClr>
          </a:solidFill>
          <a:ln/>
        </p:spPr>
      </p:sp>
      <p:sp>
        <p:nvSpPr>
          <p:cNvPr id="5" name="Shape 3"/>
          <p:cNvSpPr/>
          <p:nvPr/>
        </p:nvSpPr>
        <p:spPr>
          <a:xfrm>
            <a:off x="1143000" y="2029054"/>
            <a:ext cx="381305" cy="381305"/>
          </a:xfrm>
          <a:prstGeom prst="roundRect">
            <a:avLst>
              <a:gd name="adj" fmla="val 47962"/>
            </a:avLst>
          </a:prstGeom>
          <a:solidFill>
            <a:srgbClr val="FF7878">
              <a:alpha val="20000"/>
            </a:srgbClr>
          </a:solidFill>
          <a:ln/>
        </p:spPr>
      </p:sp>
      <p:pic>
        <p:nvPicPr>
          <p:cNvPr id="6" name="Image 0" descr="preencoded.png">    </p:cNvPr>
          <p:cNvPicPr>
            <a:picLocks noChangeAspect="1"/>
          </p:cNvPicPr>
          <p:nvPr/>
        </p:nvPicPr>
        <p:blipFill>
          <a:blip r:embed="rId1"/>
          <a:srcRect l="-989999" r="-989999" t="0" b="0"/>
          <a:stretch/>
        </p:blipFill>
        <p:spPr>
          <a:xfrm>
            <a:off x="1238098" y="2214677"/>
            <a:ext cx="190195" cy="9144"/>
          </a:xfrm>
          <a:prstGeom prst="rect">
            <a:avLst/>
          </a:prstGeom>
        </p:spPr>
      </p:pic>
      <p:sp>
        <p:nvSpPr>
          <p:cNvPr id="7" name="Text 4"/>
          <p:cNvSpPr txBox="1"/>
          <p:nvPr/>
        </p:nvSpPr>
        <p:spPr>
          <a:xfrm>
            <a:off x="1676095" y="2029054"/>
            <a:ext cx="2872130" cy="247802"/>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AI生成のレベル感がメンバーに依存</a:t>
            </a:r>
            <a:endParaRPr lang="en-US" sz="1300" dirty="0"/>
          </a:p>
        </p:txBody>
      </p:sp>
      <p:sp>
        <p:nvSpPr>
          <p:cNvPr id="8" name="Text 5"/>
          <p:cNvSpPr txBox="1"/>
          <p:nvPr/>
        </p:nvSpPr>
        <p:spPr>
          <a:xfrm>
            <a:off x="1676095" y="2324405"/>
            <a:ext cx="3915461"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メンバーのプロンプトスキルや経験によって生成品質が大きく変動</a:t>
            </a:r>
            <a:endParaRPr lang="en-US" sz="1200" dirty="0"/>
          </a:p>
        </p:txBody>
      </p:sp>
      <p:pic>
        <p:nvPicPr>
          <p:cNvPr id="9" name="Image 1" descr="preencoded.png">    </p:cNvPr>
          <p:cNvPicPr>
            <a:picLocks noChangeAspect="1"/>
          </p:cNvPicPr>
          <p:nvPr/>
        </p:nvPicPr>
        <p:blipFill>
          <a:blip r:embed="rId2"/>
          <a:srcRect l="0" r="0" t="0" b="0"/>
          <a:stretch/>
        </p:blipFill>
        <p:spPr>
          <a:xfrm>
            <a:off x="5982005" y="2300630"/>
            <a:ext cx="228600" cy="228600"/>
          </a:xfrm>
          <a:prstGeom prst="rect">
            <a:avLst/>
          </a:prstGeom>
        </p:spPr>
      </p:pic>
      <p:sp>
        <p:nvSpPr>
          <p:cNvPr id="10" name="Text 6"/>
          <p:cNvSpPr txBox="1"/>
          <p:nvPr/>
        </p:nvSpPr>
        <p:spPr>
          <a:xfrm>
            <a:off x="1676095" y="3448202"/>
            <a:ext cx="3557930" cy="247802"/>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要件・仕様認識があいまいなままコード生成</a:t>
            </a:r>
            <a:endParaRPr lang="en-US" sz="1300" dirty="0"/>
          </a:p>
        </p:txBody>
      </p:sp>
      <p:sp>
        <p:nvSpPr>
          <p:cNvPr id="11" name="Text 7"/>
          <p:cNvSpPr txBox="1"/>
          <p:nvPr/>
        </p:nvSpPr>
        <p:spPr>
          <a:xfrm>
            <a:off x="1676095" y="3743554"/>
            <a:ext cx="3934663"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理解が不十分な状態での実装が手戻りやリスクを発生させる</a:t>
            </a:r>
            <a:endParaRPr lang="en-US" sz="1200" dirty="0"/>
          </a:p>
        </p:txBody>
      </p:sp>
      <p:sp>
        <p:nvSpPr>
          <p:cNvPr id="12" name="Shape 8"/>
          <p:cNvSpPr/>
          <p:nvPr/>
        </p:nvSpPr>
        <p:spPr>
          <a:xfrm>
            <a:off x="6448349" y="1837944"/>
            <a:ext cx="4791456" cy="1133856"/>
          </a:xfrm>
          <a:prstGeom prst="roundRect">
            <a:avLst>
              <a:gd name="adj" fmla="val 6777"/>
            </a:avLst>
          </a:prstGeom>
          <a:solidFill>
            <a:srgbClr val="00AEFF">
              <a:alpha val="10000"/>
            </a:srgbClr>
          </a:solidFill>
          <a:ln/>
        </p:spPr>
      </p:sp>
      <p:sp>
        <p:nvSpPr>
          <p:cNvPr id="13" name="Shape 9"/>
          <p:cNvSpPr/>
          <p:nvPr/>
        </p:nvSpPr>
        <p:spPr>
          <a:xfrm>
            <a:off x="6638544" y="2029054"/>
            <a:ext cx="381305" cy="381305"/>
          </a:xfrm>
          <a:prstGeom prst="roundRect">
            <a:avLst>
              <a:gd name="adj" fmla="val 47962"/>
            </a:avLst>
          </a:prstGeom>
          <a:solidFill>
            <a:srgbClr val="00AEFF">
              <a:alpha val="20000"/>
            </a:srgbClr>
          </a:solidFill>
          <a:ln/>
        </p:spPr>
      </p:sp>
      <p:pic>
        <p:nvPicPr>
          <p:cNvPr id="14" name="Image 2" descr="preencoded.png">    </p:cNvPr>
          <p:cNvPicPr>
            <a:picLocks noChangeAspect="1"/>
          </p:cNvPicPr>
          <p:nvPr/>
        </p:nvPicPr>
        <p:blipFill>
          <a:blip r:embed="rId3"/>
          <a:srcRect l="-989999" r="-989999" t="0" b="0"/>
          <a:stretch/>
        </p:blipFill>
        <p:spPr>
          <a:xfrm>
            <a:off x="6734556" y="2214677"/>
            <a:ext cx="190195" cy="9144"/>
          </a:xfrm>
          <a:prstGeom prst="rect">
            <a:avLst/>
          </a:prstGeom>
        </p:spPr>
      </p:pic>
      <p:sp>
        <p:nvSpPr>
          <p:cNvPr id="15" name="Shape 10"/>
          <p:cNvSpPr/>
          <p:nvPr/>
        </p:nvSpPr>
        <p:spPr>
          <a:xfrm>
            <a:off x="952805" y="3258007"/>
            <a:ext cx="4791456" cy="1133856"/>
          </a:xfrm>
          <a:prstGeom prst="roundRect">
            <a:avLst>
              <a:gd name="adj" fmla="val 6777"/>
            </a:avLst>
          </a:prstGeom>
          <a:solidFill>
            <a:srgbClr val="FF7878">
              <a:alpha val="10000"/>
            </a:srgbClr>
          </a:solidFill>
          <a:ln/>
        </p:spPr>
      </p:sp>
      <p:sp>
        <p:nvSpPr>
          <p:cNvPr id="16" name="Shape 11"/>
          <p:cNvSpPr/>
          <p:nvPr/>
        </p:nvSpPr>
        <p:spPr>
          <a:xfrm>
            <a:off x="1143000" y="3448202"/>
            <a:ext cx="381305" cy="381305"/>
          </a:xfrm>
          <a:prstGeom prst="roundRect">
            <a:avLst>
              <a:gd name="adj" fmla="val 47962"/>
            </a:avLst>
          </a:prstGeom>
          <a:solidFill>
            <a:srgbClr val="FF7878">
              <a:alpha val="20000"/>
            </a:srgbClr>
          </a:solidFill>
          <a:ln/>
        </p:spPr>
      </p:sp>
      <p:sp>
        <p:nvSpPr>
          <p:cNvPr id="17" name="Text 12"/>
          <p:cNvSpPr txBox="1"/>
          <p:nvPr/>
        </p:nvSpPr>
        <p:spPr>
          <a:xfrm>
            <a:off x="1676095" y="5162702"/>
            <a:ext cx="3915461"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大規模な一括生成はAIの処理能力を超え、不正確なコードの原因に</a:t>
            </a:r>
            <a:endParaRPr lang="en-US" sz="1200" dirty="0"/>
          </a:p>
        </p:txBody>
      </p:sp>
      <p:sp>
        <p:nvSpPr>
          <p:cNvPr id="18" name="Shape 13"/>
          <p:cNvSpPr/>
          <p:nvPr/>
        </p:nvSpPr>
        <p:spPr>
          <a:xfrm>
            <a:off x="6448349" y="3258007"/>
            <a:ext cx="4791456" cy="1133856"/>
          </a:xfrm>
          <a:prstGeom prst="roundRect">
            <a:avLst>
              <a:gd name="adj" fmla="val 6777"/>
            </a:avLst>
          </a:prstGeom>
          <a:solidFill>
            <a:srgbClr val="00AEFF">
              <a:alpha val="10000"/>
            </a:srgbClr>
          </a:solidFill>
          <a:ln/>
        </p:spPr>
      </p:sp>
      <p:sp>
        <p:nvSpPr>
          <p:cNvPr id="19" name="Shape 14"/>
          <p:cNvSpPr/>
          <p:nvPr/>
        </p:nvSpPr>
        <p:spPr>
          <a:xfrm>
            <a:off x="6638544" y="3448202"/>
            <a:ext cx="381305" cy="381305"/>
          </a:xfrm>
          <a:prstGeom prst="roundRect">
            <a:avLst>
              <a:gd name="adj" fmla="val 47962"/>
            </a:avLst>
          </a:prstGeom>
          <a:solidFill>
            <a:srgbClr val="00AEFF">
              <a:alpha val="20000"/>
            </a:srgbClr>
          </a:solidFill>
          <a:ln/>
        </p:spPr>
      </p:sp>
      <p:sp>
        <p:nvSpPr>
          <p:cNvPr id="20" name="Text 15"/>
          <p:cNvSpPr txBox="1"/>
          <p:nvPr/>
        </p:nvSpPr>
        <p:spPr>
          <a:xfrm>
            <a:off x="7172554" y="2029054"/>
            <a:ext cx="3386938" cy="247802"/>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AI生成パイプラインと役割分担の厳格定義</a:t>
            </a:r>
            <a:endParaRPr lang="en-US" sz="1300" dirty="0"/>
          </a:p>
        </p:txBody>
      </p:sp>
      <p:sp>
        <p:nvSpPr>
          <p:cNvPr id="21" name="Text 16"/>
          <p:cNvSpPr txBox="1"/>
          <p:nvPr/>
        </p:nvSpPr>
        <p:spPr>
          <a:xfrm>
            <a:off x="7172554" y="2324405"/>
            <a:ext cx="3934663"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標準化されたプロセスと責任範囲の明確化で再現性を確保</a:t>
            </a:r>
            <a:endParaRPr lang="en-US" sz="1200" dirty="0"/>
          </a:p>
        </p:txBody>
      </p:sp>
      <p:pic>
        <p:nvPicPr>
          <p:cNvPr id="22" name="Image 3" descr="preencoded.png">    </p:cNvPr>
          <p:cNvPicPr>
            <a:picLocks noChangeAspect="1"/>
          </p:cNvPicPr>
          <p:nvPr/>
        </p:nvPicPr>
        <p:blipFill>
          <a:blip r:embed="rId4"/>
          <a:srcRect l="-989999" r="-989999" t="0" b="0"/>
          <a:stretch/>
        </p:blipFill>
        <p:spPr>
          <a:xfrm>
            <a:off x="1238098" y="3633826"/>
            <a:ext cx="190195" cy="9144"/>
          </a:xfrm>
          <a:prstGeom prst="rect">
            <a:avLst/>
          </a:prstGeom>
        </p:spPr>
      </p:pic>
      <p:pic>
        <p:nvPicPr>
          <p:cNvPr id="23" name="Image 4" descr="preencoded.png">    </p:cNvPr>
          <p:cNvPicPr>
            <a:picLocks noChangeAspect="1"/>
          </p:cNvPicPr>
          <p:nvPr/>
        </p:nvPicPr>
        <p:blipFill>
          <a:blip r:embed="rId5"/>
          <a:srcRect l="0" r="0" t="0" b="0"/>
          <a:stretch/>
        </p:blipFill>
        <p:spPr>
          <a:xfrm>
            <a:off x="5982005" y="3719779"/>
            <a:ext cx="228600" cy="228600"/>
          </a:xfrm>
          <a:prstGeom prst="rect">
            <a:avLst/>
          </a:prstGeom>
        </p:spPr>
      </p:pic>
      <p:pic>
        <p:nvPicPr>
          <p:cNvPr id="24" name="Image 5" descr="preencoded.png">    </p:cNvPr>
          <p:cNvPicPr>
            <a:picLocks noChangeAspect="1"/>
          </p:cNvPicPr>
          <p:nvPr/>
        </p:nvPicPr>
        <p:blipFill>
          <a:blip r:embed="rId6"/>
          <a:srcRect l="-989999" r="-989999" t="0" b="0"/>
          <a:stretch/>
        </p:blipFill>
        <p:spPr>
          <a:xfrm>
            <a:off x="6734556" y="3633826"/>
            <a:ext cx="190195" cy="9144"/>
          </a:xfrm>
          <a:prstGeom prst="rect">
            <a:avLst/>
          </a:prstGeom>
        </p:spPr>
      </p:pic>
      <p:sp>
        <p:nvSpPr>
          <p:cNvPr id="25" name="Shape 17"/>
          <p:cNvSpPr/>
          <p:nvPr/>
        </p:nvSpPr>
        <p:spPr>
          <a:xfrm>
            <a:off x="952805" y="4677156"/>
            <a:ext cx="4791456" cy="1133856"/>
          </a:xfrm>
          <a:prstGeom prst="roundRect">
            <a:avLst>
              <a:gd name="adj" fmla="val 6777"/>
            </a:avLst>
          </a:prstGeom>
          <a:solidFill>
            <a:srgbClr val="FF7878">
              <a:alpha val="10000"/>
            </a:srgbClr>
          </a:solidFill>
          <a:ln/>
        </p:spPr>
      </p:sp>
      <p:sp>
        <p:nvSpPr>
          <p:cNvPr id="26" name="Shape 18"/>
          <p:cNvSpPr/>
          <p:nvPr/>
        </p:nvSpPr>
        <p:spPr>
          <a:xfrm>
            <a:off x="1143000" y="4867351"/>
            <a:ext cx="381305" cy="381305"/>
          </a:xfrm>
          <a:prstGeom prst="roundRect">
            <a:avLst>
              <a:gd name="adj" fmla="val 47962"/>
            </a:avLst>
          </a:prstGeom>
          <a:solidFill>
            <a:srgbClr val="FF7878">
              <a:alpha val="20000"/>
            </a:srgbClr>
          </a:solidFill>
          <a:ln/>
        </p:spPr>
      </p:sp>
      <p:sp>
        <p:nvSpPr>
          <p:cNvPr id="27" name="Text 19"/>
          <p:cNvSpPr txBox="1"/>
          <p:nvPr/>
        </p:nvSpPr>
        <p:spPr>
          <a:xfrm>
            <a:off x="1676095" y="4867351"/>
            <a:ext cx="2701138" cy="247802"/>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一気に複雑な生成をしようとする</a:t>
            </a:r>
            <a:endParaRPr lang="en-US" sz="1300" dirty="0"/>
          </a:p>
        </p:txBody>
      </p:sp>
      <p:sp>
        <p:nvSpPr>
          <p:cNvPr id="28" name="Text 20"/>
          <p:cNvSpPr txBox="1"/>
          <p:nvPr/>
        </p:nvSpPr>
        <p:spPr>
          <a:xfrm>
            <a:off x="7172554" y="3448202"/>
            <a:ext cx="2348179" cy="247802"/>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設計偏重型のアジャイル開発</a:t>
            </a:r>
            <a:endParaRPr lang="en-US" sz="1300" dirty="0"/>
          </a:p>
        </p:txBody>
      </p:sp>
      <p:sp>
        <p:nvSpPr>
          <p:cNvPr id="29" name="Text 21"/>
          <p:cNvSpPr txBox="1"/>
          <p:nvPr/>
        </p:nvSpPr>
        <p:spPr>
          <a:xfrm>
            <a:off x="7172554" y="3743554"/>
            <a:ext cx="3924605"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合意形成された設計に基づいて生成することで品質を確保</a:t>
            </a:r>
            <a:endParaRPr lang="en-US" sz="1200" dirty="0"/>
          </a:p>
        </p:txBody>
      </p:sp>
      <p:pic>
        <p:nvPicPr>
          <p:cNvPr id="30" name="Image 6" descr="preencoded.png">    </p:cNvPr>
          <p:cNvPicPr>
            <a:picLocks noChangeAspect="1"/>
          </p:cNvPicPr>
          <p:nvPr/>
        </p:nvPicPr>
        <p:blipFill>
          <a:blip r:embed="rId7"/>
          <a:srcRect l="-1024284" r="-1024284" t="0" b="0"/>
          <a:stretch/>
        </p:blipFill>
        <p:spPr>
          <a:xfrm>
            <a:off x="1248156" y="5052974"/>
            <a:ext cx="171907" cy="9144"/>
          </a:xfrm>
          <a:prstGeom prst="rect">
            <a:avLst/>
          </a:prstGeom>
        </p:spPr>
      </p:pic>
      <p:pic>
        <p:nvPicPr>
          <p:cNvPr id="31" name="Image 7" descr="preencoded.png">    </p:cNvPr>
          <p:cNvPicPr>
            <a:picLocks noChangeAspect="1"/>
          </p:cNvPicPr>
          <p:nvPr/>
        </p:nvPicPr>
        <p:blipFill>
          <a:blip r:embed="rId8"/>
          <a:srcRect l="0" r="0" t="0" b="0"/>
          <a:stretch/>
        </p:blipFill>
        <p:spPr>
          <a:xfrm>
            <a:off x="5982005" y="5138928"/>
            <a:ext cx="228600" cy="228600"/>
          </a:xfrm>
          <a:prstGeom prst="rect">
            <a:avLst/>
          </a:prstGeom>
        </p:spPr>
      </p:pic>
      <p:sp>
        <p:nvSpPr>
          <p:cNvPr id="32" name="Shape 22"/>
          <p:cNvSpPr/>
          <p:nvPr/>
        </p:nvSpPr>
        <p:spPr>
          <a:xfrm>
            <a:off x="6448349" y="4677156"/>
            <a:ext cx="4791456" cy="1133856"/>
          </a:xfrm>
          <a:prstGeom prst="roundRect">
            <a:avLst>
              <a:gd name="adj" fmla="val 6777"/>
            </a:avLst>
          </a:prstGeom>
          <a:solidFill>
            <a:srgbClr val="00AEFF">
              <a:alpha val="10000"/>
            </a:srgbClr>
          </a:solidFill>
          <a:ln/>
        </p:spPr>
      </p:sp>
      <p:sp>
        <p:nvSpPr>
          <p:cNvPr id="33" name="Shape 23"/>
          <p:cNvSpPr/>
          <p:nvPr/>
        </p:nvSpPr>
        <p:spPr>
          <a:xfrm>
            <a:off x="6638544" y="4867351"/>
            <a:ext cx="381305" cy="381305"/>
          </a:xfrm>
          <a:prstGeom prst="roundRect">
            <a:avLst>
              <a:gd name="adj" fmla="val 47962"/>
            </a:avLst>
          </a:prstGeom>
          <a:solidFill>
            <a:srgbClr val="00AEFF">
              <a:alpha val="20000"/>
            </a:srgbClr>
          </a:solidFill>
          <a:ln/>
        </p:spPr>
      </p:sp>
      <p:pic>
        <p:nvPicPr>
          <p:cNvPr id="34" name="Image 8" descr="preencoded.png">    </p:cNvPr>
          <p:cNvPicPr>
            <a:picLocks noChangeAspect="1"/>
          </p:cNvPicPr>
          <p:nvPr/>
        </p:nvPicPr>
        <p:blipFill>
          <a:blip r:embed="rId9"/>
          <a:srcRect l="-1016667" r="-1016667" t="0" b="0"/>
          <a:stretch/>
        </p:blipFill>
        <p:spPr>
          <a:xfrm>
            <a:off x="6719926" y="5052974"/>
            <a:ext cx="219456" cy="9144"/>
          </a:xfrm>
          <a:prstGeom prst="rect">
            <a:avLst/>
          </a:prstGeom>
        </p:spPr>
      </p:pic>
      <p:sp>
        <p:nvSpPr>
          <p:cNvPr id="35" name="Text 24"/>
          <p:cNvSpPr txBox="1"/>
          <p:nvPr/>
        </p:nvSpPr>
        <p:spPr>
          <a:xfrm>
            <a:off x="7172554" y="4867351"/>
            <a:ext cx="2529230" cy="247802"/>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段階的複雑化アプローチの徹底</a:t>
            </a:r>
            <a:endParaRPr lang="en-US" sz="1300" dirty="0"/>
          </a:p>
        </p:txBody>
      </p:sp>
      <p:sp>
        <p:nvSpPr>
          <p:cNvPr id="36" name="Text 25"/>
          <p:cNvSpPr txBox="1"/>
          <p:nvPr/>
        </p:nvSpPr>
        <p:spPr>
          <a:xfrm>
            <a:off x="7172554" y="5162702"/>
            <a:ext cx="3924605"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シンプルなコアから順次拡張し、各ステップで検証を行う</a:t>
            </a:r>
            <a:endParaRPr lang="en-US" sz="1200" dirty="0"/>
          </a:p>
        </p:txBody>
      </p:sp>
      <p:sp>
        <p:nvSpPr>
          <p:cNvPr id="37" name="Text 26"/>
          <p:cNvSpPr txBox="1"/>
          <p:nvPr/>
        </p:nvSpPr>
        <p:spPr>
          <a:xfrm>
            <a:off x="10109606" y="6534302"/>
            <a:ext cx="1424635" cy="191110"/>
          </a:xfrm>
          <a:prstGeom prst="rect">
            <a:avLst/>
          </a:prstGeom>
          <a:noFill/>
          <a:ln/>
        </p:spPr>
        <p:txBody>
          <a:bodyPr wrap="square" lIns="0" tIns="0" rIns="0" bIns="0" rtlCol="0" anchor="ctr"/>
          <a:lstStyle/>
          <a:p>
            <a:pPr algn="r" indent="0" marL="0">
              <a:buNone/>
            </a:pPr>
            <a:r>
              <a:rPr lang="en-US" sz="1000" dirty="0">
                <a:solidFill>
                  <a:srgbClr val="FFFFFF">
                    <a:alpha val="50000"/>
                  </a:srgbClr>
                </a:solidFill>
                <a:latin typeface="Noto Sans JP" pitchFamily="34" charset="0"/>
                <a:ea typeface="Noto Sans JP" pitchFamily="34" charset="-122"/>
                <a:cs typeface="Noto Sans JP" pitchFamily="34" charset="-120"/>
              </a:rPr>
              <a:t>AI駆動開発のその先へ</a:t>
            </a:r>
            <a:endParaRPr lang="en-US" sz="1000" dirty="0"/>
          </a:p>
        </p:txBody>
      </p:sp>
      <p:sp>
        <p:nvSpPr>
          <p:cNvPr id="38" name="Shape 27"/>
          <p:cNvSpPr/>
          <p:nvPr/>
        </p:nvSpPr>
        <p:spPr>
          <a:xfrm>
            <a:off x="9810598" y="4505249"/>
            <a:ext cx="3810305" cy="3810305"/>
          </a:xfrm>
          <a:prstGeom prst="ellipse">
            <a:avLst/>
          </a:prstGeom>
          <a:solidFill>
            <a:srgbClr val="00AEFF">
              <a:alpha val="5000"/>
            </a:srgbClr>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sp>
      <p:sp>
        <p:nvSpPr>
          <p:cNvPr id="3" name="Text 1"/>
          <p:cNvSpPr txBox="1"/>
          <p:nvPr/>
        </p:nvSpPr>
        <p:spPr>
          <a:xfrm>
            <a:off x="761695" y="485546"/>
            <a:ext cx="4662526" cy="581558"/>
          </a:xfrm>
          <a:prstGeom prst="rect">
            <a:avLst/>
          </a:prstGeom>
          <a:noFill/>
          <a:ln/>
        </p:spPr>
        <p:txBody>
          <a:bodyPr wrap="square" lIns="0" tIns="0" rIns="0" bIns="0" rtlCol="0" anchor="ctr"/>
          <a:lstStyle/>
          <a:p>
            <a:pPr algn="l" indent="0" marL="0">
              <a:buNone/>
            </a:pPr>
            <a:r>
              <a:rPr lang="en-US" sz="3100" b="1" dirty="0">
                <a:solidFill>
                  <a:srgbClr val="FFFFFF"/>
                </a:solidFill>
                <a:latin typeface="Noto Sans JP" pitchFamily="34" charset="0"/>
                <a:ea typeface="Noto Sans JP" pitchFamily="34" charset="-122"/>
                <a:cs typeface="Noto Sans JP" pitchFamily="34" charset="-120"/>
              </a:rPr>
              <a:t>AI駆動アジャイルの手法</a:t>
            </a:r>
            <a:endParaRPr lang="en-US" sz="3100" dirty="0"/>
          </a:p>
        </p:txBody>
      </p:sp>
      <p:sp>
        <p:nvSpPr>
          <p:cNvPr id="4" name="Shape 2"/>
          <p:cNvSpPr/>
          <p:nvPr/>
        </p:nvSpPr>
        <p:spPr>
          <a:xfrm>
            <a:off x="952805" y="1742846"/>
            <a:ext cx="381305" cy="381305"/>
          </a:xfrm>
          <a:prstGeom prst="roundRect">
            <a:avLst>
              <a:gd name="adj" fmla="val 47962"/>
            </a:avLst>
          </a:prstGeom>
          <a:solidFill>
            <a:srgbClr val="00AEFF">
              <a:alpha val="20000"/>
            </a:srgbClr>
          </a:solidFill>
          <a:ln/>
        </p:spPr>
      </p:sp>
      <p:pic>
        <p:nvPicPr>
          <p:cNvPr id="5" name="Image 0" descr="preencoded.png">    </p:cNvPr>
          <p:cNvPicPr>
            <a:picLocks noChangeAspect="1"/>
          </p:cNvPicPr>
          <p:nvPr/>
        </p:nvPicPr>
        <p:blipFill>
          <a:blip r:embed="rId1"/>
          <a:srcRect l="-989999" r="-989999" t="0" b="0"/>
          <a:stretch/>
        </p:blipFill>
        <p:spPr>
          <a:xfrm>
            <a:off x="1047902" y="1928470"/>
            <a:ext cx="190195" cy="9144"/>
          </a:xfrm>
          <a:prstGeom prst="rect">
            <a:avLst/>
          </a:prstGeom>
        </p:spPr>
      </p:pic>
      <p:sp>
        <p:nvSpPr>
          <p:cNvPr id="6" name="Shape 3"/>
          <p:cNvSpPr/>
          <p:nvPr/>
        </p:nvSpPr>
        <p:spPr>
          <a:xfrm>
            <a:off x="6238951" y="1742846"/>
            <a:ext cx="381305" cy="381305"/>
          </a:xfrm>
          <a:prstGeom prst="roundRect">
            <a:avLst>
              <a:gd name="adj" fmla="val 47962"/>
            </a:avLst>
          </a:prstGeom>
          <a:solidFill>
            <a:srgbClr val="00AEFF">
              <a:alpha val="20000"/>
            </a:srgbClr>
          </a:solidFill>
          <a:ln/>
        </p:spPr>
      </p:sp>
      <p:sp>
        <p:nvSpPr>
          <p:cNvPr id="7" name="Shape 4"/>
          <p:cNvSpPr/>
          <p:nvPr/>
        </p:nvSpPr>
        <p:spPr>
          <a:xfrm>
            <a:off x="952805" y="2905049"/>
            <a:ext cx="381305" cy="381305"/>
          </a:xfrm>
          <a:prstGeom prst="roundRect">
            <a:avLst>
              <a:gd name="adj" fmla="val 47962"/>
            </a:avLst>
          </a:prstGeom>
          <a:solidFill>
            <a:srgbClr val="00AEFF">
              <a:alpha val="20000"/>
            </a:srgbClr>
          </a:solidFill>
          <a:ln/>
        </p:spPr>
      </p:sp>
      <p:sp>
        <p:nvSpPr>
          <p:cNvPr id="8" name="Shape 5"/>
          <p:cNvSpPr/>
          <p:nvPr/>
        </p:nvSpPr>
        <p:spPr>
          <a:xfrm>
            <a:off x="6238951" y="2905049"/>
            <a:ext cx="381305" cy="381305"/>
          </a:xfrm>
          <a:prstGeom prst="roundRect">
            <a:avLst>
              <a:gd name="adj" fmla="val 47962"/>
            </a:avLst>
          </a:prstGeom>
          <a:solidFill>
            <a:srgbClr val="00AEFF">
              <a:alpha val="20000"/>
            </a:srgbClr>
          </a:solidFill>
          <a:ln/>
        </p:spPr>
      </p:sp>
      <p:sp>
        <p:nvSpPr>
          <p:cNvPr id="9" name="Text 6"/>
          <p:cNvSpPr txBox="1"/>
          <p:nvPr/>
        </p:nvSpPr>
        <p:spPr>
          <a:xfrm>
            <a:off x="1485900" y="1742846"/>
            <a:ext cx="1666951"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段階的アプローチ</a:t>
            </a:r>
            <a:endParaRPr lang="en-US" sz="1500" dirty="0"/>
          </a:p>
        </p:txBody>
      </p:sp>
      <p:sp>
        <p:nvSpPr>
          <p:cNvPr id="10" name="Text 7"/>
          <p:cNvSpPr txBox="1"/>
          <p:nvPr/>
        </p:nvSpPr>
        <p:spPr>
          <a:xfrm>
            <a:off x="1485900" y="2905049"/>
            <a:ext cx="2248510"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テスト駆動開発（TDD）</a:t>
            </a:r>
            <a:endParaRPr lang="en-US" sz="1500" dirty="0"/>
          </a:p>
        </p:txBody>
      </p:sp>
      <p:sp>
        <p:nvSpPr>
          <p:cNvPr id="11" name="Text 8"/>
          <p:cNvSpPr txBox="1"/>
          <p:nvPr/>
        </p:nvSpPr>
        <p:spPr>
          <a:xfrm>
            <a:off x="6772046" y="2905049"/>
            <a:ext cx="2048256"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役割明確化と責任分担</a:t>
            </a:r>
            <a:endParaRPr lang="en-US" sz="1500" dirty="0"/>
          </a:p>
        </p:txBody>
      </p:sp>
      <p:sp>
        <p:nvSpPr>
          <p:cNvPr id="12" name="Text 9"/>
          <p:cNvSpPr txBox="1"/>
          <p:nvPr/>
        </p:nvSpPr>
        <p:spPr>
          <a:xfrm>
            <a:off x="1485900" y="2066544"/>
            <a:ext cx="4534510"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アジャイル開発の枠組みを活用し、短いスプリントサイクルで反復的に進化させていく。適応性と柔軟性を重視して変化に対応。</a:t>
            </a:r>
            <a:endParaRPr lang="en-US" sz="1200" dirty="0"/>
          </a:p>
        </p:txBody>
      </p:sp>
      <p:pic>
        <p:nvPicPr>
          <p:cNvPr id="13" name="Image 1" descr="preencoded.png">    </p:cNvPr>
          <p:cNvPicPr>
            <a:picLocks noChangeAspect="1"/>
          </p:cNvPicPr>
          <p:nvPr/>
        </p:nvPicPr>
        <p:blipFill>
          <a:blip r:embed="rId2"/>
          <a:srcRect l="-989999" r="-989999" t="0" b="0"/>
          <a:stretch/>
        </p:blipFill>
        <p:spPr>
          <a:xfrm>
            <a:off x="6334049" y="1928470"/>
            <a:ext cx="190195" cy="9144"/>
          </a:xfrm>
          <a:prstGeom prst="rect">
            <a:avLst/>
          </a:prstGeom>
        </p:spPr>
      </p:pic>
      <p:sp>
        <p:nvSpPr>
          <p:cNvPr id="14" name="Text 10"/>
          <p:cNvSpPr txBox="1"/>
          <p:nvPr/>
        </p:nvSpPr>
        <p:spPr>
          <a:xfrm>
            <a:off x="6772046" y="1742846"/>
            <a:ext cx="3182112"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設計偏重の高速ウォーターフォール</a:t>
            </a:r>
            <a:endParaRPr lang="en-US" sz="1500" dirty="0"/>
          </a:p>
        </p:txBody>
      </p:sp>
      <p:sp>
        <p:nvSpPr>
          <p:cNvPr id="15" name="Text 11"/>
          <p:cNvSpPr txBox="1"/>
          <p:nvPr/>
        </p:nvSpPr>
        <p:spPr>
          <a:xfrm>
            <a:off x="6772046" y="2066544"/>
            <a:ext cx="4543654"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実装タスクでは設計重視のアプローチを採用。明確な設計合意が形成された後に、AIを活用した高速実装を実現する。</a:t>
            </a:r>
            <a:endParaRPr lang="en-US" sz="1200" dirty="0"/>
          </a:p>
        </p:txBody>
      </p:sp>
      <p:pic>
        <p:nvPicPr>
          <p:cNvPr id="16" name="Image 2" descr="preencoded.png">    </p:cNvPr>
          <p:cNvPicPr>
            <a:picLocks noChangeAspect="1"/>
          </p:cNvPicPr>
          <p:nvPr/>
        </p:nvPicPr>
        <p:blipFill>
          <a:blip r:embed="rId3"/>
          <a:srcRect l="-989999" r="-989999" t="0" b="0"/>
          <a:stretch/>
        </p:blipFill>
        <p:spPr>
          <a:xfrm>
            <a:off x="1024128" y="3090672"/>
            <a:ext cx="237744" cy="9144"/>
          </a:xfrm>
          <a:prstGeom prst="rect">
            <a:avLst/>
          </a:prstGeom>
        </p:spPr>
      </p:pic>
      <p:sp>
        <p:nvSpPr>
          <p:cNvPr id="17" name="Text 12"/>
          <p:cNvSpPr txBox="1"/>
          <p:nvPr/>
        </p:nvSpPr>
        <p:spPr>
          <a:xfrm>
            <a:off x="1485900" y="3228746"/>
            <a:ext cx="4506163"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テストファースト原則に基づき、AIコード生成の品質を保証。テスト→実装→リファクタリングのサイクルを繰り返し進める。</a:t>
            </a:r>
            <a:endParaRPr lang="en-US" sz="1200" dirty="0"/>
          </a:p>
        </p:txBody>
      </p:sp>
      <p:pic>
        <p:nvPicPr>
          <p:cNvPr id="18" name="Image 3" descr="preencoded.png">    </p:cNvPr>
          <p:cNvPicPr>
            <a:picLocks noChangeAspect="1"/>
          </p:cNvPicPr>
          <p:nvPr/>
        </p:nvPicPr>
        <p:blipFill>
          <a:blip r:embed="rId4"/>
          <a:srcRect l="-989999" r="-989999" t="0" b="0"/>
          <a:stretch/>
        </p:blipFill>
        <p:spPr>
          <a:xfrm>
            <a:off x="6310274" y="3090672"/>
            <a:ext cx="237744" cy="9144"/>
          </a:xfrm>
          <a:prstGeom prst="rect">
            <a:avLst/>
          </a:prstGeom>
        </p:spPr>
      </p:pic>
      <p:sp>
        <p:nvSpPr>
          <p:cNvPr id="19" name="Text 13"/>
          <p:cNvSpPr txBox="1"/>
          <p:nvPr/>
        </p:nvSpPr>
        <p:spPr>
          <a:xfrm>
            <a:off x="6772046" y="3228746"/>
            <a:ext cx="4524451"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AIと人間の役割を明確に定義し、それぞれの強みを活かした協業モデルを構築。品質と効率の両立を実現。</a:t>
            </a:r>
            <a:endParaRPr lang="en-US" sz="1200" dirty="0"/>
          </a:p>
        </p:txBody>
      </p:sp>
      <p:sp>
        <p:nvSpPr>
          <p:cNvPr id="20" name="Shape 14"/>
          <p:cNvSpPr/>
          <p:nvPr/>
        </p:nvSpPr>
        <p:spPr>
          <a:xfrm>
            <a:off x="1695298" y="4162349"/>
            <a:ext cx="571500" cy="571500"/>
          </a:xfrm>
          <a:prstGeom prst="ellipse">
            <a:avLst/>
          </a:prstGeom>
          <a:solidFill>
            <a:srgbClr val="00AEFF">
              <a:alpha val="20000"/>
            </a:srgbClr>
          </a:solidFill>
          <a:ln/>
        </p:spPr>
      </p:sp>
      <p:pic>
        <p:nvPicPr>
          <p:cNvPr id="21" name="Image 4" descr="preencoded.png">    </p:cNvPr>
          <p:cNvPicPr>
            <a:picLocks noChangeAspect="1"/>
          </p:cNvPicPr>
          <p:nvPr/>
        </p:nvPicPr>
        <p:blipFill>
          <a:blip r:embed="rId5"/>
          <a:srcRect l="-1024284" r="-1024284" t="0" b="0"/>
          <a:stretch/>
        </p:blipFill>
        <p:spPr>
          <a:xfrm>
            <a:off x="1895551" y="4443070"/>
            <a:ext cx="171907" cy="9144"/>
          </a:xfrm>
          <a:prstGeom prst="rect">
            <a:avLst/>
          </a:prstGeom>
        </p:spPr>
      </p:pic>
      <p:sp>
        <p:nvSpPr>
          <p:cNvPr id="22" name="Text 15"/>
          <p:cNvSpPr txBox="1"/>
          <p:nvPr/>
        </p:nvSpPr>
        <p:spPr>
          <a:xfrm>
            <a:off x="1447495" y="4828946"/>
            <a:ext cx="1191463"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スプリント計画</a:t>
            </a:r>
            <a:endParaRPr lang="en-US" sz="1200" dirty="0"/>
          </a:p>
        </p:txBody>
      </p:sp>
      <p:sp>
        <p:nvSpPr>
          <p:cNvPr id="23" name="Text 16"/>
          <p:cNvSpPr txBox="1"/>
          <p:nvPr/>
        </p:nvSpPr>
        <p:spPr>
          <a:xfrm>
            <a:off x="1118311" y="5095951"/>
            <a:ext cx="1834286" cy="191110"/>
          </a:xfrm>
          <a:prstGeom prst="rect">
            <a:avLst/>
          </a:prstGeom>
          <a:noFill/>
          <a:ln/>
        </p:spPr>
        <p:txBody>
          <a:bodyPr wrap="square" lIns="0" tIns="0" rIns="0" bIns="0" rtlCol="0" anchor="ctr"/>
          <a:lstStyle/>
          <a:p>
            <a:pPr algn="ctr" indent="0" marL="0">
              <a:buNone/>
            </a:pPr>
            <a:r>
              <a:rPr lang="en-US" sz="1000" dirty="0">
                <a:solidFill>
                  <a:srgbClr val="FFFFFF">
                    <a:alpha val="80000"/>
                  </a:srgbClr>
                </a:solidFill>
                <a:latin typeface="Noto Sans JP" pitchFamily="34" charset="0"/>
                <a:ea typeface="Noto Sans JP" pitchFamily="34" charset="-122"/>
                <a:cs typeface="Noto Sans JP" pitchFamily="34" charset="-120"/>
              </a:rPr>
              <a:t>スコープ定義と優先順位付け</a:t>
            </a:r>
            <a:endParaRPr lang="en-US" sz="1000" dirty="0"/>
          </a:p>
        </p:txBody>
      </p:sp>
      <p:pic>
        <p:nvPicPr>
          <p:cNvPr id="24" name="Image 5" descr="preencoded.png">    </p:cNvPr>
          <p:cNvPicPr>
            <a:picLocks noChangeAspect="1"/>
          </p:cNvPicPr>
          <p:nvPr/>
        </p:nvPicPr>
        <p:blipFill>
          <a:blip r:embed="rId6"/>
          <a:srcRect l="0" r="0" t="-80" b="-80"/>
          <a:stretch/>
        </p:blipFill>
        <p:spPr>
          <a:xfrm>
            <a:off x="3281782" y="4624121"/>
            <a:ext cx="142646" cy="228600"/>
          </a:xfrm>
          <a:prstGeom prst="rect">
            <a:avLst/>
          </a:prstGeom>
        </p:spPr>
      </p:pic>
      <p:sp>
        <p:nvSpPr>
          <p:cNvPr id="25" name="Shape 17"/>
          <p:cNvSpPr/>
          <p:nvPr/>
        </p:nvSpPr>
        <p:spPr>
          <a:xfrm>
            <a:off x="4438498" y="4162349"/>
            <a:ext cx="571500" cy="571500"/>
          </a:xfrm>
          <a:prstGeom prst="ellipse">
            <a:avLst/>
          </a:prstGeom>
          <a:solidFill>
            <a:srgbClr val="00AEFF">
              <a:alpha val="20000"/>
            </a:srgbClr>
          </a:solidFill>
          <a:ln/>
        </p:spPr>
      </p:sp>
      <p:pic>
        <p:nvPicPr>
          <p:cNvPr id="26" name="Image 6" descr="preencoded.png">    </p:cNvPr>
          <p:cNvPicPr>
            <a:picLocks noChangeAspect="1"/>
          </p:cNvPicPr>
          <p:nvPr/>
        </p:nvPicPr>
        <p:blipFill>
          <a:blip r:embed="rId7"/>
          <a:srcRect l="-989999" r="-989999" t="0" b="0"/>
          <a:stretch/>
        </p:blipFill>
        <p:spPr>
          <a:xfrm>
            <a:off x="4653382" y="4443070"/>
            <a:ext cx="142646" cy="9144"/>
          </a:xfrm>
          <a:prstGeom prst="rect">
            <a:avLst/>
          </a:prstGeom>
        </p:spPr>
      </p:pic>
      <p:sp>
        <p:nvSpPr>
          <p:cNvPr id="27" name="Shape 18"/>
          <p:cNvSpPr/>
          <p:nvPr/>
        </p:nvSpPr>
        <p:spPr>
          <a:xfrm>
            <a:off x="7181698" y="4162349"/>
            <a:ext cx="571500" cy="571500"/>
          </a:xfrm>
          <a:prstGeom prst="ellipse">
            <a:avLst/>
          </a:prstGeom>
          <a:solidFill>
            <a:srgbClr val="00AEFF">
              <a:alpha val="20000"/>
            </a:srgbClr>
          </a:solidFill>
          <a:ln/>
        </p:spPr>
      </p:sp>
      <p:sp>
        <p:nvSpPr>
          <p:cNvPr id="28" name="Shape 19"/>
          <p:cNvSpPr/>
          <p:nvPr/>
        </p:nvSpPr>
        <p:spPr>
          <a:xfrm>
            <a:off x="9924898" y="4162349"/>
            <a:ext cx="571500" cy="571500"/>
          </a:xfrm>
          <a:prstGeom prst="ellipse">
            <a:avLst/>
          </a:prstGeom>
          <a:solidFill>
            <a:srgbClr val="00AEFF">
              <a:alpha val="20000"/>
            </a:srgbClr>
          </a:solidFill>
          <a:ln/>
        </p:spPr>
      </p:sp>
      <p:sp>
        <p:nvSpPr>
          <p:cNvPr id="29" name="Text 20"/>
          <p:cNvSpPr txBox="1"/>
          <p:nvPr/>
        </p:nvSpPr>
        <p:spPr>
          <a:xfrm>
            <a:off x="4114800" y="4828946"/>
            <a:ext cx="1343254"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設計ドキュメント</a:t>
            </a:r>
            <a:endParaRPr lang="en-US" sz="1200" dirty="0"/>
          </a:p>
        </p:txBody>
      </p:sp>
      <p:sp>
        <p:nvSpPr>
          <p:cNvPr id="30" name="Text 21"/>
          <p:cNvSpPr txBox="1"/>
          <p:nvPr/>
        </p:nvSpPr>
        <p:spPr>
          <a:xfrm>
            <a:off x="9571025" y="4828946"/>
            <a:ext cx="1400861"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レビュー/デプロイ</a:t>
            </a:r>
            <a:endParaRPr lang="en-US" sz="1200" dirty="0"/>
          </a:p>
        </p:txBody>
      </p:sp>
      <p:sp>
        <p:nvSpPr>
          <p:cNvPr id="31" name="Text 22"/>
          <p:cNvSpPr txBox="1"/>
          <p:nvPr/>
        </p:nvSpPr>
        <p:spPr>
          <a:xfrm>
            <a:off x="4123944" y="5095951"/>
            <a:ext cx="1300277" cy="191110"/>
          </a:xfrm>
          <a:prstGeom prst="rect">
            <a:avLst/>
          </a:prstGeom>
          <a:noFill/>
          <a:ln/>
        </p:spPr>
        <p:txBody>
          <a:bodyPr wrap="square" lIns="0" tIns="0" rIns="0" bIns="0" rtlCol="0" anchor="ctr"/>
          <a:lstStyle/>
          <a:p>
            <a:pPr algn="ctr" indent="0" marL="0">
              <a:buNone/>
            </a:pPr>
            <a:r>
              <a:rPr lang="en-US" sz="1000" dirty="0">
                <a:solidFill>
                  <a:srgbClr val="FFFFFF">
                    <a:alpha val="80000"/>
                  </a:srgbClr>
                </a:solidFill>
                <a:latin typeface="Noto Sans JP" pitchFamily="34" charset="0"/>
                <a:ea typeface="Noto Sans JP" pitchFamily="34" charset="-122"/>
                <a:cs typeface="Noto Sans JP" pitchFamily="34" charset="-120"/>
              </a:rPr>
              <a:t>合意形成と仕様確定</a:t>
            </a:r>
            <a:endParaRPr lang="en-US" sz="1000" dirty="0"/>
          </a:p>
        </p:txBody>
      </p:sp>
      <p:pic>
        <p:nvPicPr>
          <p:cNvPr id="32" name="Image 7" descr="preencoded.png">    </p:cNvPr>
          <p:cNvPicPr>
            <a:picLocks noChangeAspect="1"/>
          </p:cNvPicPr>
          <p:nvPr/>
        </p:nvPicPr>
        <p:blipFill>
          <a:blip r:embed="rId8"/>
          <a:srcRect l="0" r="0" t="-80" b="-80"/>
          <a:stretch/>
        </p:blipFill>
        <p:spPr>
          <a:xfrm>
            <a:off x="6024982" y="4624121"/>
            <a:ext cx="142646" cy="228600"/>
          </a:xfrm>
          <a:prstGeom prst="rect">
            <a:avLst/>
          </a:prstGeom>
        </p:spPr>
      </p:pic>
      <p:pic>
        <p:nvPicPr>
          <p:cNvPr id="33" name="Image 8" descr="preencoded.png">    </p:cNvPr>
          <p:cNvPicPr>
            <a:picLocks noChangeAspect="1"/>
          </p:cNvPicPr>
          <p:nvPr/>
        </p:nvPicPr>
        <p:blipFill>
          <a:blip r:embed="rId9"/>
          <a:srcRect l="-989999" r="-989999" t="0" b="0"/>
          <a:stretch/>
        </p:blipFill>
        <p:spPr>
          <a:xfrm>
            <a:off x="7348118" y="4443070"/>
            <a:ext cx="237744" cy="9144"/>
          </a:xfrm>
          <a:prstGeom prst="rect">
            <a:avLst/>
          </a:prstGeom>
        </p:spPr>
      </p:pic>
      <p:sp>
        <p:nvSpPr>
          <p:cNvPr id="34" name="Text 23"/>
          <p:cNvSpPr txBox="1"/>
          <p:nvPr/>
        </p:nvSpPr>
        <p:spPr>
          <a:xfrm>
            <a:off x="6855257" y="4828946"/>
            <a:ext cx="1343254"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TDDでコード生成</a:t>
            </a:r>
            <a:endParaRPr lang="en-US" sz="1200" dirty="0"/>
          </a:p>
        </p:txBody>
      </p:sp>
      <p:sp>
        <p:nvSpPr>
          <p:cNvPr id="35" name="Text 24"/>
          <p:cNvSpPr txBox="1"/>
          <p:nvPr/>
        </p:nvSpPr>
        <p:spPr>
          <a:xfrm>
            <a:off x="6940296" y="5095951"/>
            <a:ext cx="1157630" cy="191110"/>
          </a:xfrm>
          <a:prstGeom prst="rect">
            <a:avLst/>
          </a:prstGeom>
          <a:noFill/>
          <a:ln/>
        </p:spPr>
        <p:txBody>
          <a:bodyPr wrap="square" lIns="0" tIns="0" rIns="0" bIns="0" rtlCol="0" anchor="ctr"/>
          <a:lstStyle/>
          <a:p>
            <a:pPr algn="ctr" indent="0" marL="0">
              <a:buNone/>
            </a:pPr>
            <a:r>
              <a:rPr lang="en-US" sz="1000" dirty="0">
                <a:solidFill>
                  <a:srgbClr val="FFFFFF">
                    <a:alpha val="80000"/>
                  </a:srgbClr>
                </a:solidFill>
                <a:latin typeface="Noto Sans JP" pitchFamily="34" charset="0"/>
                <a:ea typeface="Noto Sans JP" pitchFamily="34" charset="-122"/>
                <a:cs typeface="Noto Sans JP" pitchFamily="34" charset="-120"/>
              </a:rPr>
              <a:t>AIを活用した実装</a:t>
            </a:r>
            <a:endParaRPr lang="en-US" sz="1000" dirty="0"/>
          </a:p>
        </p:txBody>
      </p:sp>
      <p:pic>
        <p:nvPicPr>
          <p:cNvPr id="36" name="Image 9" descr="preencoded.png">    </p:cNvPr>
          <p:cNvPicPr>
            <a:picLocks noChangeAspect="1"/>
          </p:cNvPicPr>
          <p:nvPr/>
        </p:nvPicPr>
        <p:blipFill>
          <a:blip r:embed="rId10"/>
          <a:srcRect l="0" r="0" t="-80" b="-80"/>
          <a:stretch/>
        </p:blipFill>
        <p:spPr>
          <a:xfrm>
            <a:off x="8768182" y="4624121"/>
            <a:ext cx="142646" cy="228600"/>
          </a:xfrm>
          <a:prstGeom prst="rect">
            <a:avLst/>
          </a:prstGeom>
        </p:spPr>
      </p:pic>
      <p:pic>
        <p:nvPicPr>
          <p:cNvPr id="37" name="Image 10" descr="preencoded.png">    </p:cNvPr>
          <p:cNvPicPr>
            <a:picLocks noChangeAspect="1"/>
          </p:cNvPicPr>
          <p:nvPr/>
        </p:nvPicPr>
        <p:blipFill>
          <a:blip r:embed="rId11"/>
          <a:srcRect l="-989999" r="-989999" t="0" b="0"/>
          <a:stretch/>
        </p:blipFill>
        <p:spPr>
          <a:xfrm>
            <a:off x="10116007" y="4443070"/>
            <a:ext cx="190195" cy="9144"/>
          </a:xfrm>
          <a:prstGeom prst="rect">
            <a:avLst/>
          </a:prstGeom>
        </p:spPr>
      </p:pic>
      <p:sp>
        <p:nvSpPr>
          <p:cNvPr id="38" name="Text 25"/>
          <p:cNvSpPr txBox="1"/>
          <p:nvPr/>
        </p:nvSpPr>
        <p:spPr>
          <a:xfrm>
            <a:off x="9743846" y="5095951"/>
            <a:ext cx="1034186" cy="191110"/>
          </a:xfrm>
          <a:prstGeom prst="rect">
            <a:avLst/>
          </a:prstGeom>
          <a:noFill/>
          <a:ln/>
        </p:spPr>
        <p:txBody>
          <a:bodyPr wrap="square" lIns="0" tIns="0" rIns="0" bIns="0" rtlCol="0" anchor="ctr"/>
          <a:lstStyle/>
          <a:p>
            <a:pPr algn="ctr" indent="0" marL="0">
              <a:buNone/>
            </a:pPr>
            <a:r>
              <a:rPr lang="en-US" sz="1000" dirty="0">
                <a:solidFill>
                  <a:srgbClr val="FFFFFF">
                    <a:alpha val="80000"/>
                  </a:srgbClr>
                </a:solidFill>
                <a:latin typeface="Noto Sans JP" pitchFamily="34" charset="0"/>
                <a:ea typeface="Noto Sans JP" pitchFamily="34" charset="-122"/>
                <a:cs typeface="Noto Sans JP" pitchFamily="34" charset="-120"/>
              </a:rPr>
              <a:t>品質保証と展開</a:t>
            </a:r>
            <a:endParaRPr lang="en-US" sz="1000" dirty="0"/>
          </a:p>
        </p:txBody>
      </p:sp>
      <p:sp>
        <p:nvSpPr>
          <p:cNvPr id="39" name="Text 26"/>
          <p:cNvSpPr txBox="1"/>
          <p:nvPr/>
        </p:nvSpPr>
        <p:spPr>
          <a:xfrm>
            <a:off x="10109606" y="6505956"/>
            <a:ext cx="1424635" cy="191110"/>
          </a:xfrm>
          <a:prstGeom prst="rect">
            <a:avLst/>
          </a:prstGeom>
          <a:noFill/>
          <a:ln/>
        </p:spPr>
        <p:txBody>
          <a:bodyPr wrap="square" lIns="0" tIns="0" rIns="0" bIns="0" rtlCol="0" anchor="ctr"/>
          <a:lstStyle/>
          <a:p>
            <a:pPr algn="r" indent="0" marL="0">
              <a:buNone/>
            </a:pPr>
            <a:r>
              <a:rPr lang="en-US" sz="1000" dirty="0">
                <a:solidFill>
                  <a:srgbClr val="FFFFFF">
                    <a:alpha val="50000"/>
                  </a:srgbClr>
                </a:solidFill>
                <a:latin typeface="Noto Sans JP" pitchFamily="34" charset="0"/>
                <a:ea typeface="Noto Sans JP" pitchFamily="34" charset="-122"/>
                <a:cs typeface="Noto Sans JP" pitchFamily="34" charset="-120"/>
              </a:rPr>
              <a:t>AI駆動開発のその先へ</a:t>
            </a:r>
            <a:endParaRPr lang="en-US" sz="1000" dirty="0"/>
          </a:p>
        </p:txBody>
      </p:sp>
      <p:sp>
        <p:nvSpPr>
          <p:cNvPr id="40" name="Shape 27"/>
          <p:cNvSpPr/>
          <p:nvPr/>
        </p:nvSpPr>
        <p:spPr>
          <a:xfrm>
            <a:off x="9810598" y="4476902"/>
            <a:ext cx="3810305" cy="3810305"/>
          </a:xfrm>
          <a:prstGeom prst="ellipse">
            <a:avLst/>
          </a:prstGeom>
          <a:solidFill>
            <a:srgbClr val="00AEFF">
              <a:alpha val="5000"/>
            </a:srgbClr>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sp>
      <p:sp>
        <p:nvSpPr>
          <p:cNvPr id="3" name="Text 1"/>
          <p:cNvSpPr txBox="1"/>
          <p:nvPr/>
        </p:nvSpPr>
        <p:spPr>
          <a:xfrm>
            <a:off x="761695" y="485546"/>
            <a:ext cx="7872984" cy="581558"/>
          </a:xfrm>
          <a:prstGeom prst="rect">
            <a:avLst/>
          </a:prstGeom>
          <a:noFill/>
          <a:ln/>
        </p:spPr>
        <p:txBody>
          <a:bodyPr wrap="square" lIns="0" tIns="0" rIns="0" bIns="0" rtlCol="0" anchor="ctr"/>
          <a:lstStyle/>
          <a:p>
            <a:pPr algn="l" indent="0" marL="0">
              <a:buNone/>
            </a:pPr>
            <a:r>
              <a:rPr lang="en-US" sz="3100" b="1" dirty="0">
                <a:solidFill>
                  <a:srgbClr val="FFFFFF"/>
                </a:solidFill>
                <a:latin typeface="Noto Sans JP" pitchFamily="34" charset="0"/>
                <a:ea typeface="Noto Sans JP" pitchFamily="34" charset="-122"/>
                <a:cs typeface="Noto Sans JP" pitchFamily="34" charset="-120"/>
              </a:rPr>
              <a:t>スコープ見極めとコードコンテキスト駆動</a:t>
            </a:r>
            <a:endParaRPr lang="en-US" sz="3100" dirty="0"/>
          </a:p>
        </p:txBody>
      </p:sp>
      <p:sp>
        <p:nvSpPr>
          <p:cNvPr id="4" name="Shape 2"/>
          <p:cNvSpPr/>
          <p:nvPr/>
        </p:nvSpPr>
        <p:spPr>
          <a:xfrm>
            <a:off x="952805" y="1742846"/>
            <a:ext cx="381305" cy="381305"/>
          </a:xfrm>
          <a:prstGeom prst="roundRect">
            <a:avLst>
              <a:gd name="adj" fmla="val 47962"/>
            </a:avLst>
          </a:prstGeom>
          <a:solidFill>
            <a:srgbClr val="00AEFF">
              <a:alpha val="20000"/>
            </a:srgbClr>
          </a:solidFill>
          <a:ln/>
        </p:spPr>
      </p:sp>
      <p:pic>
        <p:nvPicPr>
          <p:cNvPr id="5" name="Image 0" descr="preencoded.png">    </p:cNvPr>
          <p:cNvPicPr>
            <a:picLocks noChangeAspect="1"/>
          </p:cNvPicPr>
          <p:nvPr/>
        </p:nvPicPr>
        <p:blipFill>
          <a:blip r:embed="rId1"/>
          <a:srcRect l="-989999" r="-989999" t="0" b="0"/>
          <a:stretch/>
        </p:blipFill>
        <p:spPr>
          <a:xfrm>
            <a:off x="1047902" y="1928470"/>
            <a:ext cx="190195" cy="9144"/>
          </a:xfrm>
          <a:prstGeom prst="rect">
            <a:avLst/>
          </a:prstGeom>
        </p:spPr>
      </p:pic>
      <p:sp>
        <p:nvSpPr>
          <p:cNvPr id="6" name="Shape 3"/>
          <p:cNvSpPr/>
          <p:nvPr/>
        </p:nvSpPr>
        <p:spPr>
          <a:xfrm>
            <a:off x="6238951" y="1742846"/>
            <a:ext cx="381305" cy="381305"/>
          </a:xfrm>
          <a:prstGeom prst="roundRect">
            <a:avLst>
              <a:gd name="adj" fmla="val 47962"/>
            </a:avLst>
          </a:prstGeom>
          <a:solidFill>
            <a:srgbClr val="00AEFF">
              <a:alpha val="20000"/>
            </a:srgbClr>
          </a:solidFill>
          <a:ln/>
        </p:spPr>
      </p:sp>
      <p:sp>
        <p:nvSpPr>
          <p:cNvPr id="7" name="Shape 4"/>
          <p:cNvSpPr/>
          <p:nvPr/>
        </p:nvSpPr>
        <p:spPr>
          <a:xfrm>
            <a:off x="952805" y="2905049"/>
            <a:ext cx="381305" cy="381305"/>
          </a:xfrm>
          <a:prstGeom prst="roundRect">
            <a:avLst>
              <a:gd name="adj" fmla="val 47962"/>
            </a:avLst>
          </a:prstGeom>
          <a:solidFill>
            <a:srgbClr val="00AEFF">
              <a:alpha val="20000"/>
            </a:srgbClr>
          </a:solidFill>
          <a:ln/>
        </p:spPr>
      </p:sp>
      <p:sp>
        <p:nvSpPr>
          <p:cNvPr id="8" name="Shape 5"/>
          <p:cNvSpPr/>
          <p:nvPr/>
        </p:nvSpPr>
        <p:spPr>
          <a:xfrm>
            <a:off x="6238951" y="2905049"/>
            <a:ext cx="381305" cy="381305"/>
          </a:xfrm>
          <a:prstGeom prst="roundRect">
            <a:avLst>
              <a:gd name="adj" fmla="val 47962"/>
            </a:avLst>
          </a:prstGeom>
          <a:solidFill>
            <a:srgbClr val="00AEFF">
              <a:alpha val="20000"/>
            </a:srgbClr>
          </a:solidFill>
          <a:ln/>
        </p:spPr>
      </p:sp>
      <p:sp>
        <p:nvSpPr>
          <p:cNvPr id="9" name="Text 6"/>
          <p:cNvSpPr txBox="1"/>
          <p:nvPr/>
        </p:nvSpPr>
        <p:spPr>
          <a:xfrm>
            <a:off x="1485900" y="1742846"/>
            <a:ext cx="1276502"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スコープ定義</a:t>
            </a:r>
            <a:endParaRPr lang="en-US" sz="1500" dirty="0"/>
          </a:p>
        </p:txBody>
      </p:sp>
      <p:sp>
        <p:nvSpPr>
          <p:cNvPr id="10" name="Text 7"/>
          <p:cNvSpPr txBox="1"/>
          <p:nvPr/>
        </p:nvSpPr>
        <p:spPr>
          <a:xfrm>
            <a:off x="1485900" y="2905049"/>
            <a:ext cx="1095451"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コード生成</a:t>
            </a:r>
            <a:endParaRPr lang="en-US" sz="1500" dirty="0"/>
          </a:p>
        </p:txBody>
      </p:sp>
      <p:sp>
        <p:nvSpPr>
          <p:cNvPr id="11" name="Text 8"/>
          <p:cNvSpPr txBox="1"/>
          <p:nvPr/>
        </p:nvSpPr>
        <p:spPr>
          <a:xfrm>
            <a:off x="6772046" y="2905049"/>
            <a:ext cx="1858061"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テスト・リファクタ</a:t>
            </a:r>
            <a:endParaRPr lang="en-US" sz="1500" dirty="0"/>
          </a:p>
        </p:txBody>
      </p:sp>
      <p:sp>
        <p:nvSpPr>
          <p:cNvPr id="12" name="Text 9"/>
          <p:cNvSpPr txBox="1"/>
          <p:nvPr/>
        </p:nvSpPr>
        <p:spPr>
          <a:xfrm>
            <a:off x="1485900" y="2066544"/>
            <a:ext cx="4448556"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開発者が1時間程度で完了できる粒度に分解することでAI生成の精度を高める</a:t>
            </a:r>
            <a:endParaRPr lang="en-US" sz="1200" dirty="0"/>
          </a:p>
        </p:txBody>
      </p:sp>
      <p:pic>
        <p:nvPicPr>
          <p:cNvPr id="13" name="Image 1" descr="preencoded.png">    </p:cNvPr>
          <p:cNvPicPr>
            <a:picLocks noChangeAspect="1"/>
          </p:cNvPicPr>
          <p:nvPr/>
        </p:nvPicPr>
        <p:blipFill>
          <a:blip r:embed="rId2"/>
          <a:srcRect l="-989999" r="-989999" t="0" b="0"/>
          <a:stretch/>
        </p:blipFill>
        <p:spPr>
          <a:xfrm>
            <a:off x="6310274" y="1928470"/>
            <a:ext cx="237744" cy="9144"/>
          </a:xfrm>
          <a:prstGeom prst="rect">
            <a:avLst/>
          </a:prstGeom>
        </p:spPr>
      </p:pic>
      <p:sp>
        <p:nvSpPr>
          <p:cNvPr id="14" name="Text 10"/>
          <p:cNvSpPr txBox="1"/>
          <p:nvPr/>
        </p:nvSpPr>
        <p:spPr>
          <a:xfrm>
            <a:off x="6772046" y="1742846"/>
            <a:ext cx="1286561"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設計プロセス</a:t>
            </a:r>
            <a:endParaRPr lang="en-US" sz="1500" dirty="0"/>
          </a:p>
        </p:txBody>
      </p:sp>
      <p:sp>
        <p:nvSpPr>
          <p:cNvPr id="15" name="Text 11"/>
          <p:cNvSpPr txBox="1"/>
          <p:nvPr/>
        </p:nvSpPr>
        <p:spPr>
          <a:xfrm>
            <a:off x="6772046" y="2066544"/>
            <a:ext cx="4448556"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最低2名で議論して合意形成を行い、AI生成前の共通認識を徹底する</a:t>
            </a:r>
            <a:endParaRPr lang="en-US" sz="1200" dirty="0"/>
          </a:p>
        </p:txBody>
      </p:sp>
      <p:pic>
        <p:nvPicPr>
          <p:cNvPr id="16" name="Image 2" descr="preencoded.png">    </p:cNvPr>
          <p:cNvPicPr>
            <a:picLocks noChangeAspect="1"/>
          </p:cNvPicPr>
          <p:nvPr/>
        </p:nvPicPr>
        <p:blipFill>
          <a:blip r:embed="rId3"/>
          <a:srcRect l="-989999" r="-989999" t="0" b="0"/>
          <a:stretch/>
        </p:blipFill>
        <p:spPr>
          <a:xfrm>
            <a:off x="1024128" y="3090672"/>
            <a:ext cx="237744" cy="9144"/>
          </a:xfrm>
          <a:prstGeom prst="rect">
            <a:avLst/>
          </a:prstGeom>
        </p:spPr>
      </p:pic>
      <p:sp>
        <p:nvSpPr>
          <p:cNvPr id="17" name="Text 12"/>
          <p:cNvSpPr txBox="1"/>
          <p:nvPr/>
        </p:nvSpPr>
        <p:spPr>
          <a:xfrm>
            <a:off x="1485900" y="3228746"/>
            <a:ext cx="4467758"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生成指示は1名が行い、テスト駆動開発（TDD）で進めることで品質を担保</a:t>
            </a:r>
            <a:endParaRPr lang="en-US" sz="1200" dirty="0"/>
          </a:p>
        </p:txBody>
      </p:sp>
      <p:pic>
        <p:nvPicPr>
          <p:cNvPr id="18" name="Image 3" descr="preencoded.png">    </p:cNvPr>
          <p:cNvPicPr>
            <a:picLocks noChangeAspect="1"/>
          </p:cNvPicPr>
          <p:nvPr/>
        </p:nvPicPr>
        <p:blipFill>
          <a:blip r:embed="rId4"/>
          <a:srcRect l="-989999" r="-989999" t="0" b="0"/>
          <a:stretch/>
        </p:blipFill>
        <p:spPr>
          <a:xfrm>
            <a:off x="6334049" y="3090672"/>
            <a:ext cx="190195" cy="9144"/>
          </a:xfrm>
          <a:prstGeom prst="rect">
            <a:avLst/>
          </a:prstGeom>
        </p:spPr>
      </p:pic>
      <p:sp>
        <p:nvSpPr>
          <p:cNvPr id="19" name="Text 13"/>
          <p:cNvSpPr txBox="1"/>
          <p:nvPr/>
        </p:nvSpPr>
        <p:spPr>
          <a:xfrm>
            <a:off x="6772046" y="3228746"/>
            <a:ext cx="4515307"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テストは通るまで反復し、リファクタリングはチーム全員＋AIで実施</a:t>
            </a:r>
            <a:endParaRPr lang="en-US" sz="1200" dirty="0"/>
          </a:p>
        </p:txBody>
      </p:sp>
      <p:sp>
        <p:nvSpPr>
          <p:cNvPr id="20" name="Shape 14"/>
          <p:cNvSpPr/>
          <p:nvPr/>
        </p:nvSpPr>
        <p:spPr>
          <a:xfrm>
            <a:off x="952805" y="4067251"/>
            <a:ext cx="10287000" cy="1171346"/>
          </a:xfrm>
          <a:prstGeom prst="roundRect">
            <a:avLst>
              <a:gd name="adj" fmla="val 6347"/>
            </a:avLst>
          </a:prstGeom>
          <a:solidFill>
            <a:srgbClr val="00AEFF">
              <a:alpha val="10000"/>
            </a:srgbClr>
          </a:solidFill>
          <a:ln/>
        </p:spPr>
      </p:sp>
      <p:sp>
        <p:nvSpPr>
          <p:cNvPr id="21" name="Shape 15"/>
          <p:cNvSpPr/>
          <p:nvPr/>
        </p:nvSpPr>
        <p:spPr>
          <a:xfrm>
            <a:off x="952805" y="4067251"/>
            <a:ext cx="38405" cy="1171346"/>
          </a:xfrm>
          <a:prstGeom prst="rect">
            <a:avLst/>
          </a:prstGeom>
          <a:solidFill>
            <a:srgbClr val="00AEFF"/>
          </a:solidFill>
          <a:ln/>
        </p:spPr>
      </p:sp>
      <p:pic>
        <p:nvPicPr>
          <p:cNvPr id="22" name="Image 4" descr="preencoded.png">    </p:cNvPr>
          <p:cNvPicPr>
            <a:picLocks noChangeAspect="1"/>
          </p:cNvPicPr>
          <p:nvPr/>
        </p:nvPicPr>
        <p:blipFill>
          <a:blip r:embed="rId5"/>
          <a:srcRect l="-1105556" r="-1105556" t="0" b="0"/>
          <a:stretch/>
        </p:blipFill>
        <p:spPr>
          <a:xfrm>
            <a:off x="1181405" y="4381805"/>
            <a:ext cx="237744" cy="9144"/>
          </a:xfrm>
          <a:prstGeom prst="rect">
            <a:avLst/>
          </a:prstGeom>
        </p:spPr>
      </p:pic>
      <p:sp>
        <p:nvSpPr>
          <p:cNvPr id="23" name="Text 16"/>
          <p:cNvSpPr txBox="1"/>
          <p:nvPr/>
        </p:nvSpPr>
        <p:spPr>
          <a:xfrm>
            <a:off x="1419149" y="4257446"/>
            <a:ext cx="2186330" cy="247802"/>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実コードサンプルの重要性</a:t>
            </a:r>
            <a:endParaRPr lang="en-US" sz="1300" dirty="0"/>
          </a:p>
        </p:txBody>
      </p:sp>
      <p:sp>
        <p:nvSpPr>
          <p:cNvPr id="24" name="Text 17"/>
          <p:cNvSpPr txBox="1"/>
          <p:nvPr/>
        </p:nvSpPr>
        <p:spPr>
          <a:xfrm>
            <a:off x="1181405" y="4591202"/>
            <a:ext cx="9982505" cy="4572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モジュールサンプルには実コードを配置することで品質を維持。人間も実コードをもとに理解を進めるのと同様に、AIも実際のコードコンテキストから適切な生成を行う。これにより人間とAI両方の理解が同期され、品質の一貫性が確保される。</a:t>
            </a:r>
            <a:endParaRPr lang="en-US" sz="1200" dirty="0"/>
          </a:p>
        </p:txBody>
      </p:sp>
      <p:sp>
        <p:nvSpPr>
          <p:cNvPr id="25" name="Text 18"/>
          <p:cNvSpPr txBox="1"/>
          <p:nvPr/>
        </p:nvSpPr>
        <p:spPr>
          <a:xfrm>
            <a:off x="10109606" y="6505956"/>
            <a:ext cx="1424635" cy="191110"/>
          </a:xfrm>
          <a:prstGeom prst="rect">
            <a:avLst/>
          </a:prstGeom>
          <a:noFill/>
          <a:ln/>
        </p:spPr>
        <p:txBody>
          <a:bodyPr wrap="square" lIns="0" tIns="0" rIns="0" bIns="0" rtlCol="0" anchor="ctr"/>
          <a:lstStyle/>
          <a:p>
            <a:pPr algn="r" indent="0" marL="0">
              <a:buNone/>
            </a:pPr>
            <a:r>
              <a:rPr lang="en-US" sz="1000" dirty="0">
                <a:solidFill>
                  <a:srgbClr val="FFFFFF">
                    <a:alpha val="50000"/>
                  </a:srgbClr>
                </a:solidFill>
                <a:latin typeface="Noto Sans JP" pitchFamily="34" charset="0"/>
                <a:ea typeface="Noto Sans JP" pitchFamily="34" charset="-122"/>
                <a:cs typeface="Noto Sans JP" pitchFamily="34" charset="-120"/>
              </a:rPr>
              <a:t>AI駆動開発のその先へ</a:t>
            </a:r>
            <a:endParaRPr lang="en-US" sz="1000" dirty="0"/>
          </a:p>
        </p:txBody>
      </p:sp>
      <p:sp>
        <p:nvSpPr>
          <p:cNvPr id="26" name="Shape 19"/>
          <p:cNvSpPr/>
          <p:nvPr/>
        </p:nvSpPr>
        <p:spPr>
          <a:xfrm>
            <a:off x="9810598" y="4476902"/>
            <a:ext cx="3810305" cy="3810305"/>
          </a:xfrm>
          <a:prstGeom prst="ellipse">
            <a:avLst/>
          </a:prstGeom>
          <a:solidFill>
            <a:srgbClr val="00AEFF">
              <a:alpha val="5000"/>
            </a:srgbClr>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915607"/>
          </a:xfrm>
          <a:prstGeom prst="rect">
            <a:avLst/>
          </a:prstGeom>
          <a:solidFill>
            <a:srgbClr val="0A1930"/>
          </a:solidFill>
          <a:ln/>
        </p:spPr>
      </p:sp>
      <p:sp>
        <p:nvSpPr>
          <p:cNvPr id="3" name="Text 1"/>
          <p:cNvSpPr txBox="1"/>
          <p:nvPr/>
        </p:nvSpPr>
        <p:spPr>
          <a:xfrm>
            <a:off x="761695" y="485546"/>
            <a:ext cx="7510882" cy="581558"/>
          </a:xfrm>
          <a:prstGeom prst="rect">
            <a:avLst/>
          </a:prstGeom>
          <a:noFill/>
          <a:ln/>
        </p:spPr>
        <p:txBody>
          <a:bodyPr wrap="square" lIns="0" tIns="0" rIns="0" bIns="0" rtlCol="0" anchor="ctr"/>
          <a:lstStyle/>
          <a:p>
            <a:pPr algn="l" indent="0" marL="0">
              <a:buNone/>
            </a:pPr>
            <a:r>
              <a:rPr lang="en-US" sz="3100" b="1" dirty="0">
                <a:solidFill>
                  <a:srgbClr val="FFFFFF"/>
                </a:solidFill>
                <a:latin typeface="Noto Sans JP" pitchFamily="34" charset="0"/>
                <a:ea typeface="Noto Sans JP" pitchFamily="34" charset="-122"/>
                <a:cs typeface="Noto Sans JP" pitchFamily="34" charset="-120"/>
              </a:rPr>
              <a:t>開発フロー詳細（再現可能なプロセス）</a:t>
            </a:r>
            <a:endParaRPr lang="en-US" sz="3100" dirty="0"/>
          </a:p>
        </p:txBody>
      </p:sp>
      <p:sp>
        <p:nvSpPr>
          <p:cNvPr id="4" name="Text 2"/>
          <p:cNvSpPr txBox="1"/>
          <p:nvPr/>
        </p:nvSpPr>
        <p:spPr>
          <a:xfrm>
            <a:off x="761695" y="1362456"/>
            <a:ext cx="5658307" cy="277063"/>
          </a:xfrm>
          <a:prstGeom prst="rect">
            <a:avLst/>
          </a:prstGeom>
          <a:noFill/>
          <a:ln/>
        </p:spPr>
        <p:txBody>
          <a:bodyPr wrap="square" lIns="0" tIns="0" rIns="0" bIns="0" rtlCol="0" anchor="ctr"/>
          <a:lstStyle/>
          <a:p>
            <a:pPr algn="l" indent="0" marL="0">
              <a:buNone/>
            </a:pPr>
            <a:r>
              <a:rPr lang="en-US" sz="1500" dirty="0">
                <a:solidFill>
                  <a:srgbClr val="FFFFFF">
                    <a:alpha val="90000"/>
                  </a:srgbClr>
                </a:solidFill>
                <a:latin typeface="Noto Sans JP" pitchFamily="34" charset="0"/>
                <a:ea typeface="Noto Sans JP" pitchFamily="34" charset="-122"/>
                <a:cs typeface="Noto Sans JP" pitchFamily="34" charset="-120"/>
              </a:rPr>
              <a:t>反復可能かつ効率的なAI駆動開発の標準化されたプロセスフロー</a:t>
            </a:r>
            <a:endParaRPr lang="en-US" sz="1500" dirty="0"/>
          </a:p>
        </p:txBody>
      </p:sp>
      <p:sp>
        <p:nvSpPr>
          <p:cNvPr id="5" name="Text 3"/>
          <p:cNvSpPr txBox="1"/>
          <p:nvPr/>
        </p:nvSpPr>
        <p:spPr>
          <a:xfrm>
            <a:off x="3888029" y="3933749"/>
            <a:ext cx="4534510" cy="228600"/>
          </a:xfrm>
          <a:prstGeom prst="rect">
            <a:avLst/>
          </a:prstGeom>
          <a:noFill/>
          <a:ln/>
        </p:spPr>
        <p:txBody>
          <a:bodyPr wrap="square" lIns="0" tIns="0" rIns="0" bIns="0" rtlCol="0" anchor="ctr"/>
          <a:lstStyle/>
          <a:p>
            <a:pPr algn="ctr" indent="0" marL="0">
              <a:buNone/>
            </a:pPr>
            <a:r>
              <a:rPr lang="en-US" sz="1200" dirty="0">
                <a:solidFill>
                  <a:srgbClr val="FFFFFF">
                    <a:alpha val="90000"/>
                  </a:srgbClr>
                </a:solidFill>
                <a:latin typeface="Noto Sans JP" pitchFamily="34" charset="0"/>
                <a:ea typeface="Noto Sans JP" pitchFamily="34" charset="-122"/>
                <a:cs typeface="Noto Sans JP" pitchFamily="34" charset="-120"/>
              </a:rPr>
              <a:t>各ステップは明確に定義され、手順と成果物が標準化されている</a:t>
            </a:r>
            <a:endParaRPr lang="en-US" sz="1200" dirty="0"/>
          </a:p>
        </p:txBody>
      </p:sp>
      <p:sp>
        <p:nvSpPr>
          <p:cNvPr id="6" name="Shape 4"/>
          <p:cNvSpPr/>
          <p:nvPr/>
        </p:nvSpPr>
        <p:spPr>
          <a:xfrm>
            <a:off x="761695" y="5372100"/>
            <a:ext cx="4762195" cy="875995"/>
          </a:xfrm>
          <a:prstGeom prst="roundRect">
            <a:avLst>
              <a:gd name="adj" fmla="val 6808"/>
            </a:avLst>
          </a:prstGeom>
          <a:solidFill>
            <a:srgbClr val="00AEFF">
              <a:alpha val="10000"/>
            </a:srgbClr>
          </a:solidFill>
          <a:ln/>
        </p:spPr>
      </p:sp>
      <p:pic>
        <p:nvPicPr>
          <p:cNvPr id="7" name="Image 0" descr="preencoded.png">    </p:cNvPr>
          <p:cNvPicPr>
            <a:picLocks noChangeAspect="1"/>
          </p:cNvPicPr>
          <p:nvPr/>
        </p:nvPicPr>
        <p:blipFill>
          <a:blip r:embed="rId1"/>
          <a:srcRect l="-1507" r="-1507" t="0" b="0"/>
          <a:stretch/>
        </p:blipFill>
        <p:spPr>
          <a:xfrm>
            <a:off x="933602" y="5519318"/>
            <a:ext cx="171907" cy="133502"/>
          </a:xfrm>
          <a:prstGeom prst="rect">
            <a:avLst/>
          </a:prstGeom>
        </p:spPr>
      </p:pic>
      <p:sp>
        <p:nvSpPr>
          <p:cNvPr id="8" name="Shape 5"/>
          <p:cNvSpPr/>
          <p:nvPr/>
        </p:nvSpPr>
        <p:spPr>
          <a:xfrm>
            <a:off x="6667805" y="5372100"/>
            <a:ext cx="4762195" cy="875995"/>
          </a:xfrm>
          <a:prstGeom prst="roundRect">
            <a:avLst>
              <a:gd name="adj" fmla="val 6808"/>
            </a:avLst>
          </a:prstGeom>
          <a:solidFill>
            <a:srgbClr val="00AEFF">
              <a:alpha val="10000"/>
            </a:srgbClr>
          </a:solidFill>
          <a:ln/>
        </p:spPr>
      </p:sp>
      <p:sp>
        <p:nvSpPr>
          <p:cNvPr id="9" name="Text 6"/>
          <p:cNvSpPr txBox="1"/>
          <p:nvPr/>
        </p:nvSpPr>
        <p:spPr>
          <a:xfrm>
            <a:off x="1104595" y="5486400"/>
            <a:ext cx="1567282" cy="200254"/>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コードコンテキスト駆動</a:t>
            </a:r>
            <a:endParaRPr lang="en-US" sz="1000" dirty="0"/>
          </a:p>
        </p:txBody>
      </p:sp>
      <p:sp>
        <p:nvSpPr>
          <p:cNvPr id="10" name="Text 7"/>
          <p:cNvSpPr txBox="1"/>
          <p:nvPr/>
        </p:nvSpPr>
        <p:spPr>
          <a:xfrm>
            <a:off x="933602" y="5734202"/>
            <a:ext cx="4482389" cy="391363"/>
          </a:xfrm>
          <a:prstGeom prst="rect">
            <a:avLst/>
          </a:prstGeom>
          <a:noFill/>
          <a:ln/>
        </p:spPr>
        <p:txBody>
          <a:bodyPr wrap="square" lIns="0" tIns="0" rIns="0" bIns="0" rtlCol="0" anchor="ctr"/>
          <a:lstStyle/>
          <a:p>
            <a:pPr algn="l" indent="0" marL="0">
              <a:buNone/>
            </a:pPr>
            <a:r>
              <a:rPr lang="en-US" sz="1000" dirty="0">
                <a:solidFill>
                  <a:srgbClr val="FFFFFF"/>
                </a:solidFill>
                <a:latin typeface="Noto Sans JP" pitchFamily="34" charset="0"/>
                <a:ea typeface="Noto Sans JP" pitchFamily="34" charset="-122"/>
                <a:cs typeface="Noto Sans JP" pitchFamily="34" charset="-120"/>
              </a:rPr>
              <a:t>実コードやモジュールサンプルを常に参照しながら開発を進め、AIと人間の双方が同じ基盤で理解を深める</a:t>
            </a:r>
            <a:endParaRPr lang="en-US" sz="1000" dirty="0"/>
          </a:p>
        </p:txBody>
      </p:sp>
      <p:pic>
        <p:nvPicPr>
          <p:cNvPr id="11" name="Image 1" descr="preencoded.png">    </p:cNvPr>
          <p:cNvPicPr>
            <a:picLocks noChangeAspect="1"/>
          </p:cNvPicPr>
          <p:nvPr/>
        </p:nvPicPr>
        <p:blipFill>
          <a:blip r:embed="rId2"/>
          <a:srcRect l="0" r="0" t="0" b="0"/>
          <a:stretch/>
        </p:blipFill>
        <p:spPr>
          <a:xfrm>
            <a:off x="6838798" y="5519318"/>
            <a:ext cx="133502" cy="133502"/>
          </a:xfrm>
          <a:prstGeom prst="rect">
            <a:avLst/>
          </a:prstGeom>
        </p:spPr>
      </p:pic>
      <p:sp>
        <p:nvSpPr>
          <p:cNvPr id="12" name="Text 8"/>
          <p:cNvSpPr txBox="1"/>
          <p:nvPr/>
        </p:nvSpPr>
        <p:spPr>
          <a:xfrm>
            <a:off x="6972300" y="5486400"/>
            <a:ext cx="767182" cy="200254"/>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反復と改善</a:t>
            </a:r>
            <a:endParaRPr lang="en-US" sz="1000" dirty="0"/>
          </a:p>
        </p:txBody>
      </p:sp>
      <p:sp>
        <p:nvSpPr>
          <p:cNvPr id="13" name="Text 9"/>
          <p:cNvSpPr txBox="1"/>
          <p:nvPr/>
        </p:nvSpPr>
        <p:spPr>
          <a:xfrm>
            <a:off x="6838798" y="5734202"/>
            <a:ext cx="4500677" cy="391363"/>
          </a:xfrm>
          <a:prstGeom prst="rect">
            <a:avLst/>
          </a:prstGeom>
          <a:noFill/>
          <a:ln/>
        </p:spPr>
        <p:txBody>
          <a:bodyPr wrap="square" lIns="0" tIns="0" rIns="0" bIns="0" rtlCol="0" anchor="ctr"/>
          <a:lstStyle/>
          <a:p>
            <a:pPr algn="l" indent="0" marL="0">
              <a:buNone/>
            </a:pPr>
            <a:r>
              <a:rPr lang="en-US" sz="1000" dirty="0">
                <a:solidFill>
                  <a:srgbClr val="FFFFFF"/>
                </a:solidFill>
                <a:latin typeface="Noto Sans JP" pitchFamily="34" charset="0"/>
                <a:ea typeface="Noto Sans JP" pitchFamily="34" charset="-122"/>
                <a:cs typeface="Noto Sans JP" pitchFamily="34" charset="-120"/>
              </a:rPr>
              <a:t>各ステップで課題が見つかれば前段階に戻り、小さく速い反復で品質を高める</a:t>
            </a:r>
            <a:endParaRPr lang="en-US" sz="1000" dirty="0"/>
          </a:p>
        </p:txBody>
      </p:sp>
      <p:sp>
        <p:nvSpPr>
          <p:cNvPr id="14" name="Text 10"/>
          <p:cNvSpPr txBox="1"/>
          <p:nvPr/>
        </p:nvSpPr>
        <p:spPr>
          <a:xfrm>
            <a:off x="10109606" y="6562649"/>
            <a:ext cx="1424635" cy="191110"/>
          </a:xfrm>
          <a:prstGeom prst="rect">
            <a:avLst/>
          </a:prstGeom>
          <a:noFill/>
          <a:ln/>
        </p:spPr>
        <p:txBody>
          <a:bodyPr wrap="square" lIns="0" tIns="0" rIns="0" bIns="0" rtlCol="0" anchor="ctr"/>
          <a:lstStyle/>
          <a:p>
            <a:pPr algn="r" indent="0" marL="0">
              <a:buNone/>
            </a:pPr>
            <a:r>
              <a:rPr lang="en-US" sz="1000" dirty="0">
                <a:solidFill>
                  <a:srgbClr val="FFFFFF">
                    <a:alpha val="50000"/>
                  </a:srgbClr>
                </a:solidFill>
                <a:latin typeface="Noto Sans JP" pitchFamily="34" charset="0"/>
                <a:ea typeface="Noto Sans JP" pitchFamily="34" charset="-122"/>
                <a:cs typeface="Noto Sans JP" pitchFamily="34" charset="-120"/>
              </a:rPr>
              <a:t>AI駆動開発のその先へ</a:t>
            </a:r>
            <a:endParaRPr lang="en-US" sz="1000" dirty="0"/>
          </a:p>
        </p:txBody>
      </p:sp>
      <p:sp>
        <p:nvSpPr>
          <p:cNvPr id="15" name="Shape 11"/>
          <p:cNvSpPr/>
          <p:nvPr/>
        </p:nvSpPr>
        <p:spPr>
          <a:xfrm>
            <a:off x="9810598" y="-1429207"/>
            <a:ext cx="3810305" cy="3810305"/>
          </a:xfrm>
          <a:prstGeom prst="ellipse">
            <a:avLst/>
          </a:prstGeom>
          <a:solidFill>
            <a:srgbClr val="00AEFF">
              <a:alpha val="5000"/>
            </a:srgbClr>
          </a:solidFill>
          <a:ln/>
        </p:spPr>
      </p:sp>
      <p:sp>
        <p:nvSpPr>
          <p:cNvPr id="16" name="Shape 12"/>
          <p:cNvSpPr/>
          <p:nvPr/>
        </p:nvSpPr>
        <p:spPr>
          <a:xfrm>
            <a:off x="761695" y="2600554"/>
            <a:ext cx="1304849" cy="952805"/>
          </a:xfrm>
          <a:prstGeom prst="roundRect">
            <a:avLst>
              <a:gd name="adj" fmla="val 7678"/>
            </a:avLst>
          </a:prstGeom>
          <a:solidFill>
            <a:srgbClr val="00AEFF">
              <a:alpha val="20000"/>
            </a:srgbClr>
          </a:solidFill>
          <a:ln w="25400">
            <a:solidFill>
              <a:srgbClr val="00AEFF"/>
            </a:solidFill>
            <a:prstDash val="solid"/>
          </a:ln>
        </p:spPr>
      </p:sp>
      <p:sp>
        <p:nvSpPr>
          <p:cNvPr id="17" name="Shape 13"/>
          <p:cNvSpPr/>
          <p:nvPr/>
        </p:nvSpPr>
        <p:spPr>
          <a:xfrm>
            <a:off x="2638044" y="2600554"/>
            <a:ext cx="1304849" cy="952805"/>
          </a:xfrm>
          <a:prstGeom prst="roundRect">
            <a:avLst>
              <a:gd name="adj" fmla="val 7678"/>
            </a:avLst>
          </a:prstGeom>
          <a:solidFill>
            <a:srgbClr val="FFFFFF">
              <a:alpha val="10000"/>
            </a:srgbClr>
          </a:solidFill>
          <a:ln w="12700">
            <a:solidFill>
              <a:srgbClr val="FFFFFF">
                <a:alpha val="30000"/>
              </a:srgbClr>
            </a:solidFill>
            <a:prstDash val="solid"/>
          </a:ln>
        </p:spPr>
      </p:sp>
      <p:sp>
        <p:nvSpPr>
          <p:cNvPr id="18" name="Shape 14"/>
          <p:cNvSpPr/>
          <p:nvPr/>
        </p:nvSpPr>
        <p:spPr>
          <a:xfrm>
            <a:off x="4510735" y="2600554"/>
            <a:ext cx="1304849" cy="952805"/>
          </a:xfrm>
          <a:prstGeom prst="roundRect">
            <a:avLst>
              <a:gd name="adj" fmla="val 7678"/>
            </a:avLst>
          </a:prstGeom>
          <a:solidFill>
            <a:srgbClr val="FFFFFF">
              <a:alpha val="10000"/>
            </a:srgbClr>
          </a:solidFill>
          <a:ln w="12700">
            <a:solidFill>
              <a:srgbClr val="FFFFFF">
                <a:alpha val="30000"/>
              </a:srgbClr>
            </a:solidFill>
            <a:prstDash val="solid"/>
          </a:ln>
        </p:spPr>
      </p:sp>
      <p:sp>
        <p:nvSpPr>
          <p:cNvPr id="19" name="Shape 15"/>
          <p:cNvSpPr/>
          <p:nvPr/>
        </p:nvSpPr>
        <p:spPr>
          <a:xfrm>
            <a:off x="6383426" y="2600554"/>
            <a:ext cx="1304849" cy="952805"/>
          </a:xfrm>
          <a:prstGeom prst="roundRect">
            <a:avLst>
              <a:gd name="adj" fmla="val 7678"/>
            </a:avLst>
          </a:prstGeom>
          <a:solidFill>
            <a:srgbClr val="FFFFFF">
              <a:alpha val="10000"/>
            </a:srgbClr>
          </a:solidFill>
          <a:ln w="12700">
            <a:solidFill>
              <a:srgbClr val="FFFFFF">
                <a:alpha val="30000"/>
              </a:srgbClr>
            </a:solidFill>
            <a:prstDash val="solid"/>
          </a:ln>
        </p:spPr>
      </p:sp>
      <p:sp>
        <p:nvSpPr>
          <p:cNvPr id="20" name="Shape 16"/>
          <p:cNvSpPr/>
          <p:nvPr/>
        </p:nvSpPr>
        <p:spPr>
          <a:xfrm>
            <a:off x="8256118" y="2600554"/>
            <a:ext cx="1304849" cy="952805"/>
          </a:xfrm>
          <a:prstGeom prst="roundRect">
            <a:avLst>
              <a:gd name="adj" fmla="val 7678"/>
            </a:avLst>
          </a:prstGeom>
          <a:solidFill>
            <a:srgbClr val="FFFFFF">
              <a:alpha val="10000"/>
            </a:srgbClr>
          </a:solidFill>
          <a:ln w="12700">
            <a:solidFill>
              <a:srgbClr val="FFFFFF">
                <a:alpha val="30000"/>
              </a:srgbClr>
            </a:solidFill>
            <a:prstDash val="solid"/>
          </a:ln>
        </p:spPr>
      </p:sp>
      <p:sp>
        <p:nvSpPr>
          <p:cNvPr id="21" name="Shape 17"/>
          <p:cNvSpPr/>
          <p:nvPr/>
        </p:nvSpPr>
        <p:spPr>
          <a:xfrm>
            <a:off x="10128809" y="2600554"/>
            <a:ext cx="1304849" cy="952805"/>
          </a:xfrm>
          <a:prstGeom prst="roundRect">
            <a:avLst>
              <a:gd name="adj" fmla="val 7678"/>
            </a:avLst>
          </a:prstGeom>
          <a:solidFill>
            <a:srgbClr val="FFFFFF">
              <a:alpha val="10000"/>
            </a:srgbClr>
          </a:solidFill>
          <a:ln w="12700">
            <a:solidFill>
              <a:srgbClr val="FFFFFF">
                <a:alpha val="30000"/>
              </a:srgbClr>
            </a:solidFill>
            <a:prstDash val="solid"/>
          </a:ln>
        </p:spPr>
      </p:sp>
      <p:sp>
        <p:nvSpPr>
          <p:cNvPr id="22" name="Text 18"/>
          <p:cNvSpPr txBox="1"/>
          <p:nvPr/>
        </p:nvSpPr>
        <p:spPr>
          <a:xfrm>
            <a:off x="961949" y="2766974"/>
            <a:ext cx="1028700"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スコープ定義</a:t>
            </a:r>
            <a:endParaRPr lang="en-US" sz="1200" dirty="0"/>
          </a:p>
        </p:txBody>
      </p:sp>
      <p:sp>
        <p:nvSpPr>
          <p:cNvPr id="23" name="Text 19"/>
          <p:cNvSpPr txBox="1"/>
          <p:nvPr/>
        </p:nvSpPr>
        <p:spPr>
          <a:xfrm>
            <a:off x="3136392" y="2766974"/>
            <a:ext cx="428854"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設計</a:t>
            </a:r>
            <a:endParaRPr lang="en-US" sz="1200" dirty="0"/>
          </a:p>
        </p:txBody>
      </p:sp>
      <p:sp>
        <p:nvSpPr>
          <p:cNvPr id="24" name="Text 20"/>
          <p:cNvSpPr txBox="1"/>
          <p:nvPr/>
        </p:nvSpPr>
        <p:spPr>
          <a:xfrm>
            <a:off x="4780483" y="2852928"/>
            <a:ext cx="886054"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コード生成</a:t>
            </a:r>
            <a:endParaRPr lang="en-US" sz="1200" dirty="0"/>
          </a:p>
        </p:txBody>
      </p:sp>
      <p:sp>
        <p:nvSpPr>
          <p:cNvPr id="25" name="Text 21"/>
          <p:cNvSpPr txBox="1"/>
          <p:nvPr/>
        </p:nvSpPr>
        <p:spPr>
          <a:xfrm>
            <a:off x="6804965" y="2766974"/>
            <a:ext cx="581558"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テスト</a:t>
            </a:r>
            <a:endParaRPr lang="en-US" sz="1200" dirty="0"/>
          </a:p>
        </p:txBody>
      </p:sp>
      <p:sp>
        <p:nvSpPr>
          <p:cNvPr id="26" name="Text 22"/>
          <p:cNvSpPr txBox="1"/>
          <p:nvPr/>
        </p:nvSpPr>
        <p:spPr>
          <a:xfrm>
            <a:off x="8528609" y="2766974"/>
            <a:ext cx="876910"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リファクタ</a:t>
            </a:r>
            <a:endParaRPr lang="en-US" sz="1200" dirty="0"/>
          </a:p>
        </p:txBody>
      </p:sp>
      <p:sp>
        <p:nvSpPr>
          <p:cNvPr id="27" name="Text 23"/>
          <p:cNvSpPr txBox="1"/>
          <p:nvPr/>
        </p:nvSpPr>
        <p:spPr>
          <a:xfrm>
            <a:off x="10245852" y="2738628"/>
            <a:ext cx="1191463"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ドキュメント更新</a:t>
            </a:r>
            <a:endParaRPr lang="en-US" sz="1200" dirty="0"/>
          </a:p>
        </p:txBody>
      </p:sp>
      <p:sp>
        <p:nvSpPr>
          <p:cNvPr id="28" name="Text 24"/>
          <p:cNvSpPr txBox="1"/>
          <p:nvPr/>
        </p:nvSpPr>
        <p:spPr>
          <a:xfrm>
            <a:off x="925373" y="3043123"/>
            <a:ext cx="1067105" cy="333756"/>
          </a:xfrm>
          <a:prstGeom prst="rect">
            <a:avLst/>
          </a:prstGeom>
          <a:noFill/>
          <a:ln/>
        </p:spPr>
        <p:txBody>
          <a:bodyPr wrap="square" lIns="0" tIns="0" rIns="0" bIns="0" rtlCol="0" anchor="ctr"/>
          <a:lstStyle/>
          <a:p>
            <a:pPr algn="ctr" indent="0" marL="0">
              <a:buNone/>
            </a:pPr>
            <a:r>
              <a:rPr lang="en-US" sz="900" dirty="0">
                <a:solidFill>
                  <a:srgbClr val="FFFFFF">
                    <a:alpha val="80000"/>
                  </a:srgbClr>
                </a:solidFill>
                <a:latin typeface="Noto Sans JP" pitchFamily="34" charset="0"/>
                <a:ea typeface="Noto Sans JP" pitchFamily="34" charset="-122"/>
                <a:cs typeface="Noto Sans JP" pitchFamily="34" charset="-120"/>
              </a:rPr>
              <a:t>1時間で完了可能な作業単位</a:t>
            </a:r>
            <a:endParaRPr lang="en-US" sz="900" dirty="0"/>
          </a:p>
        </p:txBody>
      </p:sp>
      <p:sp>
        <p:nvSpPr>
          <p:cNvPr id="29" name="Text 25"/>
          <p:cNvSpPr txBox="1"/>
          <p:nvPr/>
        </p:nvSpPr>
        <p:spPr>
          <a:xfrm>
            <a:off x="2799893" y="3043123"/>
            <a:ext cx="1067105" cy="333756"/>
          </a:xfrm>
          <a:prstGeom prst="rect">
            <a:avLst/>
          </a:prstGeom>
          <a:noFill/>
          <a:ln/>
        </p:spPr>
        <p:txBody>
          <a:bodyPr wrap="square" lIns="0" tIns="0" rIns="0" bIns="0" rtlCol="0" anchor="ctr"/>
          <a:lstStyle/>
          <a:p>
            <a:pPr algn="ctr" indent="0" marL="0">
              <a:buNone/>
            </a:pPr>
            <a:r>
              <a:rPr lang="en-US" sz="900" dirty="0">
                <a:solidFill>
                  <a:srgbClr val="FFFFFF">
                    <a:alpha val="80000"/>
                  </a:srgbClr>
                </a:solidFill>
                <a:latin typeface="Noto Sans JP" pitchFamily="34" charset="0"/>
                <a:ea typeface="Noto Sans JP" pitchFamily="34" charset="-122"/>
                <a:cs typeface="Noto Sans JP" pitchFamily="34" charset="-120"/>
              </a:rPr>
              <a:t>2名での議論と合意形成</a:t>
            </a:r>
            <a:endParaRPr lang="en-US" sz="900" dirty="0"/>
          </a:p>
        </p:txBody>
      </p:sp>
      <p:sp>
        <p:nvSpPr>
          <p:cNvPr id="30" name="Text 26"/>
          <p:cNvSpPr txBox="1"/>
          <p:nvPr/>
        </p:nvSpPr>
        <p:spPr>
          <a:xfrm>
            <a:off x="4654296" y="3129077"/>
            <a:ext cx="1105510" cy="162763"/>
          </a:xfrm>
          <a:prstGeom prst="rect">
            <a:avLst/>
          </a:prstGeom>
          <a:noFill/>
          <a:ln/>
        </p:spPr>
        <p:txBody>
          <a:bodyPr wrap="square" lIns="0" tIns="0" rIns="0" bIns="0" rtlCol="0" anchor="ctr"/>
          <a:lstStyle/>
          <a:p>
            <a:pPr algn="ctr" indent="0" marL="0">
              <a:buNone/>
            </a:pPr>
            <a:r>
              <a:rPr lang="en-US" sz="900" dirty="0">
                <a:solidFill>
                  <a:srgbClr val="FFFFFF">
                    <a:alpha val="80000"/>
                  </a:srgbClr>
                </a:solidFill>
                <a:latin typeface="Noto Sans JP" pitchFamily="34" charset="0"/>
                <a:ea typeface="Noto Sans JP" pitchFamily="34" charset="-122"/>
                <a:cs typeface="Noto Sans JP" pitchFamily="34" charset="-120"/>
              </a:rPr>
              <a:t>TDDで進めるAI生成</a:t>
            </a:r>
            <a:endParaRPr lang="en-US" sz="900" dirty="0"/>
          </a:p>
        </p:txBody>
      </p:sp>
      <p:sp>
        <p:nvSpPr>
          <p:cNvPr id="31" name="Text 27"/>
          <p:cNvSpPr txBox="1"/>
          <p:nvPr/>
        </p:nvSpPr>
        <p:spPr>
          <a:xfrm>
            <a:off x="6519672" y="3043123"/>
            <a:ext cx="1124712" cy="333756"/>
          </a:xfrm>
          <a:prstGeom prst="rect">
            <a:avLst/>
          </a:prstGeom>
          <a:noFill/>
          <a:ln/>
        </p:spPr>
        <p:txBody>
          <a:bodyPr wrap="square" lIns="0" tIns="0" rIns="0" bIns="0" rtlCol="0" anchor="ctr"/>
          <a:lstStyle/>
          <a:p>
            <a:pPr algn="ctr" indent="0" marL="0">
              <a:buNone/>
            </a:pPr>
            <a:r>
              <a:rPr lang="en-US" sz="900" dirty="0">
                <a:solidFill>
                  <a:srgbClr val="FFFFFF">
                    <a:alpha val="80000"/>
                  </a:srgbClr>
                </a:solidFill>
                <a:latin typeface="Noto Sans JP" pitchFamily="34" charset="0"/>
                <a:ea typeface="Noto Sans JP" pitchFamily="34" charset="-122"/>
                <a:cs typeface="Noto Sans JP" pitchFamily="34" charset="-120"/>
              </a:rPr>
              <a:t>品質検証と自動テスト</a:t>
            </a:r>
            <a:endParaRPr lang="en-US" sz="900" dirty="0"/>
          </a:p>
        </p:txBody>
      </p:sp>
      <p:sp>
        <p:nvSpPr>
          <p:cNvPr id="32" name="Text 28"/>
          <p:cNvSpPr txBox="1"/>
          <p:nvPr/>
        </p:nvSpPr>
        <p:spPr>
          <a:xfrm>
            <a:off x="8399678" y="3043123"/>
            <a:ext cx="1105510" cy="333756"/>
          </a:xfrm>
          <a:prstGeom prst="rect">
            <a:avLst/>
          </a:prstGeom>
          <a:noFill/>
          <a:ln/>
        </p:spPr>
        <p:txBody>
          <a:bodyPr wrap="square" lIns="0" tIns="0" rIns="0" bIns="0" rtlCol="0" anchor="ctr"/>
          <a:lstStyle/>
          <a:p>
            <a:pPr algn="ctr" indent="0" marL="0">
              <a:buNone/>
            </a:pPr>
            <a:r>
              <a:rPr lang="en-US" sz="900" dirty="0">
                <a:solidFill>
                  <a:srgbClr val="FFFFFF">
                    <a:alpha val="80000"/>
                  </a:srgbClr>
                </a:solidFill>
                <a:latin typeface="Noto Sans JP" pitchFamily="34" charset="0"/>
                <a:ea typeface="Noto Sans JP" pitchFamily="34" charset="-122"/>
                <a:cs typeface="Noto Sans JP" pitchFamily="34" charset="-120"/>
              </a:rPr>
              <a:t>全員＋AIによる最適化</a:t>
            </a:r>
            <a:endParaRPr lang="en-US" sz="900" dirty="0"/>
          </a:p>
        </p:txBody>
      </p:sp>
      <p:sp>
        <p:nvSpPr>
          <p:cNvPr id="33" name="Text 29"/>
          <p:cNvSpPr txBox="1"/>
          <p:nvPr/>
        </p:nvSpPr>
        <p:spPr>
          <a:xfrm>
            <a:off x="10265054" y="3243377"/>
            <a:ext cx="1124712" cy="162763"/>
          </a:xfrm>
          <a:prstGeom prst="rect">
            <a:avLst/>
          </a:prstGeom>
          <a:noFill/>
          <a:ln/>
        </p:spPr>
        <p:txBody>
          <a:bodyPr wrap="square" lIns="0" tIns="0" rIns="0" bIns="0" rtlCol="0" anchor="ctr"/>
          <a:lstStyle/>
          <a:p>
            <a:pPr algn="ctr" indent="0" marL="0">
              <a:buNone/>
            </a:pPr>
            <a:r>
              <a:rPr lang="en-US" sz="900" dirty="0">
                <a:solidFill>
                  <a:srgbClr val="FFFFFF">
                    <a:alpha val="80000"/>
                  </a:srgbClr>
                </a:solidFill>
                <a:latin typeface="Noto Sans JP" pitchFamily="34" charset="0"/>
                <a:ea typeface="Noto Sans JP" pitchFamily="34" charset="-122"/>
                <a:cs typeface="Noto Sans JP" pitchFamily="34" charset="-120"/>
              </a:rPr>
              <a:t>知識の体系化と共有</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7391095"/>
          </a:xfrm>
          <a:prstGeom prst="rect">
            <a:avLst/>
          </a:prstGeom>
          <a:solidFill>
            <a:srgbClr val="0A1930"/>
          </a:solidFill>
          <a:ln/>
        </p:spPr>
      </p:sp>
      <p:sp>
        <p:nvSpPr>
          <p:cNvPr id="3" name="Text 1"/>
          <p:cNvSpPr txBox="1"/>
          <p:nvPr/>
        </p:nvSpPr>
        <p:spPr>
          <a:xfrm>
            <a:off x="761695" y="485546"/>
            <a:ext cx="4291279" cy="581558"/>
          </a:xfrm>
          <a:prstGeom prst="rect">
            <a:avLst/>
          </a:prstGeom>
          <a:noFill/>
          <a:ln/>
        </p:spPr>
        <p:txBody>
          <a:bodyPr wrap="square" lIns="0" tIns="0" rIns="0" bIns="0" rtlCol="0" anchor="ctr"/>
          <a:lstStyle/>
          <a:p>
            <a:pPr algn="l" indent="0" marL="0">
              <a:buNone/>
            </a:pPr>
            <a:r>
              <a:rPr lang="en-US" sz="3100" b="1" dirty="0">
                <a:solidFill>
                  <a:srgbClr val="FFFFFF"/>
                </a:solidFill>
                <a:latin typeface="Noto Sans JP" pitchFamily="34" charset="0"/>
                <a:ea typeface="Noto Sans JP" pitchFamily="34" charset="-122"/>
                <a:cs typeface="Noto Sans JP" pitchFamily="34" charset="-120"/>
              </a:rPr>
              <a:t>日本企業のAI化の現実</a:t>
            </a:r>
            <a:endParaRPr lang="en-US" sz="3100" dirty="0"/>
          </a:p>
        </p:txBody>
      </p:sp>
      <p:sp>
        <p:nvSpPr>
          <p:cNvPr id="4" name="Shape 2"/>
          <p:cNvSpPr/>
          <p:nvPr/>
        </p:nvSpPr>
        <p:spPr>
          <a:xfrm>
            <a:off x="952805" y="1552651"/>
            <a:ext cx="4943246" cy="1543507"/>
          </a:xfrm>
          <a:prstGeom prst="roundRect">
            <a:avLst>
              <a:gd name="adj" fmla="val 3657"/>
            </a:avLst>
          </a:prstGeom>
          <a:solidFill>
            <a:srgbClr val="FFFFFF">
              <a:alpha val="5000"/>
            </a:srgbClr>
          </a:solidFill>
          <a:ln/>
        </p:spPr>
      </p:sp>
      <p:sp>
        <p:nvSpPr>
          <p:cNvPr id="5" name="Shape 3"/>
          <p:cNvSpPr/>
          <p:nvPr/>
        </p:nvSpPr>
        <p:spPr>
          <a:xfrm>
            <a:off x="1143000" y="1742846"/>
            <a:ext cx="381305" cy="381305"/>
          </a:xfrm>
          <a:prstGeom prst="roundRect">
            <a:avLst>
              <a:gd name="adj" fmla="val 47962"/>
            </a:avLst>
          </a:prstGeom>
          <a:solidFill>
            <a:srgbClr val="00AEFF">
              <a:alpha val="20000"/>
            </a:srgbClr>
          </a:solidFill>
          <a:ln/>
        </p:spPr>
      </p:sp>
      <p:pic>
        <p:nvPicPr>
          <p:cNvPr id="6" name="Image 0" descr="preencoded.png">    </p:cNvPr>
          <p:cNvPicPr>
            <a:picLocks noChangeAspect="1"/>
          </p:cNvPicPr>
          <p:nvPr/>
        </p:nvPicPr>
        <p:blipFill>
          <a:blip r:embed="rId1"/>
          <a:srcRect l="-704302" r="-704302" t="0" b="0"/>
          <a:stretch/>
        </p:blipFill>
        <p:spPr>
          <a:xfrm>
            <a:off x="1152144" y="1923898"/>
            <a:ext cx="362102" cy="19202"/>
          </a:xfrm>
          <a:prstGeom prst="rect">
            <a:avLst/>
          </a:prstGeom>
        </p:spPr>
      </p:pic>
      <p:sp>
        <p:nvSpPr>
          <p:cNvPr id="7" name="Shape 4"/>
          <p:cNvSpPr/>
          <p:nvPr/>
        </p:nvSpPr>
        <p:spPr>
          <a:xfrm>
            <a:off x="6302045" y="1552651"/>
            <a:ext cx="4943246" cy="1543507"/>
          </a:xfrm>
          <a:prstGeom prst="roundRect">
            <a:avLst>
              <a:gd name="adj" fmla="val 3657"/>
            </a:avLst>
          </a:prstGeom>
          <a:solidFill>
            <a:srgbClr val="FFFFFF">
              <a:alpha val="5000"/>
            </a:srgbClr>
          </a:solidFill>
          <a:ln/>
        </p:spPr>
      </p:sp>
      <p:sp>
        <p:nvSpPr>
          <p:cNvPr id="8" name="Shape 5"/>
          <p:cNvSpPr/>
          <p:nvPr/>
        </p:nvSpPr>
        <p:spPr>
          <a:xfrm>
            <a:off x="6492240" y="1742846"/>
            <a:ext cx="381305" cy="381305"/>
          </a:xfrm>
          <a:prstGeom prst="roundRect">
            <a:avLst>
              <a:gd name="adj" fmla="val 47962"/>
            </a:avLst>
          </a:prstGeom>
          <a:solidFill>
            <a:srgbClr val="00AEFF">
              <a:alpha val="20000"/>
            </a:srgbClr>
          </a:solidFill>
          <a:ln/>
        </p:spPr>
      </p:sp>
      <p:sp>
        <p:nvSpPr>
          <p:cNvPr id="9" name="Text 6"/>
          <p:cNvSpPr txBox="1"/>
          <p:nvPr/>
        </p:nvSpPr>
        <p:spPr>
          <a:xfrm>
            <a:off x="1676095" y="1762049"/>
            <a:ext cx="1086307" cy="333756"/>
          </a:xfrm>
          <a:prstGeom prst="rect">
            <a:avLst/>
          </a:prstGeom>
          <a:no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開発現場</a:t>
            </a:r>
            <a:endParaRPr lang="en-US" sz="1800" dirty="0"/>
          </a:p>
        </p:txBody>
      </p:sp>
      <p:sp>
        <p:nvSpPr>
          <p:cNvPr id="10" name="Text 7"/>
          <p:cNvSpPr txBox="1"/>
          <p:nvPr/>
        </p:nvSpPr>
        <p:spPr>
          <a:xfrm>
            <a:off x="7025335" y="1762049"/>
            <a:ext cx="1086307" cy="333756"/>
          </a:xfrm>
          <a:prstGeom prst="rect">
            <a:avLst/>
          </a:prstGeom>
          <a:no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実務現場</a:t>
            </a:r>
            <a:endParaRPr lang="en-US" sz="1800" dirty="0"/>
          </a:p>
        </p:txBody>
      </p:sp>
      <p:sp>
        <p:nvSpPr>
          <p:cNvPr id="11" name="Text 8"/>
          <p:cNvSpPr txBox="1"/>
          <p:nvPr/>
        </p:nvSpPr>
        <p:spPr>
          <a:xfrm>
            <a:off x="1143000" y="2219249"/>
            <a:ext cx="1476756" cy="2286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AI化が急速に一般化</a:t>
            </a:r>
            <a:endParaRPr lang="en-US" sz="1200" dirty="0"/>
          </a:p>
        </p:txBody>
      </p:sp>
      <p:sp>
        <p:nvSpPr>
          <p:cNvPr id="12" name="Text 9"/>
          <p:cNvSpPr txBox="1"/>
          <p:nvPr/>
        </p:nvSpPr>
        <p:spPr>
          <a:xfrm>
            <a:off x="1143000" y="2447849"/>
            <a:ext cx="2705710" cy="2286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開発効率化ツールとしての活用が浸透</a:t>
            </a:r>
            <a:endParaRPr lang="en-US" sz="1200" dirty="0"/>
          </a:p>
        </p:txBody>
      </p:sp>
      <p:sp>
        <p:nvSpPr>
          <p:cNvPr id="13" name="Text 10"/>
          <p:cNvSpPr txBox="1"/>
          <p:nvPr/>
        </p:nvSpPr>
        <p:spPr>
          <a:xfrm>
            <a:off x="1143000" y="2676449"/>
            <a:ext cx="2410358" cy="2286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若手エンジニアを中心に利用拡大</a:t>
            </a:r>
            <a:endParaRPr lang="en-US" sz="1200" dirty="0"/>
          </a:p>
        </p:txBody>
      </p:sp>
      <p:pic>
        <p:nvPicPr>
          <p:cNvPr id="14" name="Image 1" descr="preencoded.png">    </p:cNvPr>
          <p:cNvPicPr>
            <a:picLocks noChangeAspect="1"/>
          </p:cNvPicPr>
          <p:nvPr/>
        </p:nvPicPr>
        <p:blipFill>
          <a:blip r:embed="rId2"/>
          <a:srcRect l="-711921" r="-711921" t="0" b="0"/>
          <a:stretch/>
        </p:blipFill>
        <p:spPr>
          <a:xfrm>
            <a:off x="6573622" y="1923898"/>
            <a:ext cx="219456" cy="19202"/>
          </a:xfrm>
          <a:prstGeom prst="rect">
            <a:avLst/>
          </a:prstGeom>
        </p:spPr>
      </p:pic>
      <p:sp>
        <p:nvSpPr>
          <p:cNvPr id="15" name="Text 11"/>
          <p:cNvSpPr txBox="1"/>
          <p:nvPr/>
        </p:nvSpPr>
        <p:spPr>
          <a:xfrm>
            <a:off x="6492240" y="2219249"/>
            <a:ext cx="2705710" cy="2286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デジタル化すらも完了していない状況</a:t>
            </a:r>
            <a:endParaRPr lang="en-US" sz="1200" dirty="0"/>
          </a:p>
        </p:txBody>
      </p:sp>
      <p:sp>
        <p:nvSpPr>
          <p:cNvPr id="16" name="Text 12"/>
          <p:cNvSpPr txBox="1"/>
          <p:nvPr/>
        </p:nvSpPr>
        <p:spPr>
          <a:xfrm>
            <a:off x="6492240" y="2447849"/>
            <a:ext cx="2086661" cy="2286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業務プロセスのIT化が不完全</a:t>
            </a:r>
            <a:endParaRPr lang="en-US" sz="1200" dirty="0"/>
          </a:p>
        </p:txBody>
      </p:sp>
      <p:sp>
        <p:nvSpPr>
          <p:cNvPr id="17" name="Text 13"/>
          <p:cNvSpPr txBox="1"/>
          <p:nvPr/>
        </p:nvSpPr>
        <p:spPr>
          <a:xfrm>
            <a:off x="6492240" y="2676449"/>
            <a:ext cx="1800454" cy="2286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データ活用基盤が未整備</a:t>
            </a:r>
            <a:endParaRPr lang="en-US" sz="1200" dirty="0"/>
          </a:p>
        </p:txBody>
      </p:sp>
      <p:sp>
        <p:nvSpPr>
          <p:cNvPr id="18" name="Shape 14"/>
          <p:cNvSpPr/>
          <p:nvPr/>
        </p:nvSpPr>
        <p:spPr>
          <a:xfrm>
            <a:off x="952805" y="3524098"/>
            <a:ext cx="10287000" cy="543154"/>
          </a:xfrm>
          <a:prstGeom prst="roundRect">
            <a:avLst>
              <a:gd name="adj" fmla="val 23628"/>
            </a:avLst>
          </a:prstGeom>
          <a:solidFill>
            <a:srgbClr val="000000">
              <a:alpha val="80000"/>
            </a:srgbClr>
          </a:solidFill>
          <a:ln/>
        </p:spPr>
      </p:sp>
      <p:sp>
        <p:nvSpPr>
          <p:cNvPr id="19" name="Shape 15"/>
          <p:cNvSpPr/>
          <p:nvPr/>
        </p:nvSpPr>
        <p:spPr>
          <a:xfrm>
            <a:off x="952805" y="3524098"/>
            <a:ext cx="38405" cy="543154"/>
          </a:xfrm>
          <a:prstGeom prst="rect">
            <a:avLst/>
          </a:prstGeom>
          <a:solidFill>
            <a:srgbClr val="00AEFF"/>
          </a:solidFill>
          <a:ln/>
        </p:spPr>
      </p:sp>
      <p:sp>
        <p:nvSpPr>
          <p:cNvPr id="20" name="Text 16"/>
          <p:cNvSpPr txBox="1"/>
          <p:nvPr/>
        </p:nvSpPr>
        <p:spPr>
          <a:xfrm>
            <a:off x="1133856" y="3666744"/>
            <a:ext cx="7053682" cy="247802"/>
          </a:xfrm>
          <a:prstGeom prst="rect">
            <a:avLst/>
          </a:prstGeom>
          <a:noFill/>
          <a:ln/>
        </p:spPr>
        <p:txBody>
          <a:bodyPr wrap="square" lIns="0" tIns="0" rIns="0" bIns="0" rtlCol="0" anchor="ctr"/>
          <a:lstStyle/>
          <a:p>
            <a:pPr algn="l" indent="0" marL="0">
              <a:buNone/>
            </a:pPr>
            <a:r>
              <a:rPr lang="en-US" sz="1300" dirty="0">
                <a:solidFill>
                  <a:srgbClr val="FFFFFF">
                    <a:alpha val="80000"/>
                  </a:srgbClr>
                </a:solidFill>
                <a:latin typeface="Noto Sans JP" pitchFamily="34" charset="0"/>
                <a:ea typeface="Noto Sans JP" pitchFamily="34" charset="-122"/>
                <a:cs typeface="Noto Sans JP" pitchFamily="34" charset="-120"/>
              </a:rPr>
              <a:t>課題：デジタル化ニーズに対して反比例する現状 — 必要性は高まるが実装が追いつかない</a:t>
            </a:r>
            <a:endParaRPr lang="en-US" sz="1300" dirty="0"/>
          </a:p>
        </p:txBody>
      </p:sp>
      <p:sp>
        <p:nvSpPr>
          <p:cNvPr id="21" name="Text 17"/>
          <p:cNvSpPr txBox="1"/>
          <p:nvPr/>
        </p:nvSpPr>
        <p:spPr>
          <a:xfrm>
            <a:off x="952805" y="4162349"/>
            <a:ext cx="1666951" cy="277063"/>
          </a:xfrm>
          <a:prstGeom prst="rect">
            <a:avLst/>
          </a:prstGeom>
          <a:noFill/>
          <a:ln/>
        </p:spPr>
        <p:txBody>
          <a:bodyPr wrap="square" lIns="0" tIns="0" rIns="0" bIns="0" rtlCol="0" anchor="ctr"/>
          <a:lstStyle/>
          <a:p>
            <a:pPr algn="l" indent="0" marL="0">
              <a:buNone/>
            </a:pPr>
            <a:r>
              <a:rPr lang="en-US" sz="1500" b="1" dirty="0">
                <a:solidFill>
                  <a:srgbClr val="00AEFF"/>
                </a:solidFill>
                <a:latin typeface="Noto Sans JP" pitchFamily="34" charset="0"/>
                <a:ea typeface="Noto Sans JP" pitchFamily="34" charset="-122"/>
                <a:cs typeface="Noto Sans JP" pitchFamily="34" charset="-120"/>
              </a:rPr>
              <a:t>AI導入の主な障壁</a:t>
            </a:r>
            <a:endParaRPr lang="en-US" sz="1500" dirty="0"/>
          </a:p>
        </p:txBody>
      </p:sp>
      <p:sp>
        <p:nvSpPr>
          <p:cNvPr id="22" name="Shape 18"/>
          <p:cNvSpPr/>
          <p:nvPr/>
        </p:nvSpPr>
        <p:spPr>
          <a:xfrm>
            <a:off x="952805" y="4733849"/>
            <a:ext cx="381305" cy="381305"/>
          </a:xfrm>
          <a:prstGeom prst="roundRect">
            <a:avLst>
              <a:gd name="adj" fmla="val 47962"/>
            </a:avLst>
          </a:prstGeom>
          <a:solidFill>
            <a:srgbClr val="00AEFF">
              <a:alpha val="20000"/>
            </a:srgbClr>
          </a:solidFill>
          <a:ln/>
        </p:spPr>
      </p:sp>
      <p:pic>
        <p:nvPicPr>
          <p:cNvPr id="23" name="Image 2" descr="preencoded.png">    </p:cNvPr>
          <p:cNvPicPr>
            <a:picLocks noChangeAspect="1"/>
          </p:cNvPicPr>
          <p:nvPr/>
        </p:nvPicPr>
        <p:blipFill>
          <a:blip r:embed="rId3"/>
          <a:srcRect l="-1024284" r="-1024284" t="0" b="0"/>
          <a:stretch/>
        </p:blipFill>
        <p:spPr>
          <a:xfrm>
            <a:off x="1057046" y="4919472"/>
            <a:ext cx="171907" cy="9144"/>
          </a:xfrm>
          <a:prstGeom prst="rect">
            <a:avLst/>
          </a:prstGeom>
        </p:spPr>
      </p:pic>
      <p:sp>
        <p:nvSpPr>
          <p:cNvPr id="24" name="Shape 19"/>
          <p:cNvSpPr/>
          <p:nvPr/>
        </p:nvSpPr>
        <p:spPr>
          <a:xfrm>
            <a:off x="6238951" y="4733849"/>
            <a:ext cx="381305" cy="381305"/>
          </a:xfrm>
          <a:prstGeom prst="roundRect">
            <a:avLst>
              <a:gd name="adj" fmla="val 47962"/>
            </a:avLst>
          </a:prstGeom>
          <a:solidFill>
            <a:srgbClr val="00AEFF">
              <a:alpha val="20000"/>
            </a:srgbClr>
          </a:solidFill>
          <a:ln/>
        </p:spPr>
      </p:sp>
      <p:sp>
        <p:nvSpPr>
          <p:cNvPr id="25" name="Text 20"/>
          <p:cNvSpPr txBox="1"/>
          <p:nvPr/>
        </p:nvSpPr>
        <p:spPr>
          <a:xfrm>
            <a:off x="1485900" y="4733849"/>
            <a:ext cx="1666951"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経営コミット不足</a:t>
            </a:r>
            <a:endParaRPr lang="en-US" sz="1500" dirty="0"/>
          </a:p>
        </p:txBody>
      </p:sp>
      <p:sp>
        <p:nvSpPr>
          <p:cNvPr id="26" name="Text 21"/>
          <p:cNvSpPr txBox="1"/>
          <p:nvPr/>
        </p:nvSpPr>
        <p:spPr>
          <a:xfrm>
            <a:off x="1485900" y="5667451"/>
            <a:ext cx="1153058"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DX人材不足</a:t>
            </a:r>
            <a:endParaRPr lang="en-US" sz="1500" dirty="0"/>
          </a:p>
        </p:txBody>
      </p:sp>
      <p:sp>
        <p:nvSpPr>
          <p:cNvPr id="27" name="Text 22"/>
          <p:cNvSpPr txBox="1"/>
          <p:nvPr/>
        </p:nvSpPr>
        <p:spPr>
          <a:xfrm>
            <a:off x="1485900" y="5057546"/>
            <a:ext cx="4267505" cy="2286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経営層のDX理解と意思決定の遅れ、全社的なビジョンの欠如</a:t>
            </a:r>
            <a:endParaRPr lang="en-US" sz="1200" dirty="0"/>
          </a:p>
        </p:txBody>
      </p:sp>
      <p:pic>
        <p:nvPicPr>
          <p:cNvPr id="28" name="Image 3" descr="preencoded.png">    </p:cNvPr>
          <p:cNvPicPr>
            <a:picLocks noChangeAspect="1"/>
          </p:cNvPicPr>
          <p:nvPr/>
        </p:nvPicPr>
        <p:blipFill>
          <a:blip r:embed="rId4"/>
          <a:srcRect l="-989999" r="-989999" t="0" b="0"/>
          <a:stretch/>
        </p:blipFill>
        <p:spPr>
          <a:xfrm>
            <a:off x="6334049" y="4919472"/>
            <a:ext cx="190195" cy="9144"/>
          </a:xfrm>
          <a:prstGeom prst="rect">
            <a:avLst/>
          </a:prstGeom>
        </p:spPr>
      </p:pic>
      <p:sp>
        <p:nvSpPr>
          <p:cNvPr id="29" name="Shape 23"/>
          <p:cNvSpPr/>
          <p:nvPr/>
        </p:nvSpPr>
        <p:spPr>
          <a:xfrm>
            <a:off x="952805" y="5667451"/>
            <a:ext cx="381305" cy="381305"/>
          </a:xfrm>
          <a:prstGeom prst="roundRect">
            <a:avLst>
              <a:gd name="adj" fmla="val 47962"/>
            </a:avLst>
          </a:prstGeom>
          <a:solidFill>
            <a:srgbClr val="00AEFF">
              <a:alpha val="20000"/>
            </a:srgbClr>
          </a:solidFill>
          <a:ln/>
        </p:spPr>
      </p:sp>
      <p:sp>
        <p:nvSpPr>
          <p:cNvPr id="30" name="Text 24"/>
          <p:cNvSpPr txBox="1"/>
          <p:nvPr/>
        </p:nvSpPr>
        <p:spPr>
          <a:xfrm>
            <a:off x="6772046" y="4733849"/>
            <a:ext cx="2229307"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レガシーシステムの問題</a:t>
            </a:r>
            <a:endParaRPr lang="en-US" sz="1500" dirty="0"/>
          </a:p>
        </p:txBody>
      </p:sp>
      <p:sp>
        <p:nvSpPr>
          <p:cNvPr id="31" name="Text 25"/>
          <p:cNvSpPr txBox="1"/>
          <p:nvPr/>
        </p:nvSpPr>
        <p:spPr>
          <a:xfrm>
            <a:off x="6772046" y="5057546"/>
            <a:ext cx="4381805" cy="2286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老朽化したシステムのブラックボックス化、変更リスクの増大</a:t>
            </a:r>
            <a:endParaRPr lang="en-US" sz="1200" dirty="0"/>
          </a:p>
        </p:txBody>
      </p:sp>
      <p:pic>
        <p:nvPicPr>
          <p:cNvPr id="32" name="Image 4" descr="preencoded.png">    </p:cNvPr>
          <p:cNvPicPr>
            <a:picLocks noChangeAspect="1"/>
          </p:cNvPicPr>
          <p:nvPr/>
        </p:nvPicPr>
        <p:blipFill>
          <a:blip r:embed="rId5"/>
          <a:srcRect l="-989999" r="-989999" t="0" b="0"/>
          <a:stretch/>
        </p:blipFill>
        <p:spPr>
          <a:xfrm>
            <a:off x="1024128" y="5853074"/>
            <a:ext cx="237744" cy="9144"/>
          </a:xfrm>
          <a:prstGeom prst="rect">
            <a:avLst/>
          </a:prstGeom>
        </p:spPr>
      </p:pic>
      <p:sp>
        <p:nvSpPr>
          <p:cNvPr id="33" name="Shape 26"/>
          <p:cNvSpPr/>
          <p:nvPr/>
        </p:nvSpPr>
        <p:spPr>
          <a:xfrm>
            <a:off x="6238951" y="5667451"/>
            <a:ext cx="381305" cy="381305"/>
          </a:xfrm>
          <a:prstGeom prst="roundRect">
            <a:avLst>
              <a:gd name="adj" fmla="val 47962"/>
            </a:avLst>
          </a:prstGeom>
          <a:solidFill>
            <a:srgbClr val="00AEFF">
              <a:alpha val="20000"/>
            </a:srgbClr>
          </a:solidFill>
          <a:ln/>
        </p:spPr>
      </p:sp>
      <p:sp>
        <p:nvSpPr>
          <p:cNvPr id="34" name="Text 27"/>
          <p:cNvSpPr txBox="1"/>
          <p:nvPr/>
        </p:nvSpPr>
        <p:spPr>
          <a:xfrm>
            <a:off x="1485900" y="5991149"/>
            <a:ext cx="4077310" cy="2286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デジタル技術とビジネスを両立できる人材の慢性的な不足</a:t>
            </a:r>
            <a:endParaRPr lang="en-US" sz="1200" dirty="0"/>
          </a:p>
        </p:txBody>
      </p:sp>
      <p:pic>
        <p:nvPicPr>
          <p:cNvPr id="35" name="Image 5" descr="preencoded.png">    </p:cNvPr>
          <p:cNvPicPr>
            <a:picLocks noChangeAspect="1"/>
          </p:cNvPicPr>
          <p:nvPr/>
        </p:nvPicPr>
        <p:blipFill>
          <a:blip r:embed="rId6"/>
          <a:srcRect l="-989999" r="-989999" t="0" b="0"/>
          <a:stretch/>
        </p:blipFill>
        <p:spPr>
          <a:xfrm>
            <a:off x="6334049" y="5853074"/>
            <a:ext cx="190195" cy="9144"/>
          </a:xfrm>
          <a:prstGeom prst="rect">
            <a:avLst/>
          </a:prstGeom>
        </p:spPr>
      </p:pic>
      <p:sp>
        <p:nvSpPr>
          <p:cNvPr id="36" name="Text 28"/>
          <p:cNvSpPr txBox="1"/>
          <p:nvPr/>
        </p:nvSpPr>
        <p:spPr>
          <a:xfrm>
            <a:off x="6772046" y="5667451"/>
            <a:ext cx="1619402"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予算・ROI不透明</a:t>
            </a:r>
            <a:endParaRPr lang="en-US" sz="1500" dirty="0"/>
          </a:p>
        </p:txBody>
      </p:sp>
      <p:sp>
        <p:nvSpPr>
          <p:cNvPr id="37" name="Text 29"/>
          <p:cNvSpPr txBox="1"/>
          <p:nvPr/>
        </p:nvSpPr>
        <p:spPr>
          <a:xfrm>
            <a:off x="6772046" y="5991149"/>
            <a:ext cx="4229100" cy="2286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投資対効果の見えにくさ、短期的成果への偏重、コスト意識</a:t>
            </a:r>
            <a:endParaRPr lang="en-US" sz="1200" dirty="0"/>
          </a:p>
        </p:txBody>
      </p:sp>
      <p:sp>
        <p:nvSpPr>
          <p:cNvPr id="38" name="Text 30"/>
          <p:cNvSpPr txBox="1"/>
          <p:nvPr/>
        </p:nvSpPr>
        <p:spPr>
          <a:xfrm>
            <a:off x="10109606" y="7039051"/>
            <a:ext cx="1424635" cy="191110"/>
          </a:xfrm>
          <a:prstGeom prst="rect">
            <a:avLst/>
          </a:prstGeom>
          <a:noFill/>
          <a:ln/>
        </p:spPr>
        <p:txBody>
          <a:bodyPr wrap="square" lIns="0" tIns="0" rIns="0" bIns="0" rtlCol="0" anchor="ctr"/>
          <a:lstStyle/>
          <a:p>
            <a:pPr algn="r" indent="0" marL="0">
              <a:buNone/>
            </a:pPr>
            <a:r>
              <a:rPr lang="en-US" sz="1000" dirty="0">
                <a:solidFill>
                  <a:srgbClr val="FFFFFF">
                    <a:alpha val="50000"/>
                  </a:srgbClr>
                </a:solidFill>
                <a:latin typeface="Noto Sans JP" pitchFamily="34" charset="0"/>
                <a:ea typeface="Noto Sans JP" pitchFamily="34" charset="-122"/>
                <a:cs typeface="Noto Sans JP" pitchFamily="34" charset="-120"/>
              </a:rPr>
              <a:t>AI駆動開発のその先へ</a:t>
            </a:r>
            <a:endParaRPr lang="en-US" sz="1000" dirty="0"/>
          </a:p>
        </p:txBody>
      </p:sp>
      <p:sp>
        <p:nvSpPr>
          <p:cNvPr id="39" name="Shape 31"/>
          <p:cNvSpPr/>
          <p:nvPr/>
        </p:nvSpPr>
        <p:spPr>
          <a:xfrm>
            <a:off x="9810598" y="5009998"/>
            <a:ext cx="3810305" cy="3810305"/>
          </a:xfrm>
          <a:prstGeom prst="ellipse">
            <a:avLst/>
          </a:prstGeom>
          <a:solidFill>
            <a:srgbClr val="00AEFF">
              <a:alpha val="5000"/>
            </a:srgbClr>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7000646"/>
          </a:xfrm>
          <a:prstGeom prst="rect">
            <a:avLst/>
          </a:prstGeom>
          <a:solidFill>
            <a:srgbClr val="0A1930"/>
          </a:solidFill>
          <a:ln/>
        </p:spPr>
      </p:sp>
      <p:sp>
        <p:nvSpPr>
          <p:cNvPr id="3" name="Text 1"/>
          <p:cNvSpPr txBox="1"/>
          <p:nvPr/>
        </p:nvSpPr>
        <p:spPr>
          <a:xfrm>
            <a:off x="761695" y="485546"/>
            <a:ext cx="4291279" cy="581558"/>
          </a:xfrm>
          <a:prstGeom prst="rect">
            <a:avLst/>
          </a:prstGeom>
          <a:noFill/>
          <a:ln/>
        </p:spPr>
        <p:txBody>
          <a:bodyPr wrap="square" lIns="0" tIns="0" rIns="0" bIns="0" rtlCol="0" anchor="ctr"/>
          <a:lstStyle/>
          <a:p>
            <a:pPr algn="l" indent="0" marL="0">
              <a:buNone/>
            </a:pPr>
            <a:r>
              <a:rPr lang="en-US" sz="3100" b="1" dirty="0">
                <a:solidFill>
                  <a:srgbClr val="FFFFFF"/>
                </a:solidFill>
                <a:latin typeface="Noto Sans JP" pitchFamily="34" charset="0"/>
                <a:ea typeface="Noto Sans JP" pitchFamily="34" charset="-122"/>
                <a:cs typeface="Noto Sans JP" pitchFamily="34" charset="-120"/>
              </a:rPr>
              <a:t>IT企業の生き残り戦略</a:t>
            </a:r>
            <a:endParaRPr lang="en-US" sz="3100" dirty="0"/>
          </a:p>
        </p:txBody>
      </p:sp>
      <p:sp>
        <p:nvSpPr>
          <p:cNvPr id="4" name="Text 2"/>
          <p:cNvSpPr txBox="1"/>
          <p:nvPr/>
        </p:nvSpPr>
        <p:spPr>
          <a:xfrm>
            <a:off x="761695" y="1218895"/>
            <a:ext cx="3305556" cy="277063"/>
          </a:xfrm>
          <a:prstGeom prst="rect">
            <a:avLst/>
          </a:prstGeom>
          <a:noFill/>
          <a:ln/>
        </p:spPr>
        <p:txBody>
          <a:bodyPr wrap="square" lIns="0" tIns="0" rIns="0" bIns="0" rtlCol="0" anchor="ctr"/>
          <a:lstStyle/>
          <a:p>
            <a:pPr algn="l" indent="0" marL="0">
              <a:buNone/>
            </a:pPr>
            <a:r>
              <a:rPr lang="en-US" sz="1500" dirty="0">
                <a:solidFill>
                  <a:srgbClr val="FFFFFF">
                    <a:alpha val="90000"/>
                  </a:srgbClr>
                </a:solidFill>
                <a:latin typeface="Noto Sans JP" pitchFamily="34" charset="0"/>
                <a:ea typeface="Noto Sans JP" pitchFamily="34" charset="-122"/>
                <a:cs typeface="Noto Sans JP" pitchFamily="34" charset="-120"/>
              </a:rPr>
              <a:t>同時並行で進めるべき3つの重要要素</a:t>
            </a:r>
            <a:endParaRPr lang="en-US" sz="1500" dirty="0"/>
          </a:p>
        </p:txBody>
      </p:sp>
      <p:sp>
        <p:nvSpPr>
          <p:cNvPr id="5" name="Shape 3"/>
          <p:cNvSpPr/>
          <p:nvPr/>
        </p:nvSpPr>
        <p:spPr>
          <a:xfrm>
            <a:off x="952805" y="2361895"/>
            <a:ext cx="571500" cy="571500"/>
          </a:xfrm>
          <a:prstGeom prst="roundRect">
            <a:avLst>
              <a:gd name="adj" fmla="val 32000"/>
            </a:avLst>
          </a:prstGeom>
          <a:solidFill>
            <a:srgbClr val="00AEFF">
              <a:alpha val="20000"/>
            </a:srgbClr>
          </a:solidFill>
          <a:ln/>
        </p:spPr>
      </p:sp>
      <p:pic>
        <p:nvPicPr>
          <p:cNvPr id="6" name="Image 0" descr="preencoded.png">    </p:cNvPr>
          <p:cNvPicPr>
            <a:picLocks noChangeAspect="1"/>
          </p:cNvPicPr>
          <p:nvPr/>
        </p:nvPicPr>
        <p:blipFill>
          <a:blip r:embed="rId1"/>
          <a:srcRect l="-90" r="-90" t="0" b="0"/>
          <a:stretch/>
        </p:blipFill>
        <p:spPr>
          <a:xfrm>
            <a:off x="1047902" y="2495398"/>
            <a:ext cx="381305" cy="304495"/>
          </a:xfrm>
          <a:prstGeom prst="rect">
            <a:avLst/>
          </a:prstGeom>
        </p:spPr>
      </p:pic>
      <p:sp>
        <p:nvSpPr>
          <p:cNvPr id="7" name="Shape 4"/>
          <p:cNvSpPr/>
          <p:nvPr/>
        </p:nvSpPr>
        <p:spPr>
          <a:xfrm>
            <a:off x="952805" y="3676802"/>
            <a:ext cx="571500" cy="571500"/>
          </a:xfrm>
          <a:prstGeom prst="roundRect">
            <a:avLst>
              <a:gd name="adj" fmla="val 32000"/>
            </a:avLst>
          </a:prstGeom>
          <a:solidFill>
            <a:srgbClr val="00AEFF">
              <a:alpha val="20000"/>
            </a:srgbClr>
          </a:solidFill>
          <a:ln/>
        </p:spPr>
      </p:sp>
      <p:sp>
        <p:nvSpPr>
          <p:cNvPr id="8" name="Shape 5"/>
          <p:cNvSpPr/>
          <p:nvPr/>
        </p:nvSpPr>
        <p:spPr>
          <a:xfrm>
            <a:off x="952805" y="4990795"/>
            <a:ext cx="571500" cy="571500"/>
          </a:xfrm>
          <a:prstGeom prst="roundRect">
            <a:avLst>
              <a:gd name="adj" fmla="val 32000"/>
            </a:avLst>
          </a:prstGeom>
          <a:solidFill>
            <a:srgbClr val="00AEFF">
              <a:alpha val="20000"/>
            </a:srgbClr>
          </a:solidFill>
          <a:ln/>
        </p:spPr>
      </p:sp>
      <p:sp>
        <p:nvSpPr>
          <p:cNvPr id="9" name="Text 6"/>
          <p:cNvSpPr txBox="1"/>
          <p:nvPr/>
        </p:nvSpPr>
        <p:spPr>
          <a:xfrm>
            <a:off x="1714500" y="2361895"/>
            <a:ext cx="3363163" cy="333756"/>
          </a:xfrm>
          <a:prstGeom prst="rect">
            <a:avLst/>
          </a:prstGeom>
          <a:noFill/>
          <a:ln/>
        </p:spPr>
        <p:txBody>
          <a:bodyPr wrap="square" lIns="0" tIns="0" rIns="0" bIns="0" rtlCol="0" anchor="ctr"/>
          <a:lstStyle/>
          <a:p>
            <a:pPr algn="l" indent="0" marL="0">
              <a:buNone/>
            </a:pPr>
            <a:r>
              <a:rPr lang="en-US" sz="1800" b="1" dirty="0">
                <a:solidFill>
                  <a:srgbClr val="00AEFF"/>
                </a:solidFill>
                <a:latin typeface="Noto Sans JP" pitchFamily="34" charset="0"/>
                <a:ea typeface="Noto Sans JP" pitchFamily="34" charset="-122"/>
                <a:cs typeface="Noto Sans JP" pitchFamily="34" charset="-120"/>
              </a:rPr>
              <a:t>AI駆動開発ノウハウの社内展開</a:t>
            </a:r>
            <a:endParaRPr lang="en-US" sz="1800" dirty="0"/>
          </a:p>
        </p:txBody>
      </p:sp>
      <p:sp>
        <p:nvSpPr>
          <p:cNvPr id="10" name="Text 7"/>
          <p:cNvSpPr txBox="1"/>
          <p:nvPr/>
        </p:nvSpPr>
        <p:spPr>
          <a:xfrm>
            <a:off x="1714500" y="2781605"/>
            <a:ext cx="9397289" cy="505663"/>
          </a:xfrm>
          <a:prstGeom prst="rect">
            <a:avLst/>
          </a:prstGeom>
          <a:noFill/>
          <a:ln/>
        </p:spPr>
        <p:txBody>
          <a:bodyPr wrap="square" lIns="0" tIns="0" rIns="0" bIns="0" rtlCol="0" anchor="ctr"/>
          <a:lstStyle/>
          <a:p>
            <a:pPr algn="l" indent="0" marL="0">
              <a:buNone/>
            </a:pPr>
            <a:r>
              <a:rPr lang="en-US" sz="1300" dirty="0">
                <a:solidFill>
                  <a:srgbClr val="FFFFFF">
                    <a:alpha val="90000"/>
                  </a:srgbClr>
                </a:solidFill>
                <a:latin typeface="Noto Sans JP" pitchFamily="34" charset="0"/>
                <a:ea typeface="Noto Sans JP" pitchFamily="34" charset="-122"/>
                <a:cs typeface="Noto Sans JP" pitchFamily="34" charset="-120"/>
              </a:rPr>
              <a:t>効率的な開発プロセスを全社に浸透させるため、コマンド体系の整備、専用ツールの開発、MCP（マスター・コンテキスト・プロンプト）による標準化を進め、誰でも同品質の開発が可能な環境を構築する</a:t>
            </a:r>
            <a:endParaRPr lang="en-US" sz="1300" dirty="0"/>
          </a:p>
        </p:txBody>
      </p:sp>
      <p:pic>
        <p:nvPicPr>
          <p:cNvPr id="11" name="Image 1" descr="preencoded.png">    </p:cNvPr>
          <p:cNvPicPr>
            <a:picLocks noChangeAspect="1"/>
          </p:cNvPicPr>
          <p:nvPr/>
        </p:nvPicPr>
        <p:blipFill>
          <a:blip r:embed="rId2"/>
          <a:srcRect l="0" r="0" t="0" b="0"/>
          <a:stretch/>
        </p:blipFill>
        <p:spPr>
          <a:xfrm>
            <a:off x="1086307" y="3810305"/>
            <a:ext cx="304495" cy="304495"/>
          </a:xfrm>
          <a:prstGeom prst="rect">
            <a:avLst/>
          </a:prstGeom>
        </p:spPr>
      </p:pic>
      <p:sp>
        <p:nvSpPr>
          <p:cNvPr id="12" name="Text 8"/>
          <p:cNvSpPr txBox="1"/>
          <p:nvPr/>
        </p:nvSpPr>
        <p:spPr>
          <a:xfrm>
            <a:off x="1714500" y="3676802"/>
            <a:ext cx="3829507" cy="333756"/>
          </a:xfrm>
          <a:prstGeom prst="rect">
            <a:avLst/>
          </a:prstGeom>
          <a:noFill/>
          <a:ln/>
        </p:spPr>
        <p:txBody>
          <a:bodyPr wrap="square" lIns="0" tIns="0" rIns="0" bIns="0" rtlCol="0" anchor="ctr"/>
          <a:lstStyle/>
          <a:p>
            <a:pPr algn="l" indent="0" marL="0">
              <a:buNone/>
            </a:pPr>
            <a:r>
              <a:rPr lang="en-US" sz="1800" b="1" dirty="0">
                <a:solidFill>
                  <a:srgbClr val="00AEFF"/>
                </a:solidFill>
                <a:latin typeface="Noto Sans JP" pitchFamily="34" charset="0"/>
                <a:ea typeface="Noto Sans JP" pitchFamily="34" charset="-122"/>
                <a:cs typeface="Noto Sans JP" pitchFamily="34" charset="-120"/>
              </a:rPr>
              <a:t>特定ドメイン知見のコンテキスト化</a:t>
            </a:r>
            <a:endParaRPr lang="en-US" sz="1800" dirty="0"/>
          </a:p>
        </p:txBody>
      </p:sp>
      <p:sp>
        <p:nvSpPr>
          <p:cNvPr id="13" name="Text 9"/>
          <p:cNvSpPr txBox="1"/>
          <p:nvPr/>
        </p:nvSpPr>
        <p:spPr>
          <a:xfrm>
            <a:off x="1714500" y="4990795"/>
            <a:ext cx="2915107" cy="333756"/>
          </a:xfrm>
          <a:prstGeom prst="rect">
            <a:avLst/>
          </a:prstGeom>
          <a:noFill/>
          <a:ln/>
        </p:spPr>
        <p:txBody>
          <a:bodyPr wrap="square" lIns="0" tIns="0" rIns="0" bIns="0" rtlCol="0" anchor="ctr"/>
          <a:lstStyle/>
          <a:p>
            <a:pPr algn="l" indent="0" marL="0">
              <a:buNone/>
            </a:pPr>
            <a:r>
              <a:rPr lang="en-US" sz="1800" b="1" dirty="0">
                <a:solidFill>
                  <a:srgbClr val="00AEFF"/>
                </a:solidFill>
                <a:latin typeface="Noto Sans JP" pitchFamily="34" charset="0"/>
                <a:ea typeface="Noto Sans JP" pitchFamily="34" charset="-122"/>
                <a:cs typeface="Noto Sans JP" pitchFamily="34" charset="-120"/>
              </a:rPr>
              <a:t>リスクマネジメントの強化</a:t>
            </a:r>
            <a:endParaRPr lang="en-US" sz="1800" dirty="0"/>
          </a:p>
        </p:txBody>
      </p:sp>
      <p:sp>
        <p:nvSpPr>
          <p:cNvPr id="14" name="Text 10"/>
          <p:cNvSpPr txBox="1"/>
          <p:nvPr/>
        </p:nvSpPr>
        <p:spPr>
          <a:xfrm>
            <a:off x="1714500" y="4095598"/>
            <a:ext cx="9606686" cy="505663"/>
          </a:xfrm>
          <a:prstGeom prst="rect">
            <a:avLst/>
          </a:prstGeom>
          <a:noFill/>
          <a:ln/>
        </p:spPr>
        <p:txBody>
          <a:bodyPr wrap="square" lIns="0" tIns="0" rIns="0" bIns="0" rtlCol="0" anchor="ctr"/>
          <a:lstStyle/>
          <a:p>
            <a:pPr algn="l" indent="0" marL="0">
              <a:buNone/>
            </a:pPr>
            <a:r>
              <a:rPr lang="en-US" sz="1300" dirty="0">
                <a:solidFill>
                  <a:srgbClr val="FFFFFF">
                    <a:alpha val="90000"/>
                  </a:srgbClr>
                </a:solidFill>
                <a:latin typeface="Noto Sans JP" pitchFamily="34" charset="0"/>
                <a:ea typeface="Noto Sans JP" pitchFamily="34" charset="-122"/>
                <a:cs typeface="Noto Sans JP" pitchFamily="34" charset="-120"/>
              </a:rPr>
              <a:t>業界・業務の専門知識を構造化されたコンテキストとして蓄積し、「顧客より顧客を理解する」状態を目指す。知識ベースを継続的に拡充することで、競合との差別化ポイントとなり、高付加価値サービスの基盤となる</a:t>
            </a:r>
            <a:endParaRPr lang="en-US" sz="1300" dirty="0"/>
          </a:p>
        </p:txBody>
      </p:sp>
      <p:pic>
        <p:nvPicPr>
          <p:cNvPr id="15" name="Image 2" descr="preencoded.png">    </p:cNvPr>
          <p:cNvPicPr>
            <a:picLocks noChangeAspect="1"/>
          </p:cNvPicPr>
          <p:nvPr/>
        </p:nvPicPr>
        <p:blipFill>
          <a:blip r:embed="rId3"/>
          <a:srcRect l="0" r="0" t="0" b="0"/>
          <a:stretch/>
        </p:blipFill>
        <p:spPr>
          <a:xfrm>
            <a:off x="1086307" y="5124298"/>
            <a:ext cx="304495" cy="304495"/>
          </a:xfrm>
          <a:prstGeom prst="rect">
            <a:avLst/>
          </a:prstGeom>
        </p:spPr>
      </p:pic>
      <p:sp>
        <p:nvSpPr>
          <p:cNvPr id="16" name="Text 11"/>
          <p:cNvSpPr txBox="1"/>
          <p:nvPr/>
        </p:nvSpPr>
        <p:spPr>
          <a:xfrm>
            <a:off x="1714500" y="5410505"/>
            <a:ext cx="9501530" cy="505663"/>
          </a:xfrm>
          <a:prstGeom prst="rect">
            <a:avLst/>
          </a:prstGeom>
          <a:noFill/>
          <a:ln/>
        </p:spPr>
        <p:txBody>
          <a:bodyPr wrap="square" lIns="0" tIns="0" rIns="0" bIns="0" rtlCol="0" anchor="ctr"/>
          <a:lstStyle/>
          <a:p>
            <a:pPr algn="l" indent="0" marL="0">
              <a:buNone/>
            </a:pPr>
            <a:r>
              <a:rPr lang="en-US" sz="1300" dirty="0">
                <a:solidFill>
                  <a:srgbClr val="FFFFFF">
                    <a:alpha val="90000"/>
                  </a:srgbClr>
                </a:solidFill>
                <a:latin typeface="Noto Sans JP" pitchFamily="34" charset="0"/>
                <a:ea typeface="Noto Sans JP" pitchFamily="34" charset="-122"/>
                <a:cs typeface="Noto Sans JP" pitchFamily="34" charset="-120"/>
              </a:rPr>
              <a:t>急速に変化するAI技術環境において、セキュリティ対策、コンプライアンス遵守、ライセンス管理、データガバナンス、システム可観測性の各分野で継続的な対策を実施し、事業継続性と信頼を確保する</a:t>
            </a:r>
            <a:endParaRPr lang="en-US" sz="1300" dirty="0"/>
          </a:p>
        </p:txBody>
      </p:sp>
      <p:sp>
        <p:nvSpPr>
          <p:cNvPr id="17" name="Text 12"/>
          <p:cNvSpPr txBox="1"/>
          <p:nvPr/>
        </p:nvSpPr>
        <p:spPr>
          <a:xfrm>
            <a:off x="10109606" y="6648602"/>
            <a:ext cx="1424635" cy="191110"/>
          </a:xfrm>
          <a:prstGeom prst="rect">
            <a:avLst/>
          </a:prstGeom>
          <a:noFill/>
          <a:ln/>
        </p:spPr>
        <p:txBody>
          <a:bodyPr wrap="square" lIns="0" tIns="0" rIns="0" bIns="0" rtlCol="0" anchor="ctr"/>
          <a:lstStyle/>
          <a:p>
            <a:pPr algn="r" indent="0" marL="0">
              <a:buNone/>
            </a:pPr>
            <a:r>
              <a:rPr lang="en-US" sz="1000" dirty="0">
                <a:solidFill>
                  <a:srgbClr val="FFFFFF">
                    <a:alpha val="50000"/>
                  </a:srgbClr>
                </a:solidFill>
                <a:latin typeface="Noto Sans JP" pitchFamily="34" charset="0"/>
                <a:ea typeface="Noto Sans JP" pitchFamily="34" charset="-122"/>
                <a:cs typeface="Noto Sans JP" pitchFamily="34" charset="-120"/>
              </a:rPr>
              <a:t>AI駆動開発のその先へ</a:t>
            </a:r>
            <a:endParaRPr lang="en-US" sz="1000" dirty="0"/>
          </a:p>
        </p:txBody>
      </p:sp>
      <p:sp>
        <p:nvSpPr>
          <p:cNvPr id="18" name="Shape 13"/>
          <p:cNvSpPr/>
          <p:nvPr/>
        </p:nvSpPr>
        <p:spPr>
          <a:xfrm>
            <a:off x="9810598" y="4619549"/>
            <a:ext cx="3810305" cy="3810305"/>
          </a:xfrm>
          <a:prstGeom prst="ellipse">
            <a:avLst/>
          </a:prstGeom>
          <a:solidFill>
            <a:srgbClr val="00AEFF">
              <a:alpha val="5000"/>
            </a:srgbClr>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8257946"/>
          </a:xfrm>
          <a:prstGeom prst="rect">
            <a:avLst/>
          </a:prstGeom>
          <a:solidFill>
            <a:srgbClr val="0A1930"/>
          </a:solidFill>
          <a:ln/>
        </p:spPr>
      </p:sp>
      <p:sp>
        <p:nvSpPr>
          <p:cNvPr id="3" name="Text 1"/>
          <p:cNvSpPr txBox="1"/>
          <p:nvPr/>
        </p:nvSpPr>
        <p:spPr>
          <a:xfrm>
            <a:off x="761695" y="485546"/>
            <a:ext cx="4681728" cy="581558"/>
          </a:xfrm>
          <a:prstGeom prst="rect">
            <a:avLst/>
          </a:prstGeom>
          <a:noFill/>
          <a:ln/>
        </p:spPr>
        <p:txBody>
          <a:bodyPr wrap="square" lIns="0" tIns="0" rIns="0" bIns="0" rtlCol="0" anchor="ctr"/>
          <a:lstStyle/>
          <a:p>
            <a:pPr algn="l" indent="0" marL="0">
              <a:buNone/>
            </a:pPr>
            <a:r>
              <a:rPr lang="en-US" sz="3100" b="1" dirty="0">
                <a:solidFill>
                  <a:srgbClr val="FFFFFF"/>
                </a:solidFill>
                <a:latin typeface="Noto Sans JP" pitchFamily="34" charset="0"/>
                <a:ea typeface="Noto Sans JP" pitchFamily="34" charset="-122"/>
                <a:cs typeface="Noto Sans JP" pitchFamily="34" charset="-120"/>
              </a:rPr>
              <a:t>まとめと次のアクション</a:t>
            </a:r>
            <a:endParaRPr lang="en-US" sz="3100" dirty="0"/>
          </a:p>
        </p:txBody>
      </p:sp>
      <p:sp>
        <p:nvSpPr>
          <p:cNvPr id="4" name="Shape 2"/>
          <p:cNvSpPr/>
          <p:nvPr/>
        </p:nvSpPr>
        <p:spPr>
          <a:xfrm>
            <a:off x="952805" y="1742846"/>
            <a:ext cx="381305" cy="381305"/>
          </a:xfrm>
          <a:prstGeom prst="roundRect">
            <a:avLst>
              <a:gd name="adj" fmla="val 47962"/>
            </a:avLst>
          </a:prstGeom>
          <a:solidFill>
            <a:srgbClr val="00AEFF">
              <a:alpha val="20000"/>
            </a:srgbClr>
          </a:solidFill>
          <a:ln/>
        </p:spPr>
      </p:sp>
      <p:pic>
        <p:nvPicPr>
          <p:cNvPr id="5" name="Image 0" descr="preencoded.png">    </p:cNvPr>
          <p:cNvPicPr>
            <a:picLocks noChangeAspect="1"/>
          </p:cNvPicPr>
          <p:nvPr/>
        </p:nvPicPr>
        <p:blipFill>
          <a:blip r:embed="rId1"/>
          <a:srcRect l="-1016667" r="-1016667" t="0" b="0"/>
          <a:stretch/>
        </p:blipFill>
        <p:spPr>
          <a:xfrm>
            <a:off x="1033272" y="1928470"/>
            <a:ext cx="219456" cy="9144"/>
          </a:xfrm>
          <a:prstGeom prst="rect">
            <a:avLst/>
          </a:prstGeom>
        </p:spPr>
      </p:pic>
      <p:sp>
        <p:nvSpPr>
          <p:cNvPr id="6" name="Shape 3"/>
          <p:cNvSpPr/>
          <p:nvPr/>
        </p:nvSpPr>
        <p:spPr>
          <a:xfrm>
            <a:off x="952805" y="3351276"/>
            <a:ext cx="381305" cy="381305"/>
          </a:xfrm>
          <a:prstGeom prst="roundRect">
            <a:avLst>
              <a:gd name="adj" fmla="val 47962"/>
            </a:avLst>
          </a:prstGeom>
          <a:solidFill>
            <a:srgbClr val="00AEFF">
              <a:alpha val="20000"/>
            </a:srgbClr>
          </a:solidFill>
          <a:ln/>
        </p:spPr>
      </p:sp>
      <p:sp>
        <p:nvSpPr>
          <p:cNvPr id="7" name="Shape 4"/>
          <p:cNvSpPr/>
          <p:nvPr/>
        </p:nvSpPr>
        <p:spPr>
          <a:xfrm>
            <a:off x="952805" y="4699102"/>
            <a:ext cx="381305" cy="381305"/>
          </a:xfrm>
          <a:prstGeom prst="roundRect">
            <a:avLst>
              <a:gd name="adj" fmla="val 47962"/>
            </a:avLst>
          </a:prstGeom>
          <a:solidFill>
            <a:srgbClr val="00AEFF">
              <a:alpha val="20000"/>
            </a:srgbClr>
          </a:solidFill>
          <a:ln/>
        </p:spPr>
      </p:sp>
      <p:sp>
        <p:nvSpPr>
          <p:cNvPr id="8" name="Text 5"/>
          <p:cNvSpPr txBox="1"/>
          <p:nvPr/>
        </p:nvSpPr>
        <p:spPr>
          <a:xfrm>
            <a:off x="1485900" y="1742846"/>
            <a:ext cx="2448763" cy="333756"/>
          </a:xfrm>
          <a:prstGeom prst="rect">
            <a:avLst/>
          </a:prstGeom>
          <a:no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AI駆動開発の成功要諦</a:t>
            </a:r>
            <a:endParaRPr lang="en-US" sz="1800" dirty="0"/>
          </a:p>
        </p:txBody>
      </p:sp>
      <p:sp>
        <p:nvSpPr>
          <p:cNvPr id="9" name="Text 6"/>
          <p:cNvSpPr txBox="1"/>
          <p:nvPr/>
        </p:nvSpPr>
        <p:spPr>
          <a:xfrm>
            <a:off x="1485900" y="3351276"/>
            <a:ext cx="1086307" cy="333756"/>
          </a:xfrm>
          <a:prstGeom prst="rect">
            <a:avLst/>
          </a:prstGeom>
          <a:no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組織要件</a:t>
            </a:r>
            <a:endParaRPr lang="en-US" sz="1800" dirty="0"/>
          </a:p>
        </p:txBody>
      </p:sp>
      <p:sp>
        <p:nvSpPr>
          <p:cNvPr id="10" name="Text 7"/>
          <p:cNvSpPr txBox="1"/>
          <p:nvPr/>
        </p:nvSpPr>
        <p:spPr>
          <a:xfrm>
            <a:off x="1485900" y="4699102"/>
            <a:ext cx="2229307" cy="333756"/>
          </a:xfrm>
          <a:prstGeom prst="rect">
            <a:avLst/>
          </a:prstGeom>
          <a:noFill/>
          <a:ln/>
        </p:spPr>
        <p:txBody>
          <a:bodyPr wrap="square" lIns="0" tIns="0" rIns="0" bIns="0" rtlCol="0" anchor="ctr"/>
          <a:lstStyle/>
          <a:p>
            <a:pPr algn="l" indent="0" marL="0">
              <a:buNone/>
            </a:pPr>
            <a:r>
              <a:rPr lang="en-US" sz="1800" b="1" dirty="0">
                <a:solidFill>
                  <a:srgbClr val="FFFFFF"/>
                </a:solidFill>
                <a:latin typeface="Noto Sans JP" pitchFamily="34" charset="0"/>
                <a:ea typeface="Noto Sans JP" pitchFamily="34" charset="-122"/>
                <a:cs typeface="Noto Sans JP" pitchFamily="34" charset="-120"/>
              </a:rPr>
              <a:t>まずは小さく始める</a:t>
            </a:r>
            <a:endParaRPr lang="en-US" sz="1800" dirty="0"/>
          </a:p>
        </p:txBody>
      </p:sp>
      <p:sp>
        <p:nvSpPr>
          <p:cNvPr id="11" name="Shape 8"/>
          <p:cNvSpPr/>
          <p:nvPr/>
        </p:nvSpPr>
        <p:spPr>
          <a:xfrm>
            <a:off x="1485900" y="2162556"/>
            <a:ext cx="3152851" cy="381305"/>
          </a:xfrm>
          <a:prstGeom prst="rect">
            <a:avLst/>
          </a:prstGeom>
          <a:solidFill>
            <a:srgbClr val="00AEFF">
              <a:alpha val="10000"/>
            </a:srgbClr>
          </a:solidFill>
          <a:ln/>
        </p:spPr>
      </p:sp>
      <p:sp>
        <p:nvSpPr>
          <p:cNvPr id="12" name="Shape 9"/>
          <p:cNvSpPr/>
          <p:nvPr/>
        </p:nvSpPr>
        <p:spPr>
          <a:xfrm>
            <a:off x="1485900" y="2162556"/>
            <a:ext cx="28346" cy="381305"/>
          </a:xfrm>
          <a:prstGeom prst="rect">
            <a:avLst/>
          </a:prstGeom>
          <a:solidFill>
            <a:srgbClr val="00AEFF"/>
          </a:solidFill>
          <a:ln/>
        </p:spPr>
      </p:sp>
      <p:sp>
        <p:nvSpPr>
          <p:cNvPr id="13" name="Shape 10"/>
          <p:cNvSpPr/>
          <p:nvPr/>
        </p:nvSpPr>
        <p:spPr>
          <a:xfrm>
            <a:off x="4787798" y="2162556"/>
            <a:ext cx="3152851" cy="381305"/>
          </a:xfrm>
          <a:prstGeom prst="rect">
            <a:avLst/>
          </a:prstGeom>
          <a:solidFill>
            <a:srgbClr val="00AEFF">
              <a:alpha val="10000"/>
            </a:srgbClr>
          </a:solidFill>
          <a:ln/>
        </p:spPr>
      </p:sp>
      <p:sp>
        <p:nvSpPr>
          <p:cNvPr id="14" name="Shape 11"/>
          <p:cNvSpPr/>
          <p:nvPr/>
        </p:nvSpPr>
        <p:spPr>
          <a:xfrm>
            <a:off x="4787798" y="2162556"/>
            <a:ext cx="28346" cy="381305"/>
          </a:xfrm>
          <a:prstGeom prst="rect">
            <a:avLst/>
          </a:prstGeom>
          <a:solidFill>
            <a:srgbClr val="00AEFF"/>
          </a:solidFill>
          <a:ln/>
        </p:spPr>
      </p:sp>
      <p:sp>
        <p:nvSpPr>
          <p:cNvPr id="15" name="Shape 12"/>
          <p:cNvSpPr/>
          <p:nvPr/>
        </p:nvSpPr>
        <p:spPr>
          <a:xfrm>
            <a:off x="8089697" y="2162556"/>
            <a:ext cx="3152851" cy="381305"/>
          </a:xfrm>
          <a:prstGeom prst="rect">
            <a:avLst/>
          </a:prstGeom>
          <a:solidFill>
            <a:srgbClr val="00AEFF">
              <a:alpha val="10000"/>
            </a:srgbClr>
          </a:solidFill>
          <a:ln/>
        </p:spPr>
      </p:sp>
      <p:sp>
        <p:nvSpPr>
          <p:cNvPr id="16" name="Shape 13"/>
          <p:cNvSpPr/>
          <p:nvPr/>
        </p:nvSpPr>
        <p:spPr>
          <a:xfrm>
            <a:off x="8089697" y="2162556"/>
            <a:ext cx="28346" cy="381305"/>
          </a:xfrm>
          <a:prstGeom prst="rect">
            <a:avLst/>
          </a:prstGeom>
          <a:solidFill>
            <a:srgbClr val="00AEFF"/>
          </a:solidFill>
          <a:ln/>
        </p:spPr>
      </p:sp>
      <p:sp>
        <p:nvSpPr>
          <p:cNvPr id="17" name="Text 14"/>
          <p:cNvSpPr txBox="1"/>
          <p:nvPr/>
        </p:nvSpPr>
        <p:spPr>
          <a:xfrm>
            <a:off x="1666951" y="2238451"/>
            <a:ext cx="734263" cy="228600"/>
          </a:xfrm>
          <a:prstGeom prst="rect">
            <a:avLst/>
          </a:prstGeom>
          <a:noFill/>
          <a:ln/>
        </p:spPr>
        <p:txBody>
          <a:bodyPr wrap="square" lIns="0" tIns="0" rIns="0" bIns="0" rtlCol="0" anchor="ctr"/>
          <a:lstStyle/>
          <a:p>
            <a:pPr algn="l" indent="0" marL="0">
              <a:buNone/>
            </a:pPr>
            <a:r>
              <a:rPr lang="en-US" sz="1200" dirty="0">
                <a:solidFill>
                  <a:srgbClr val="FFFFFF"/>
                </a:solidFill>
                <a:latin typeface="Noto Sans JP" pitchFamily="34" charset="0"/>
                <a:ea typeface="Noto Sans JP" pitchFamily="34" charset="-122"/>
                <a:cs typeface="Noto Sans JP" pitchFamily="34" charset="-120"/>
              </a:rPr>
              <a:t>設計偏重</a:t>
            </a:r>
            <a:endParaRPr lang="en-US" sz="1200" dirty="0"/>
          </a:p>
        </p:txBody>
      </p:sp>
      <p:sp>
        <p:nvSpPr>
          <p:cNvPr id="18" name="Text 15"/>
          <p:cNvSpPr txBox="1"/>
          <p:nvPr/>
        </p:nvSpPr>
        <p:spPr>
          <a:xfrm>
            <a:off x="4968850" y="2238451"/>
            <a:ext cx="1038758" cy="228600"/>
          </a:xfrm>
          <a:prstGeom prst="rect">
            <a:avLst/>
          </a:prstGeom>
          <a:noFill/>
          <a:ln/>
        </p:spPr>
        <p:txBody>
          <a:bodyPr wrap="square" lIns="0" tIns="0" rIns="0" bIns="0" rtlCol="0" anchor="ctr"/>
          <a:lstStyle/>
          <a:p>
            <a:pPr algn="l" indent="0" marL="0">
              <a:buNone/>
            </a:pPr>
            <a:r>
              <a:rPr lang="en-US" sz="1200" dirty="0">
                <a:solidFill>
                  <a:srgbClr val="FFFFFF"/>
                </a:solidFill>
                <a:latin typeface="Noto Sans JP" pitchFamily="34" charset="0"/>
                <a:ea typeface="Noto Sans JP" pitchFamily="34" charset="-122"/>
                <a:cs typeface="Noto Sans JP" pitchFamily="34" charset="-120"/>
              </a:rPr>
              <a:t>段階的複雑化</a:t>
            </a:r>
            <a:endParaRPr lang="en-US" sz="1200" dirty="0"/>
          </a:p>
        </p:txBody>
      </p:sp>
      <p:sp>
        <p:nvSpPr>
          <p:cNvPr id="19" name="Text 16"/>
          <p:cNvSpPr txBox="1"/>
          <p:nvPr/>
        </p:nvSpPr>
        <p:spPr>
          <a:xfrm>
            <a:off x="8270748" y="2238451"/>
            <a:ext cx="1791310" cy="228600"/>
          </a:xfrm>
          <a:prstGeom prst="rect">
            <a:avLst/>
          </a:prstGeom>
          <a:noFill/>
          <a:ln/>
        </p:spPr>
        <p:txBody>
          <a:bodyPr wrap="square" lIns="0" tIns="0" rIns="0" bIns="0" rtlCol="0" anchor="ctr"/>
          <a:lstStyle/>
          <a:p>
            <a:pPr algn="l" indent="0" marL="0">
              <a:buNone/>
            </a:pPr>
            <a:r>
              <a:rPr lang="en-US" sz="1200" dirty="0">
                <a:solidFill>
                  <a:srgbClr val="FFFFFF"/>
                </a:solidFill>
                <a:latin typeface="Noto Sans JP" pitchFamily="34" charset="0"/>
                <a:ea typeface="Noto Sans JP" pitchFamily="34" charset="-122"/>
                <a:cs typeface="Noto Sans JP" pitchFamily="34" charset="-120"/>
              </a:rPr>
              <a:t>コードコンテキスト駆動</a:t>
            </a:r>
            <a:endParaRPr lang="en-US" sz="1200" dirty="0"/>
          </a:p>
        </p:txBody>
      </p:sp>
      <p:sp>
        <p:nvSpPr>
          <p:cNvPr id="20" name="Text 17"/>
          <p:cNvSpPr txBox="1"/>
          <p:nvPr/>
        </p:nvSpPr>
        <p:spPr>
          <a:xfrm>
            <a:off x="1485900" y="2704795"/>
            <a:ext cx="8006486" cy="247802"/>
          </a:xfrm>
          <a:prstGeom prst="rect">
            <a:avLst/>
          </a:prstGeom>
          <a:noFill/>
          <a:ln/>
        </p:spPr>
        <p:txBody>
          <a:bodyPr wrap="square" lIns="0" tIns="0" rIns="0" bIns="0" rtlCol="0" anchor="ctr"/>
          <a:lstStyle/>
          <a:p>
            <a:pPr algn="l" indent="0" marL="0">
              <a:buNone/>
            </a:pPr>
            <a:r>
              <a:rPr lang="en-US" sz="1300" dirty="0">
                <a:solidFill>
                  <a:srgbClr val="FFFFFF">
                    <a:alpha val="80000"/>
                  </a:srgbClr>
                </a:solidFill>
                <a:latin typeface="Noto Sans JP" pitchFamily="34" charset="0"/>
                <a:ea typeface="Noto Sans JP" pitchFamily="34" charset="-122"/>
                <a:cs typeface="Noto Sans JP" pitchFamily="34" charset="-120"/>
              </a:rPr>
              <a:t>明確な設計を前提に、複雑性を段階的に高めながら、実コードをコンテキストとして活用する開発手法</a:t>
            </a:r>
            <a:endParaRPr lang="en-US" sz="1300" dirty="0"/>
          </a:p>
        </p:txBody>
      </p:sp>
      <p:pic>
        <p:nvPicPr>
          <p:cNvPr id="21" name="Image 1" descr="preencoded.png">    </p:cNvPr>
          <p:cNvPicPr>
            <a:picLocks noChangeAspect="1"/>
          </p:cNvPicPr>
          <p:nvPr/>
        </p:nvPicPr>
        <p:blipFill>
          <a:blip r:embed="rId2"/>
          <a:srcRect l="-989999" r="-989999" t="0" b="0"/>
          <a:stretch/>
        </p:blipFill>
        <p:spPr>
          <a:xfrm>
            <a:off x="1024128" y="3536899"/>
            <a:ext cx="237744" cy="9144"/>
          </a:xfrm>
          <a:prstGeom prst="rect">
            <a:avLst/>
          </a:prstGeom>
        </p:spPr>
      </p:pic>
      <p:sp>
        <p:nvSpPr>
          <p:cNvPr id="22" name="Text 18"/>
          <p:cNvSpPr txBox="1"/>
          <p:nvPr/>
        </p:nvSpPr>
        <p:spPr>
          <a:xfrm>
            <a:off x="1485900" y="3779215"/>
            <a:ext cx="9882835" cy="523951"/>
          </a:xfrm>
          <a:prstGeom prst="rect">
            <a:avLst/>
          </a:prstGeom>
          <a:noFill/>
          <a:ln/>
        </p:spPr>
        <p:txBody>
          <a:bodyPr wrap="square" lIns="0" tIns="0" rIns="0" bIns="0" rtlCol="0" anchor="ctr"/>
          <a:lstStyle/>
          <a:p>
            <a:pPr algn="l" indent="0" marL="0">
              <a:buNone/>
            </a:pPr>
            <a:r>
              <a:rPr lang="en-US" sz="1300" dirty="0">
                <a:solidFill>
                  <a:srgbClr val="FFFFFF">
                    <a:alpha val="80000"/>
                  </a:srgbClr>
                </a:solidFill>
                <a:latin typeface="Noto Sans JP" pitchFamily="34" charset="0"/>
                <a:ea typeface="Noto Sans JP" pitchFamily="34" charset="-122"/>
                <a:cs typeface="Noto Sans JP" pitchFamily="34" charset="-120"/>
              </a:rPr>
              <a:t>AI生成パイプラインと役割定義を明確化することで品質を再現可能にする。責任範囲と成果物を明確にし、チーム全体での協調を実現</a:t>
            </a:r>
            <a:endParaRPr lang="en-US" sz="1300" dirty="0"/>
          </a:p>
        </p:txBody>
      </p:sp>
      <p:pic>
        <p:nvPicPr>
          <p:cNvPr id="23" name="Image 2" descr="preencoded.png">    </p:cNvPr>
          <p:cNvPicPr>
            <a:picLocks noChangeAspect="1"/>
          </p:cNvPicPr>
          <p:nvPr/>
        </p:nvPicPr>
        <p:blipFill>
          <a:blip r:embed="rId3"/>
          <a:srcRect l="-989999" r="-989999" t="0" b="0"/>
          <a:stretch/>
        </p:blipFill>
        <p:spPr>
          <a:xfrm>
            <a:off x="1047902" y="4885639"/>
            <a:ext cx="190195" cy="9144"/>
          </a:xfrm>
          <a:prstGeom prst="rect">
            <a:avLst/>
          </a:prstGeom>
        </p:spPr>
      </p:pic>
      <p:sp>
        <p:nvSpPr>
          <p:cNvPr id="24" name="Text 19"/>
          <p:cNvSpPr txBox="1"/>
          <p:nvPr/>
        </p:nvSpPr>
        <p:spPr>
          <a:xfrm>
            <a:off x="1485900" y="5127955"/>
            <a:ext cx="9825228" cy="523951"/>
          </a:xfrm>
          <a:prstGeom prst="rect">
            <a:avLst/>
          </a:prstGeom>
          <a:noFill/>
          <a:ln/>
        </p:spPr>
        <p:txBody>
          <a:bodyPr wrap="square" lIns="0" tIns="0" rIns="0" bIns="0" rtlCol="0" anchor="ctr"/>
          <a:lstStyle/>
          <a:p>
            <a:pPr algn="l" indent="0" marL="0">
              <a:buNone/>
            </a:pPr>
            <a:r>
              <a:rPr lang="en-US" sz="1300" dirty="0">
                <a:solidFill>
                  <a:srgbClr val="FFFFFF">
                    <a:alpha val="80000"/>
                  </a:srgbClr>
                </a:solidFill>
                <a:latin typeface="Noto Sans JP" pitchFamily="34" charset="0"/>
                <a:ea typeface="Noto Sans JP" pitchFamily="34" charset="-122"/>
                <a:cs typeface="Noto Sans JP" pitchFamily="34" charset="-120"/>
              </a:rPr>
              <a:t>小規模なPoCから始め、成功事例を蓄積・スケール。社内標準の整備とリスク対策（セキュリティ/ライセンス/可観測性）の常態化を並行して進める</a:t>
            </a:r>
            <a:endParaRPr lang="en-US" sz="1300" dirty="0"/>
          </a:p>
        </p:txBody>
      </p:sp>
      <p:sp>
        <p:nvSpPr>
          <p:cNvPr id="25" name="Shape 20"/>
          <p:cNvSpPr/>
          <p:nvPr/>
        </p:nvSpPr>
        <p:spPr>
          <a:xfrm>
            <a:off x="952805" y="6334049"/>
            <a:ext cx="10287000" cy="847649"/>
          </a:xfrm>
          <a:prstGeom prst="roundRect">
            <a:avLst>
              <a:gd name="adj" fmla="val 9697"/>
            </a:avLst>
          </a:prstGeom>
          <a:solidFill>
            <a:srgbClr val="FFFFFF">
              <a:alpha val="5000"/>
            </a:srgbClr>
          </a:solidFill>
          <a:ln/>
        </p:spPr>
      </p:sp>
      <p:sp>
        <p:nvSpPr>
          <p:cNvPr id="26" name="Shape 21"/>
          <p:cNvSpPr/>
          <p:nvPr/>
        </p:nvSpPr>
        <p:spPr>
          <a:xfrm>
            <a:off x="1181405" y="6565392"/>
            <a:ext cx="381305" cy="381305"/>
          </a:xfrm>
          <a:prstGeom prst="roundRect">
            <a:avLst>
              <a:gd name="adj" fmla="val 47962"/>
            </a:avLst>
          </a:prstGeom>
          <a:solidFill>
            <a:srgbClr val="00AEFF">
              <a:alpha val="20000"/>
            </a:srgbClr>
          </a:solidFill>
          <a:ln/>
        </p:spPr>
      </p:sp>
      <p:pic>
        <p:nvPicPr>
          <p:cNvPr id="27" name="Image 3" descr="preencoded.png">    </p:cNvPr>
          <p:cNvPicPr>
            <a:picLocks noChangeAspect="1"/>
          </p:cNvPicPr>
          <p:nvPr/>
        </p:nvPicPr>
        <p:blipFill>
          <a:blip r:embed="rId4"/>
          <a:srcRect l="-989999" r="-989999" t="0" b="0"/>
          <a:stretch/>
        </p:blipFill>
        <p:spPr>
          <a:xfrm>
            <a:off x="1276502" y="6751015"/>
            <a:ext cx="190195" cy="9144"/>
          </a:xfrm>
          <a:prstGeom prst="rect">
            <a:avLst/>
          </a:prstGeom>
        </p:spPr>
      </p:pic>
      <p:sp>
        <p:nvSpPr>
          <p:cNvPr id="28" name="Text 22"/>
          <p:cNvSpPr txBox="1"/>
          <p:nvPr/>
        </p:nvSpPr>
        <p:spPr>
          <a:xfrm>
            <a:off x="1714500" y="6486754"/>
            <a:ext cx="1157630" cy="247802"/>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お問い合わせ</a:t>
            </a:r>
            <a:endParaRPr lang="en-US" sz="1300" dirty="0"/>
          </a:p>
        </p:txBody>
      </p:sp>
      <p:sp>
        <p:nvSpPr>
          <p:cNvPr id="29" name="Text 23"/>
          <p:cNvSpPr txBox="1"/>
          <p:nvPr/>
        </p:nvSpPr>
        <p:spPr>
          <a:xfrm>
            <a:off x="1714500" y="6782105"/>
            <a:ext cx="1362456" cy="228600"/>
          </a:xfrm>
          <a:prstGeom prst="rect">
            <a:avLst/>
          </a:prstGeom>
          <a:noFill/>
          <a:ln/>
        </p:spPr>
        <p:txBody>
          <a:bodyPr wrap="square" lIns="0" tIns="0" rIns="0" bIns="0" rtlCol="0" anchor="ctr"/>
          <a:lstStyle/>
          <a:p>
            <a:pPr algn="l" indent="0" marL="0">
              <a:buNone/>
            </a:pPr>
            <a:r>
              <a:rPr lang="en-US" sz="1200" dirty="0">
                <a:solidFill>
                  <a:srgbClr val="FFFFFF">
                    <a:alpha val="80000"/>
                  </a:srgbClr>
                </a:solidFill>
                <a:latin typeface="Noto Sans JP" pitchFamily="34" charset="0"/>
                <a:ea typeface="Noto Sans JP" pitchFamily="34" charset="-122"/>
                <a:cs typeface="Noto Sans JP" pitchFamily="34" charset="-120"/>
              </a:rPr>
              <a:t>ランスティア 熊井</a:t>
            </a:r>
            <a:endParaRPr lang="en-US" sz="1200" dirty="0"/>
          </a:p>
        </p:txBody>
      </p:sp>
      <p:sp>
        <p:nvSpPr>
          <p:cNvPr id="30" name="Text 24"/>
          <p:cNvSpPr txBox="1"/>
          <p:nvPr/>
        </p:nvSpPr>
        <p:spPr>
          <a:xfrm>
            <a:off x="10109606" y="7901330"/>
            <a:ext cx="1424635" cy="191110"/>
          </a:xfrm>
          <a:prstGeom prst="rect">
            <a:avLst/>
          </a:prstGeom>
          <a:noFill/>
          <a:ln/>
        </p:spPr>
        <p:txBody>
          <a:bodyPr wrap="square" lIns="0" tIns="0" rIns="0" bIns="0" rtlCol="0" anchor="ctr"/>
          <a:lstStyle/>
          <a:p>
            <a:pPr algn="r" indent="0" marL="0">
              <a:buNone/>
            </a:pPr>
            <a:r>
              <a:rPr lang="en-US" sz="1000" dirty="0">
                <a:solidFill>
                  <a:srgbClr val="FFFFFF">
                    <a:alpha val="50000"/>
                  </a:srgbClr>
                </a:solidFill>
                <a:latin typeface="Noto Sans JP" pitchFamily="34" charset="0"/>
                <a:ea typeface="Noto Sans JP" pitchFamily="34" charset="-122"/>
                <a:cs typeface="Noto Sans JP" pitchFamily="34" charset="-120"/>
              </a:rPr>
              <a:t>AI駆動開発のその先へ</a:t>
            </a:r>
            <a:endParaRPr lang="en-US" sz="1000" dirty="0"/>
          </a:p>
        </p:txBody>
      </p:sp>
      <p:sp>
        <p:nvSpPr>
          <p:cNvPr id="31" name="Shape 25"/>
          <p:cNvSpPr/>
          <p:nvPr/>
        </p:nvSpPr>
        <p:spPr>
          <a:xfrm>
            <a:off x="9810598" y="5873191"/>
            <a:ext cx="3810305" cy="3810305"/>
          </a:xfrm>
          <a:prstGeom prst="ellipse">
            <a:avLst/>
          </a:prstGeom>
          <a:solidFill>
            <a:srgbClr val="00AEFF">
              <a:alpha val="5000"/>
            </a:srgbClr>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2025-11-04T02:07:47Z</dcterms:created>
  <dcterms:modified xsi:type="dcterms:W3CDTF">2025-11-04T02:07:47Z</dcterms:modified>
</cp:coreProperties>
</file>