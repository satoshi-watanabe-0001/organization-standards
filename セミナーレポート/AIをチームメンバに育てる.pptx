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571500"/>
            <a:ext cx="2286000" cy="2286000"/>
          </a:xfrm>
          <a:prstGeom prst="ellipse">
            <a:avLst/>
          </a:prstGeom>
          <a:noFill/>
          <a:ln w="50800">
            <a:solidFill>
              <a:srgbClr val="0078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4762195"/>
            <a:ext cx="1143000" cy="1143000"/>
          </a:xfrm>
          <a:prstGeom prst="ellipse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305" y="4381805"/>
            <a:ext cx="761695" cy="761695"/>
          </a:xfrm>
          <a:prstGeom prst="ellipse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98471" y="1433779"/>
            <a:ext cx="78300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AIをチームメンバーに育てる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4281221" y="2671877"/>
            <a:ext cx="3867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株式会社ネクストスケープ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67605" y="3347618"/>
            <a:ext cx="2229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登壇者：柳井、内島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4934102" y="4643323"/>
            <a:ext cx="267005" cy="30449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90" r="-90" t="0" b="0"/>
          <a:stretch/>
        </p:blipFill>
        <p:spPr>
          <a:xfrm>
            <a:off x="5505602" y="4643323"/>
            <a:ext cx="381305" cy="30449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90" r="-90" t="0" b="0"/>
          <a:stretch/>
        </p:blipFill>
        <p:spPr>
          <a:xfrm>
            <a:off x="6191402" y="4643323"/>
            <a:ext cx="381305" cy="30449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6877202" y="4643323"/>
            <a:ext cx="381305" cy="30449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838505"/>
            <a:ext cx="1524305" cy="1524305"/>
          </a:xfrm>
          <a:prstGeom prst="ellipse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305" y="4200754"/>
            <a:ext cx="952805" cy="952805"/>
          </a:xfrm>
          <a:prstGeom prst="ellipse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228393"/>
            <a:ext cx="1267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3123590"/>
            <a:ext cx="33439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AIをチームの一員として育てるための実践と知見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04995" y="1000354"/>
            <a:ext cx="30723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事例紹介：実案件でAI駆動開発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04995" y="1485900"/>
            <a:ext cx="30623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チームメンバーとしてのAI育成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04995" y="1971446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直面した課題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04995" y="2457907"/>
            <a:ext cx="24341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AI導入で意識すべきこと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04995" y="2943454"/>
            <a:ext cx="24725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実践例：活用環境の構築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04995" y="3429000"/>
            <a:ext cx="26819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既存プロジェクトへの適用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04995" y="3914546"/>
            <a:ext cx="18150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AI駆動開発の課題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04995" y="4401007"/>
            <a:ext cx="16056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AIは育てるもの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304995" y="4886554"/>
            <a:ext cx="7955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30102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事例紹介：実案件でAI駆動開発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04046" r="-104046" t="0" b="0"/>
          <a:stretch/>
        </p:blipFill>
        <p:spPr>
          <a:xfrm>
            <a:off x="571500" y="2286000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328623"/>
            <a:ext cx="748253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某企業向けデジタルプラットフォーム開発（要件定義は別ベンダーから引き継ぎ）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3586277"/>
            <a:ext cx="40626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CursorRulesのカスタマイズを活発に運用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4071823"/>
            <a:ext cx="46341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既存資産：Excel仕様書、フロントエンドコード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4557370"/>
            <a:ext cx="41202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目的：AI駆動開発を本格導入し生産性向上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2128723"/>
            <a:ext cx="31199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規模：30名程度、モノレポ構成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90695" y="2614270"/>
            <a:ext cx="518647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基盤：Azure、Azure DevOpsによるプロジェクト管理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190695" y="3100730"/>
            <a:ext cx="49679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生成AIツール：Cursor、ChatGPT、GitHub Copilot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299100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チームメンバーとしてのAI育成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42557" r="-142557" t="0" b="0"/>
          <a:stretch/>
        </p:blipFill>
        <p:spPr>
          <a:xfrm>
            <a:off x="571500" y="2286000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171346"/>
            <a:ext cx="631118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Azure知識の学習：Microsoft Learn MCP Serverで技術基盤を習得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1657807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プロジェクト知識の付与：Azure DevOps MCP Serverでプロジェクト特有の情報を学習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2457907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プロジェクトに即した行動：CursorRules、Copilot Instructionsのカスタマイズ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3258007"/>
            <a:ext cx="47768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Awesome GitHub Copilot Customizationsの活用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3743554"/>
            <a:ext cx="49679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カスタマイズ用プロンプトの導入と管理体制の構築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90695" y="4229100"/>
            <a:ext cx="71679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設計書の読み込み→実装支援：SharePoint上のExcel仕様書をMarkdown化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190695" y="4714646"/>
            <a:ext cx="57296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Cursor＋AzureDevOps MCPで実装用仕様書・計画書を作成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23244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直面した課題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42557" r="-142557" t="0" b="0"/>
          <a:stretch/>
        </p:blipFill>
        <p:spPr>
          <a:xfrm>
            <a:off x="571500" y="1772107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657807"/>
            <a:ext cx="54059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思ったほど効率化が進まない（短期では効果が限定的）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2143354"/>
            <a:ext cx="37298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成果物は人間がチェックする必要あり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3114446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CursorRulesのメンテナンス滞りと悪循環：リポジトリ不整合 → 誤ルール → 誤コード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2628900"/>
            <a:ext cx="57204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使い手のスキル不足（「ChatGPTがそう言っていた」問題）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3914546"/>
            <a:ext cx="22622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ツール側の不安定さ：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90695" y="4229100"/>
            <a:ext cx="45774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Cursorが途中で停止する等のバグ（再現困難）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29718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AI導入で意識すべきこと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42557" r="-142557" t="0" b="0"/>
          <a:stretch/>
        </p:blipFill>
        <p:spPr>
          <a:xfrm>
            <a:off x="571500" y="2286000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742846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仕様を正確に記録・継続更新（新規/既存とも同一のAIエージェント環境を構築）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2542946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開発プロセス内の役割設計：要件/設計/実装/レビューでAIエージェントの配置と責務を明確化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3343046"/>
            <a:ext cx="722558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AIフレンドリーなドキュメント：人にもAIにも読みやすいMarkdownで整備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3829507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コンテキスト管理：触ってよい領域/禁止領域を明示（例：要件定義書はOK、ガイドラインはNG）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30102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実践例：活用環境の構築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04046" r="-104046" t="0" b="0"/>
          <a:stretch/>
        </p:blipFill>
        <p:spPr>
          <a:xfrm>
            <a:off x="571500" y="2286000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485900"/>
            <a:ext cx="51773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機能ID体系で作業範囲を明示（シンプルだが効果的）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2457907"/>
            <a:ext cx="43488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同一プロセスにレビューエージェントを配置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3914546"/>
            <a:ext cx="355793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ガイドライン違反の検出率が向上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4401007"/>
            <a:ext cx="29297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人間のレビュー負荷を軽減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1971446"/>
            <a:ext cx="49871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仕様書・ガイドラインで範囲とルールを明確に記述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90695" y="2943454"/>
            <a:ext cx="45674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ガイドライン違反を自動検出する仕組みを導入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190695" y="3429000"/>
            <a:ext cx="7955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効果：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30102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既存プロジェクトへの適用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42557" r="-142557" t="0" b="0"/>
          <a:stretch/>
        </p:blipFill>
        <p:spPr>
          <a:xfrm>
            <a:off x="571500" y="2286000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100023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現状課題：Excel/Word/PowerPoint/オートシェイプ中心、長期運用でドキュメントとコードが乖離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3185770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コード解析→ドキュメント化：Serena MCP等で理解/逆生成し、機能単位の仕様書へ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3985870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既存ドキュメントの変換・突合：Markdown化、内容精査統合、実コードと整合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1900123"/>
            <a:ext cx="45390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方針：AIが読める形式に変換し、整合性を回復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2385670"/>
            <a:ext cx="7463333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目標環境定義：ドキュメントフォーマット、プロジェクト構造、AIエージェント配置計画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90695" y="4785970"/>
            <a:ext cx="31007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運用：段階的に対象範囲を拡張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29910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AI駆動開発の課題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04046" r="-104046" t="0" b="0"/>
          <a:stretch/>
        </p:blipFill>
        <p:spPr>
          <a:xfrm>
            <a:off x="571500" y="1772107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485900"/>
            <a:ext cx="37197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成果物の信頼性をどこまで許容するか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2457907"/>
            <a:ext cx="68534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論点：信頼境界の設定、レビュープロセス設計、速度と品質のバランス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2943454"/>
            <a:ext cx="58055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与えたルールに矛盾がある場合、遵守されないケースがある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3914546"/>
            <a:ext cx="64346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レビュー・テストによる品質担保（リスク見合いで強弱をつける）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1971446"/>
            <a:ext cx="54059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現実：短期間で大量生成→人手レビューが追いつかない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90695" y="3429000"/>
            <a:ext cx="453908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基本的な考え方：人間にもAIにも間違いはある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190695" y="4401007"/>
            <a:ext cx="659648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複数LLMの組み合わせ試行：コーダーAI×レビューAIで相互チェック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657686" y="59152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26481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AIは育てるもの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42557" r="-142557" t="0" b="0"/>
          <a:stretch/>
        </p:blipFill>
        <p:spPr>
          <a:xfrm>
            <a:off x="571500" y="1772107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814170"/>
            <a:ext cx="6453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ツール導入＝即戦力ではない。継続的な学習とアップデートが必要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2300630"/>
            <a:ext cx="75867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ルール/プロンプト/リポジトリを継続的に整備（CursorRulesの品質を継続改善）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3100730"/>
            <a:ext cx="638708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複数LLMの組み合わせ（コーダーAI×レビューAI）で品質を高める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4071823"/>
            <a:ext cx="527243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成功要因：AI導入の「高い人」（チャンピオン）の存在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3586277"/>
            <a:ext cx="70445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人材育成：テクノロジー基礎力、批判的思考、AIを楽しむマインドセット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573561" y="5915254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-761695" y="838505"/>
            <a:ext cx="1524305" cy="15243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805" y="4390949"/>
            <a:ext cx="952805" cy="952805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95644"/>
            <a:ext cx="12191695" cy="562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6448349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60990" y="6448349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NEXTSCAPE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657454"/>
            <a:ext cx="12957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42557" r="-142557" t="0" b="0"/>
          <a:stretch/>
        </p:blipFill>
        <p:spPr>
          <a:xfrm>
            <a:off x="571500" y="1772107"/>
            <a:ext cx="2933395" cy="761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90695" y="1485900"/>
            <a:ext cx="41102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AIと人をチームメンバーとして共に育てる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90695" y="1971446"/>
            <a:ext cx="47484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仕様の整備とAIフレンドリーなドキュメントが鍵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190695" y="2943454"/>
            <a:ext cx="47768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継続的なアップデートと人材育成で成果を最大化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190695" y="3429000"/>
            <a:ext cx="516818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AI導入の高いスキルを持つチャンピオンの存在が重要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90695" y="3914546"/>
            <a:ext cx="43388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テクノロジーの基礎力と批判的思考の重要性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90695" y="4401007"/>
            <a:ext cx="47585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AI時代を受け入れ、楽しむマインドセットを育む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190695" y="2457907"/>
            <a:ext cx="53867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役割とコンテキストを明確化し、レビューで品質を担保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573561" y="5915254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2025-10-30T08:25:32Z</dcterms:created>
  <dcterms:modified xsi:type="dcterms:W3CDTF">2025-10-30T08:25:32Z</dcterms:modified>
</cp:coreProperties>
</file>