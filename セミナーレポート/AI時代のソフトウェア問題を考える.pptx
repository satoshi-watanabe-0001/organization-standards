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451506" y="1705356"/>
            <a:ext cx="76398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894430" y="3105302"/>
            <a:ext cx="46250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VibeCodingからAgenticCodingへ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448202"/>
            <a:ext cx="39959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エンジニアリングの再設計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285232" y="4419295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和田 タクト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5254142" y="4824374"/>
            <a:ext cx="171907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01945" y="4772254"/>
            <a:ext cx="1124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125505" y="5790895"/>
            <a:ext cx="761695" cy="7616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29910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本日のアジェンダ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4647895"/>
            <a:ext cx="1524305" cy="152430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4539996" y="9144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79899" y="972007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74006" y="972007"/>
            <a:ext cx="2382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2025年問題: 保守性の限界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39996" y="1524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9899" y="1580998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006" y="1580998"/>
            <a:ext cx="3324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歴史からの学び: TDD/DDD/TOC/PdM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39996" y="21332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79899" y="2190902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74006" y="2190902"/>
            <a:ext cx="2734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VibeCoding → AgenticCoding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39996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79899" y="2800807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74006" y="2800807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AIとの協働パターン（伴走/委託）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79899" y="3409798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4006" y="3409798"/>
            <a:ext cx="2419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どの領域にどうAIを使うか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39996" y="3962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79899" y="4019702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74006" y="4019702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実践アプローチ（自働化/品質/構成管理/MTTR/レビュー）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39996" y="45720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79899" y="4629607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74006" y="4629607"/>
            <a:ext cx="2229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AIは増幅器と学びの機会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39996" y="5181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79899" y="5238598"/>
            <a:ext cx="2340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74006" y="5238598"/>
            <a:ext cx="715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629254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2025年問題 — 保守性の限界が迫る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5996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AI支援開発（VibeCoding等）で実装速度は上がるが、保守性の限界が前倒し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1457554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7001" y="1380744"/>
            <a:ext cx="40626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技術的負債が"高速に"積み上がりスループット低下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1914754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07001" y="1837944"/>
            <a:ext cx="4148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レビュー不能なコード量/気づけない問題領域の拡大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9996" y="2371954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07001" y="2295144"/>
            <a:ext cx="2005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セキュリティリスク増大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539996" y="2829154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787798" y="2752344"/>
            <a:ext cx="3729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新規の課題ではないが、顕在化スピードが加速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4539996" y="3286354"/>
            <a:ext cx="133502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787798" y="3209544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内部品質への投資の損益分岐点が左シフト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5625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VibeCodingの具体的な課題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4072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各人が自由に作れる→ニッチなソフトウェアが乱立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1457554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7001" y="1380744"/>
            <a:ext cx="4548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コード生成は速いが、制御/把握/レビューが追いつかない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1914754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07001" y="1837944"/>
            <a:ext cx="4796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PRの滞留＝在庫。並列化してもボトルネック解消にならない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9996" y="2371954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07001" y="2295144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変更トレーサビリティの欠落が将来の改善を阻害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539996" y="2829154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787798" y="2752344"/>
            <a:ext cx="3900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裾野が広がるということは頂点はもっと高くなる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2667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歴史からの学び（TDD/DDD）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39996" y="905256"/>
            <a:ext cx="1877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TDDから学んだこと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6806" y="1380744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82896" y="1304849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ソフトウェア開発は未知と既知の"陣取りゲーム"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845406" y="1762049"/>
            <a:ext cx="133502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92294" y="1686154"/>
            <a:ext cx="3729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未知を既知に変え、既知の領域を拡大していく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16806" y="214335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82896" y="2066544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設計に終わりはない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4845406" y="2523744"/>
            <a:ext cx="133502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092294" y="2447849"/>
            <a:ext cx="3891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自動テストとリファクタリングで持続的に支える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539996" y="2924251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DDDから学んだこと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16806" y="3400654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882896" y="3323844"/>
            <a:ext cx="4072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ドメインエキスパートとの対話と共通の語彙が重要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16806" y="3781044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82896" y="3705149"/>
            <a:ext cx="3729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境界づけられたコンテキスト内の一貫した語彙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16806" y="4162349"/>
            <a:ext cx="152705" cy="152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882896" y="4086454"/>
            <a:ext cx="4586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コード↔モデル↔ドキュメントは双方向にフィードバック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4845406" y="4543654"/>
            <a:ext cx="133502" cy="15270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092294" y="4466844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一方通行ではなく、相互に影響し合う関係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2667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歴史からの学び（TOC/PdM）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39996" y="895198"/>
            <a:ext cx="2000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TOC（制約理論）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495044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07001" y="1419149"/>
            <a:ext cx="40626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フロー効率を最適化。リソース効率よりフロー効率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1952244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07001" y="1876349"/>
            <a:ext cx="3777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実態のボトルネック = レビュー待ちPR（在庫）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240944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07001" y="2333549"/>
            <a:ext cx="3805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ペアプロ/モブプロでレビューと教育を同時進行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539996" y="2762402"/>
            <a:ext cx="3620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PdM（プロダクトマネジメント）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9996" y="3362249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07001" y="3286354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忍び寄る機能主義、ビルドトラップを回避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39996" y="3819449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807001" y="3743554"/>
            <a:ext cx="2348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AIも足し算思考の傾向が強い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39996" y="4276649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07001" y="4200754"/>
            <a:ext cx="4567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大事なのはOutputではなく、Outcome（成果）とImpact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2714854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VibeCoding vs AgenticCoding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39996" y="905256"/>
            <a:ext cx="2809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別物として理解する必要がある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39996" y="1410005"/>
            <a:ext cx="3323844" cy="1676095"/>
          </a:xfrm>
          <a:prstGeom prst="roundRect">
            <a:avLst>
              <a:gd name="adj" fmla="val 2480"/>
            </a:avLst>
          </a:prstGeom>
          <a:solidFill>
            <a:srgbClr val="EF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39996" y="1410005"/>
            <a:ext cx="38405" cy="16760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1106" y="1571854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AIと伴走（直列）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31106" y="1990649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959706" y="1904695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AIと対話しながら直列開発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1106" y="2371954"/>
            <a:ext cx="15270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59706" y="2286000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コードを書くスピードは相対的に遅い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31106" y="2752344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59706" y="2667305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コントロール、状況把握の度合いが高い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15300" y="1410005"/>
            <a:ext cx="38405" cy="16760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305495" y="1571854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AIに委託（並列）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05495" y="1990649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34095" y="190469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自走するAIたちに任せて並列開発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05495" y="2371954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34095" y="2286000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コード生成は圧倒的に速い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05495" y="2752344"/>
            <a:ext cx="152705" cy="152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34095" y="2667305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コントロールが難しく、レビューがポイント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539996" y="3314700"/>
            <a:ext cx="7200900" cy="895198"/>
          </a:xfrm>
          <a:prstGeom prst="roundRect">
            <a:avLst>
              <a:gd name="adj" fmla="val 8693"/>
            </a:avLst>
          </a:prstGeom>
          <a:solidFill>
            <a:srgbClr val="F9FAFB"/>
          </a:solidFill>
          <a:ln/>
        </p:spPr>
      </p:sp>
      <p:sp>
        <p:nvSpPr>
          <p:cNvPr id="27" name="Shape 19"/>
          <p:cNvSpPr/>
          <p:nvPr/>
        </p:nvSpPr>
        <p:spPr>
          <a:xfrm>
            <a:off x="4539996" y="3314700"/>
            <a:ext cx="7200900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7628839" y="3495751"/>
            <a:ext cx="1148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目指すべき姿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6384341" y="3829507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速度と品質を両立する「収束」の仕組みを設計する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6576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AIとの協働パターンの全体像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947318"/>
            <a:ext cx="237744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954" y="905256"/>
            <a:ext cx="1276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伴走パターン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5406" y="1380744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11496" y="1304849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教習車：人が主導、AIがサポート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845406" y="1723644"/>
            <a:ext cx="171907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30698" y="1647749"/>
            <a:ext cx="3900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オートパイロット：監視しながら部分的に自動化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5406" y="2066544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11496" y="1990649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批判的レビュワー：改善点を指摘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4845406" y="2409444"/>
            <a:ext cx="19019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149901" y="2333549"/>
            <a:ext cx="3215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根負けしない議論相手：深い対話を継続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39996" y="2928823"/>
            <a:ext cx="190195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845406" y="2885846"/>
            <a:ext cx="1276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委託パターン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4845406" y="3362249"/>
            <a:ext cx="133502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092294" y="3286354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小人さん：見えないところで作業を進める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4845406" y="3705149"/>
            <a:ext cx="190195" cy="1527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149901" y="3629254"/>
            <a:ext cx="4072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分業制：複数エージェントが役割分担して並列開発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-33" r="-33" t="0" b="0"/>
          <a:stretch/>
        </p:blipFill>
        <p:spPr>
          <a:xfrm>
            <a:off x="4845406" y="4048049"/>
            <a:ext cx="171907" cy="15270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130698" y="3972154"/>
            <a:ext cx="3215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コンペ：複数案を作成して最適解を選択</a:t>
            </a:r>
            <a:endParaRPr lang="en-US" sz="1300" dirty="0"/>
          </a:p>
        </p:txBody>
      </p:sp>
      <p:sp>
        <p:nvSpPr>
          <p:cNvPr id="26" name="Shape 15"/>
          <p:cNvSpPr/>
          <p:nvPr/>
        </p:nvSpPr>
        <p:spPr>
          <a:xfrm>
            <a:off x="4539996" y="4533595"/>
            <a:ext cx="7200900" cy="761695"/>
          </a:xfrm>
          <a:prstGeom prst="roundRect">
            <a:avLst>
              <a:gd name="adj" fmla="val 12005"/>
            </a:avLst>
          </a:prstGeom>
          <a:solidFill>
            <a:srgbClr val="F3F4F6"/>
          </a:solidFill>
          <a:ln/>
        </p:spPr>
      </p:sp>
      <p:sp>
        <p:nvSpPr>
          <p:cNvPr id="27" name="Text 16"/>
          <p:cNvSpPr txBox="1"/>
          <p:nvPr/>
        </p:nvSpPr>
        <p:spPr>
          <a:xfrm>
            <a:off x="4654296" y="4657954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使い分けの鍵：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4654296" y="4924044"/>
            <a:ext cx="3300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業務ロジックの複雑さ × 差別化の度合い</a:t>
            </a:r>
            <a:endParaRPr lang="en-US" sz="1300" dirty="0"/>
          </a:p>
        </p:txBody>
      </p:sp>
      <p:sp>
        <p:nvSpPr>
          <p:cNvPr id="29" name="Shape 1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19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6768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どの領域にどうAIを使うか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4363" b="4363"/>
          <a:stretch/>
        </p:blipFill>
        <p:spPr>
          <a:xfrm>
            <a:off x="4539996" y="1067105"/>
            <a:ext cx="7200900" cy="36576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4935931"/>
            <a:ext cx="171907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87798" y="4886554"/>
            <a:ext cx="5091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縦軸: 業務ロジックの複雑さ/製品購入や外部サービス利用の適性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5202936"/>
            <a:ext cx="171907" cy="17190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87798" y="5152644"/>
            <a:ext cx="2786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横軸: 競合他社との差別化の度合い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539996" y="5495544"/>
            <a:ext cx="3272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AIと伴走: 中核領域 (差別化大×複雑さ大)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39996" y="5762549"/>
            <a:ext cx="4129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AIに委託: 補完または一般領域 (差別化小×複雑さ小)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400739" y="65727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333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伴走パターンの具体（1/2）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39996" y="90525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AIとの役割関係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92701" y="1343254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59706" y="1266444"/>
            <a:ext cx="32817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教習車 — AIが運転、人が横で指導・介入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4692701" y="1723644"/>
            <a:ext cx="171907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77994" y="1647749"/>
            <a:ext cx="3624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オートパイロット — 人が大枠指示、AIが実行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92701" y="2104949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59706" y="2029054"/>
            <a:ext cx="34719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批判的レビュワー — 盲点の発見・改善提案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4692701" y="2486254"/>
            <a:ext cx="19019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997196" y="2409444"/>
            <a:ext cx="3805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根負けしない議論相手 — いつまでも話し合える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539996" y="288584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進め方のフロー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692701" y="3400654"/>
            <a:ext cx="133502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940503" y="3323844"/>
            <a:ext cx="2852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AIと議論を行って設計を深堀、保存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4692701" y="3819449"/>
            <a:ext cx="133502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940503" y="3743554"/>
            <a:ext cx="3044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設計書からタスクリストを生成、保存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4692701" y="4238244"/>
            <a:ext cx="133502" cy="152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940503" y="4162349"/>
            <a:ext cx="23582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必要あれば議論に戻り再検討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16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333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伴走パターンの具体（2/2）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6815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タスクをサブタスクに分割複雑な機能実装を小さな単位に分解し、管理可能なサイズに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4539996" y="1457554"/>
            <a:ext cx="19019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45406" y="1380744"/>
            <a:ext cx="696772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タスク単位でエージェントセッションを起動し実装各タスクに特化したAIエージェントを配置、目的を明確に指示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4539996" y="2180844"/>
            <a:ext cx="19019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45406" y="2104949"/>
            <a:ext cx="6130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人は制御と品質のゲートに集中設計・受け入れ基準・テスト戦略の定義に注力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39996" y="2553005"/>
            <a:ext cx="7200900" cy="761695"/>
          </a:xfrm>
          <a:prstGeom prst="roundRect">
            <a:avLst>
              <a:gd name="adj" fmla="val 12005"/>
            </a:avLst>
          </a:prstGeom>
          <a:solidFill>
            <a:srgbClr val="F3F4F6"/>
          </a:solidFill>
          <a:ln/>
        </p:spPr>
      </p:sp>
      <p:sp>
        <p:nvSpPr>
          <p:cNvPr id="15" name="Shape 10"/>
          <p:cNvSpPr/>
          <p:nvPr/>
        </p:nvSpPr>
        <p:spPr>
          <a:xfrm>
            <a:off x="4539996" y="2553005"/>
            <a:ext cx="38405" cy="761695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4731106" y="2752344"/>
            <a:ext cx="114300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31106" y="2704795"/>
            <a:ext cx="682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伴走パターンでは、人間がプロセス全体を監視しながらも、実装の細部はAIに委ねることで、効率と品質の両立を図ります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333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委託パターンの実践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247595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4539996" y="1000354"/>
            <a:ext cx="19019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45406" y="905256"/>
            <a:ext cx="31528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小人さん/分業制/コンペで並列生成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5406" y="1266444"/>
            <a:ext cx="4567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複数のAIエージェントによる並列開発で開発効率を最大化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1837944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07001" y="1742846"/>
            <a:ext cx="2809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非同期に進め後段で監査・統合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07001" y="2104949"/>
            <a:ext cx="52632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AIの速さを殺さない非同期プロセス、人間はレビューと統合に集中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2676449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07001" y="2581351"/>
            <a:ext cx="4334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評価関数・レビュー方針・ガードレールの明示化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07001" y="2943454"/>
            <a:ext cx="4748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AIの暴走・迷走を防ぐための明確な基準と制約の設定が重要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39996" y="3429000"/>
            <a:ext cx="7200900" cy="590702"/>
          </a:xfrm>
          <a:prstGeom prst="roundRect">
            <a:avLst>
              <a:gd name="adj" fmla="val 199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4701845" y="3650285"/>
            <a:ext cx="133502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1242" y="3600907"/>
            <a:ext cx="5529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マイクロマネジメントではなく、「後から監査」できる仕組みが効果的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400654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自動化から自働化へ（AgenticCoding）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69869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AgenticCoding = Reconciliation Loop望ましい状態を宣言的に定義し、エージェントが自律的に収束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1723644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7001" y="1647749"/>
            <a:ext cx="2852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AIは自走するが、暴走・迷走もする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07001" y="1914754"/>
            <a:ext cx="5310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ガードレール設計としてのソフトウェアエンジニアリングが重要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2447849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07001" y="2371954"/>
            <a:ext cx="3367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求める品質特性を定量的表現でAIに伝える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9996" y="2905049"/>
            <a:ext cx="15270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07001" y="2809951"/>
            <a:ext cx="3001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自動テストの重要性はより高まる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539996" y="3276295"/>
            <a:ext cx="7200900" cy="91440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/>
        </p:spPr>
      </p:sp>
      <p:sp>
        <p:nvSpPr>
          <p:cNvPr id="18" name="Shape 12"/>
          <p:cNvSpPr/>
          <p:nvPr/>
        </p:nvSpPr>
        <p:spPr>
          <a:xfrm>
            <a:off x="4539996" y="3276295"/>
            <a:ext cx="38405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4731106" y="3438144"/>
            <a:ext cx="3653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従来の自動化: 人が指示した通りに機械が動く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731106" y="3781044"/>
            <a:ext cx="4662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自働化: 目的と評価関数を与え、AIが自律的に最適解を探索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0102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包括的構成管理とMTTR重視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4187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すべてをリポジトリへ（コード/設定/ドキュメント）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996" y="1457554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7001" y="1380744"/>
            <a:ext cx="694852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ドキュメントはプレーンテキストでコードの近くに腐敗を防ぎ、AIが理解しやすい形式で保持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2180844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07001" y="2104949"/>
            <a:ext cx="693023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規律あるGit: Conventional Commits / Keep a Changelog変更トレーサビリティ確保が将来の改善の基盤に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4539996" y="2905049"/>
            <a:ext cx="133502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87798" y="2829154"/>
            <a:ext cx="4463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MTBF→MTTRへ：バグゼロのゼロリスク信仰から離れる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539996" y="3362249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787798" y="3286354"/>
            <a:ext cx="4996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失敗前提で速く直す文化：Unknown-Unknown領域と戦うには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39996" y="3819449"/>
            <a:ext cx="152705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807001" y="3743554"/>
            <a:ext cx="5291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武器を増やす: Property-based Testing / オブザーバビリティテスト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6960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レビュー負荷を下げる設計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5196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diff最小化バイアスがじわじわとシステムのエントロピーを上げる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539996" y="1457554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87798" y="1380744"/>
            <a:ext cx="2233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Tidy Firstの知見を活用する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4845406" y="1914754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92294" y="1837944"/>
            <a:ext cx="3653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BehaviorChangeとStructureChangeを分ける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4845406" y="2371954"/>
            <a:ext cx="133502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92294" y="2295144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両者のレビューコストは異なる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39996" y="2829154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07001" y="2752344"/>
            <a:ext cx="4101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BehaviorChangeは不可逆変更 → キチンとレビュー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39996" y="3286354"/>
            <a:ext cx="152705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807001" y="3209544"/>
            <a:ext cx="5768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StructureChangeは可逆変更 → 仕組化してレビューコストを0に近づける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6768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AIは増幅器—学びと能力向上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5511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AIは組織の能力を映す鏡 — 高能力はさらに強く、低能力はさらに弱く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4539996" y="1457554"/>
            <a:ext cx="114300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68596" y="1380744"/>
            <a:ext cx="5186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能力は外注できない — 個人と組織が能力を向上させる必要がある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9996" y="1914754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07001" y="1837944"/>
            <a:ext cx="3900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わからないものはレビューもデバッグもできない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9996" y="2371954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07001" y="2295144"/>
            <a:ext cx="6186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学びの追い風 — 何度も質問可能、即時フィードバック、専門用語へのアクセス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39996" y="2829154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07001" y="2752344"/>
            <a:ext cx="2224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能力向上のためのAI活用法: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4845406" y="3286354"/>
            <a:ext cx="190195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149901" y="3209544"/>
            <a:ext cx="2520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批判的なレビュアーとして活用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4845406" y="3666744"/>
            <a:ext cx="190195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149901" y="3590849"/>
            <a:ext cx="2701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根負けしない議論相手として活用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4845406" y="4048049"/>
            <a:ext cx="190195" cy="1527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149901" y="3972154"/>
            <a:ext cx="3215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新しい言語やフレームワークの学習支援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15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1849"/>
            <a:ext cx="3182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AI時代のソフトウェア問題を考える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57707"/>
            <a:ext cx="36960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まとめ—オーガニックコーディングへ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28900"/>
            <a:ext cx="1218895" cy="1218895"/>
          </a:xfrm>
          <a:prstGeom prst="rect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6298" y="914400"/>
            <a:ext cx="19202" cy="52578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9996" y="100035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07001" y="923544"/>
            <a:ext cx="6624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オーガニックコーディング：アウトプット最小・フィードバック最大の開発サイクル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539996" y="1457554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87798" y="1380744"/>
            <a:ext cx="4929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コード差分からドキュメントを自動生成するエコシステム構築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4539996" y="1914754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87798" y="1837944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次の一手：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5406" y="2371954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11496" y="2295144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自動テストの整備強化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45406" y="2752344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111496" y="2676449"/>
            <a:ext cx="3024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AIエージェント用ガードレールの設計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45406" y="3133649"/>
            <a:ext cx="152705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111496" y="3057754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包括的な構成管理の徹底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45406" y="3514954"/>
            <a:ext cx="152705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111496" y="3438144"/>
            <a:ext cx="2005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AI活用ポリシーの明確化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4539996" y="3886200"/>
            <a:ext cx="7200900" cy="571500"/>
          </a:xfrm>
          <a:prstGeom prst="roundRect">
            <a:avLst>
              <a:gd name="adj" fmla="val 21333"/>
            </a:avLst>
          </a:prstGeom>
          <a:solidFill>
            <a:srgbClr val="DBEAFE"/>
          </a:solidFill>
          <a:ln/>
        </p:spPr>
      </p:sp>
      <p:sp>
        <p:nvSpPr>
          <p:cNvPr id="23" name="Shape 14"/>
          <p:cNvSpPr/>
          <p:nvPr/>
        </p:nvSpPr>
        <p:spPr>
          <a:xfrm>
            <a:off x="4539996" y="3886200"/>
            <a:ext cx="38405" cy="5715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731106" y="4098341"/>
            <a:ext cx="171907" cy="171907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977994" y="4048049"/>
            <a:ext cx="4767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チームで伴走と委託の"配分"を決め、収束ループを回そう！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457200" y="6572707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2025-10-30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1326673" y="65727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2025-10-30T09:30:28Z</dcterms:created>
  <dcterms:modified xsi:type="dcterms:W3CDTF">2025-10-30T09:30:28Z</dcterms:modified>
</cp:coreProperties>
</file>