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</p:sldIdLst>
  <p:notesMasterIdLst>
    <p:notesMasterId r:id="rId7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notesMaster" Target="notesMasters/notesMaster1.xml"/><Relationship Id="rId71" Type="http://schemas.openxmlformats.org/officeDocument/2006/relationships/presProps" Target="presProps.xml"/><Relationship Id="rId72" Type="http://schemas.openxmlformats.org/officeDocument/2006/relationships/viewProps" Target="viewProps.xml"/><Relationship Id="rId73" Type="http://schemas.openxmlformats.org/officeDocument/2006/relationships/theme" Target="theme/theme1.xml"/><Relationship Id="rId7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image" Target="../media/image-16-8.png"/><Relationship Id="rId9" Type="http://schemas.openxmlformats.org/officeDocument/2006/relationships/image" Target="../media/image-16-9.png"/><Relationship Id="rId10" Type="http://schemas.openxmlformats.org/officeDocument/2006/relationships/image" Target="../media/image-16-10.png"/><Relationship Id="rId11" Type="http://schemas.openxmlformats.org/officeDocument/2006/relationships/image" Target="../media/image-16-11.png"/><Relationship Id="rId12" Type="http://schemas.openxmlformats.org/officeDocument/2006/relationships/image" Target="../media/image-16-12.png"/><Relationship Id="rId13" Type="http://schemas.openxmlformats.org/officeDocument/2006/relationships/image" Target="../media/image-16-13.png"/><Relationship Id="rId14" Type="http://schemas.openxmlformats.org/officeDocument/2006/relationships/image" Target="../media/image-16-14.png"/><Relationship Id="rId15" Type="http://schemas.openxmlformats.org/officeDocument/2006/relationships/image" Target="../media/image-16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image" Target="../media/image-17-7.png"/><Relationship Id="rId8" Type="http://schemas.openxmlformats.org/officeDocument/2006/relationships/image" Target="../media/image-17-8.png"/><Relationship Id="rId9" Type="http://schemas.openxmlformats.org/officeDocument/2006/relationships/image" Target="../media/image-17-9.png"/><Relationship Id="rId10" Type="http://schemas.openxmlformats.org/officeDocument/2006/relationships/image" Target="../media/image-17-10.png"/><Relationship Id="rId11" Type="http://schemas.openxmlformats.org/officeDocument/2006/relationships/image" Target="../media/image-17-11.png"/><Relationship Id="rId12" Type="http://schemas.openxmlformats.org/officeDocument/2006/relationships/image" Target="../media/image-17-12.png"/><Relationship Id="rId13" Type="http://schemas.openxmlformats.org/officeDocument/2006/relationships/image" Target="../media/image-17-13.png"/><Relationship Id="rId14" Type="http://schemas.openxmlformats.org/officeDocument/2006/relationships/image" Target="../media/image-17-14.png"/><Relationship Id="rId15" Type="http://schemas.openxmlformats.org/officeDocument/2006/relationships/image" Target="../media/image-17-15.png"/><Relationship Id="rId16" Type="http://schemas.openxmlformats.org/officeDocument/2006/relationships/image" Target="../media/image-17-16.png"/><Relationship Id="rId17" Type="http://schemas.openxmlformats.org/officeDocument/2006/relationships/image" Target="../media/image-17-17.png"/><Relationship Id="rId18" Type="http://schemas.openxmlformats.org/officeDocument/2006/relationships/image" Target="../media/image-17-18.pn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image" Target="../media/image-20-7.png"/><Relationship Id="rId8" Type="http://schemas.openxmlformats.org/officeDocument/2006/relationships/image" Target="../media/image-20-8.png"/><Relationship Id="rId9" Type="http://schemas.openxmlformats.org/officeDocument/2006/relationships/image" Target="../media/image-20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image" Target="../media/image-59-2.png"/><Relationship Id="rId3" Type="http://schemas.openxmlformats.org/officeDocument/2006/relationships/image" Target="../media/image-59-3.png"/><Relationship Id="rId4" Type="http://schemas.openxmlformats.org/officeDocument/2006/relationships/image" Target="../media/image-59-4.png"/><Relationship Id="rId5" Type="http://schemas.openxmlformats.org/officeDocument/2006/relationships/image" Target="../media/image-59-5.png"/><Relationship Id="rId6" Type="http://schemas.openxmlformats.org/officeDocument/2006/relationships/image" Target="../media/image-59-6.png"/><Relationship Id="rId7" Type="http://schemas.openxmlformats.org/officeDocument/2006/relationships/image" Target="../media/image-59-7.png"/><Relationship Id="rId8" Type="http://schemas.openxmlformats.org/officeDocument/2006/relationships/image" Target="../media/image-59-8.png"/><Relationship Id="rId9" Type="http://schemas.openxmlformats.org/officeDocument/2006/relationships/image" Target="../media/image-59-9.png"/><Relationship Id="rId10" Type="http://schemas.openxmlformats.org/officeDocument/2006/relationships/image" Target="../media/image-59-10.png"/><Relationship Id="rId11" Type="http://schemas.openxmlformats.org/officeDocument/2006/relationships/image" Target="../media/image-59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image" Target="../media/image-60-2.png"/><Relationship Id="rId3" Type="http://schemas.openxmlformats.org/officeDocument/2006/relationships/image" Target="../media/image-60-3.png"/><Relationship Id="rId4" Type="http://schemas.openxmlformats.org/officeDocument/2006/relationships/image" Target="../media/image-60-4.png"/><Relationship Id="rId5" Type="http://schemas.openxmlformats.org/officeDocument/2006/relationships/image" Target="../media/image-60-5.png"/><Relationship Id="rId6" Type="http://schemas.openxmlformats.org/officeDocument/2006/relationships/image" Target="../media/image-60-6.png"/><Relationship Id="rId7" Type="http://schemas.openxmlformats.org/officeDocument/2006/relationships/image" Target="../media/image-60-7.png"/><Relationship Id="rId8" Type="http://schemas.openxmlformats.org/officeDocument/2006/relationships/image" Target="../media/image-60-8.png"/><Relationship Id="rId9" Type="http://schemas.openxmlformats.org/officeDocument/2006/relationships/image" Target="../media/image-60-9.png"/><Relationship Id="rId10" Type="http://schemas.openxmlformats.org/officeDocument/2006/relationships/image" Target="../media/image-60-10.png"/><Relationship Id="rId11" Type="http://schemas.openxmlformats.org/officeDocument/2006/relationships/image" Target="../media/image-60-11.png"/><Relationship Id="rId12" Type="http://schemas.openxmlformats.org/officeDocument/2006/relationships/image" Target="../media/image-60-12.png"/><Relationship Id="rId13" Type="http://schemas.openxmlformats.org/officeDocument/2006/relationships/image" Target="../media/image-60-13.png"/><Relationship Id="rId14" Type="http://schemas.openxmlformats.org/officeDocument/2006/relationships/image" Target="../media/image-60-14.png"/><Relationship Id="rId15" Type="http://schemas.openxmlformats.org/officeDocument/2006/relationships/image" Target="../media/image-60-15.png"/><Relationship Id="rId16" Type="http://schemas.openxmlformats.org/officeDocument/2006/relationships/image" Target="../media/image-60-16.png"/><Relationship Id="rId17" Type="http://schemas.openxmlformats.org/officeDocument/2006/relationships/image" Target="../media/image-60-17.png"/><Relationship Id="rId18" Type="http://schemas.openxmlformats.org/officeDocument/2006/relationships/image" Target="../media/image-60-18.png"/><Relationship Id="rId19" Type="http://schemas.openxmlformats.org/officeDocument/2006/relationships/image" Target="../media/image-60-19.png"/><Relationship Id="rId20" Type="http://schemas.openxmlformats.org/officeDocument/2006/relationships/image" Target="../media/image-60-20.png"/><Relationship Id="rId21" Type="http://schemas.openxmlformats.org/officeDocument/2006/relationships/image" Target="../media/image-60-21.png"/><Relationship Id="rId22" Type="http://schemas.openxmlformats.org/officeDocument/2006/relationships/image" Target="../media/image-60-22.png"/><Relationship Id="rId23" Type="http://schemas.openxmlformats.org/officeDocument/2006/relationships/image" Target="../media/image-60-23.png"/><Relationship Id="rId24" Type="http://schemas.openxmlformats.org/officeDocument/2006/relationships/image" Target="../media/image-60-24.png"/><Relationship Id="rId25" Type="http://schemas.openxmlformats.org/officeDocument/2006/relationships/image" Target="../media/image-60-25.png"/><Relationship Id="rId26" Type="http://schemas.openxmlformats.org/officeDocument/2006/relationships/image" Target="../media/image-60-26.png"/><Relationship Id="rId27" Type="http://schemas.openxmlformats.org/officeDocument/2006/relationships/image" Target="../media/image-60-27.png"/><Relationship Id="rId28" Type="http://schemas.openxmlformats.org/officeDocument/2006/relationships/image" Target="../media/image-60-28.png"/><Relationship Id="rId29" Type="http://schemas.openxmlformats.org/officeDocument/2006/relationships/image" Target="../media/image-60-29.png"/><Relationship Id="rId30" Type="http://schemas.openxmlformats.org/officeDocument/2006/relationships/image" Target="../media/image-60-30.png"/><Relationship Id="rId31" Type="http://schemas.openxmlformats.org/officeDocument/2006/relationships/image" Target="../media/image-60-31.png"/><Relationship Id="rId32" Type="http://schemas.openxmlformats.org/officeDocument/2006/relationships/image" Target="../media/image-60-32.png"/><Relationship Id="rId33" Type="http://schemas.openxmlformats.org/officeDocument/2006/relationships/image" Target="../media/image-60-33.png"/><Relationship Id="rId34" Type="http://schemas.openxmlformats.org/officeDocument/2006/relationships/image" Target="../media/image-60-34.png"/><Relationship Id="rId35" Type="http://schemas.openxmlformats.org/officeDocument/2006/relationships/image" Target="../media/image-60-35.png"/><Relationship Id="rId36" Type="http://schemas.openxmlformats.org/officeDocument/2006/relationships/image" Target="../media/image-60-36.png"/><Relationship Id="rId37" Type="http://schemas.openxmlformats.org/officeDocument/2006/relationships/image" Target="../media/image-60-37.png"/><Relationship Id="rId38" Type="http://schemas.openxmlformats.org/officeDocument/2006/relationships/image" Target="../media/image-60-38.png"/><Relationship Id="rId39" Type="http://schemas.openxmlformats.org/officeDocument/2006/relationships/image" Target="../media/image-60-39.png"/><Relationship Id="rId40" Type="http://schemas.openxmlformats.org/officeDocument/2006/relationships/slideLayout" Target="../slideLayouts/slideLayout1.xml"/><Relationship Id="rId41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4-1.png"/><Relationship Id="rId2" Type="http://schemas.openxmlformats.org/officeDocument/2006/relationships/image" Target="../media/image-64-2.png"/><Relationship Id="rId3" Type="http://schemas.openxmlformats.org/officeDocument/2006/relationships/image" Target="../media/image-64-3.png"/><Relationship Id="rId4" Type="http://schemas.openxmlformats.org/officeDocument/2006/relationships/image" Target="../media/image-64-4.png"/><Relationship Id="rId5" Type="http://schemas.openxmlformats.org/officeDocument/2006/relationships/image" Target="../media/image-6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6-1.png"/><Relationship Id="rId2" Type="http://schemas.openxmlformats.org/officeDocument/2006/relationships/image" Target="../media/image-66-2.png"/><Relationship Id="rId3" Type="http://schemas.openxmlformats.org/officeDocument/2006/relationships/image" Target="../media/image-66-3.png"/><Relationship Id="rId4" Type="http://schemas.openxmlformats.org/officeDocument/2006/relationships/image" Target="../media/image-6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24398" y="2008937"/>
            <a:ext cx="342900" cy="3429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987906" y="2632558"/>
            <a:ext cx="856335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33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システムエンジニアリング企業における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4959706" y="3181198"/>
            <a:ext cx="261975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33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AI推進戦略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3562502" y="3996842"/>
            <a:ext cx="52770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0066C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意識変革の課題と対策／実装ロードマップ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5078578" y="5896051"/>
            <a:ext cx="216712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AI推進プロジェクトチーム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571439" y="6248095"/>
            <a:ext cx="11722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2025年11月4日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9810598" y="-476402"/>
            <a:ext cx="2857500" cy="2857500"/>
          </a:xfrm>
          <a:prstGeom prst="ellipse">
            <a:avLst/>
          </a:prstGeom>
          <a:noFill/>
          <a:ln w="381000">
            <a:solidFill>
              <a:srgbClr val="0066CC">
                <a:alpha val="10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-476402" y="4476902"/>
            <a:ext cx="1904695" cy="1904695"/>
          </a:xfrm>
          <a:prstGeom prst="rect">
            <a:avLst/>
          </a:prstGeom>
          <a:noFill/>
          <a:ln w="254000">
            <a:solidFill>
              <a:srgbClr val="003366">
                <a:alpha val="8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0" y="6743700"/>
            <a:ext cx="12191695" cy="114300"/>
          </a:xfrm>
          <a:prstGeom prst="rect">
            <a:avLst/>
          </a:prstGeom>
          <a:solidFill>
            <a:srgbClr val="003366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71500" y="2853842"/>
            <a:ext cx="304495" cy="30449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71500" y="3348533"/>
            <a:ext cx="2400300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0033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アジェンダ</a:t>
            </a:r>
            <a:endParaRPr lang="en-US" sz="3300" dirty="0"/>
          </a:p>
        </p:txBody>
      </p:sp>
      <p:sp>
        <p:nvSpPr>
          <p:cNvPr id="5" name="Text 2"/>
          <p:cNvSpPr txBox="1"/>
          <p:nvPr/>
        </p:nvSpPr>
        <p:spPr>
          <a:xfrm>
            <a:off x="5306263" y="1271930"/>
            <a:ext cx="25786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66C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5306263" y="1757477"/>
            <a:ext cx="25786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66C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306263" y="2243023"/>
            <a:ext cx="25786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66C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306263" y="2728570"/>
            <a:ext cx="25786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66C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5306263" y="3215030"/>
            <a:ext cx="25786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66C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5306263" y="3700577"/>
            <a:ext cx="25786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66C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6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5306263" y="4186123"/>
            <a:ext cx="25786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66C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7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5306263" y="4671670"/>
            <a:ext cx="25786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66C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8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5306263" y="5158130"/>
            <a:ext cx="25786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66C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9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5648249" y="1242670"/>
            <a:ext cx="100492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はじめに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5648249" y="1729130"/>
            <a:ext cx="362468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段階的導入アプローチ（3フェーズ）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5648249" y="2214677"/>
            <a:ext cx="3948379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AI活用促進施策の全体像（10カテゴリ）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5648249" y="2700223"/>
            <a:ext cx="4148633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主要施策の詳細（メリット・デメリット）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5648249" y="3185770"/>
            <a:ext cx="2500884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意識変革の14課題と対策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5648249" y="3672230"/>
            <a:ext cx="328178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システム開発におけるAI効果領域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5648249" y="4157777"/>
            <a:ext cx="3081528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最新AI動向のアップデート戦略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5648249" y="4643323"/>
            <a:ext cx="184343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実装ロードマップ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5648249" y="5128870"/>
            <a:ext cx="245333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まとめ・次のアクション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10264140" y="6439205"/>
            <a:ext cx="14767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AI推進プロジェクト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25" name="Shape 22"/>
          <p:cNvSpPr/>
          <p:nvPr/>
        </p:nvSpPr>
        <p:spPr>
          <a:xfrm>
            <a:off x="-476402" y="4953305"/>
            <a:ext cx="2381098" cy="2381098"/>
          </a:xfrm>
          <a:prstGeom prst="ellipse">
            <a:avLst/>
          </a:prstGeom>
          <a:noFill/>
          <a:ln w="317500">
            <a:solidFill>
              <a:srgbClr val="0066CC">
                <a:alpha val="1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71500" y="1047902"/>
            <a:ext cx="304495" cy="30449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71500" y="1552651"/>
            <a:ext cx="2091233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33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はじめに：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71500" y="1986991"/>
            <a:ext cx="2091233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33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背景と目的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4508906" y="2514600"/>
            <a:ext cx="48673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背景:AI活用は競争優位の源泉。開発効率・品質・価値創出を同時実現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508906" y="2971800"/>
            <a:ext cx="39054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目的:全社的なAI活用の定着、リスク最小化、ROI最大化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4508906" y="34290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対象:システムエンジニアリング事業の全職種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4508906" y="3886200"/>
            <a:ext cx="54964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基本方針:小さく始めて速く学ぶ／トップダウン×ボトムアップ／失敗から学ぶ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10264140" y="6439205"/>
            <a:ext cx="14767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AI推進プロジェクト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12" name="Shape 9"/>
          <p:cNvSpPr/>
          <p:nvPr/>
        </p:nvSpPr>
        <p:spPr>
          <a:xfrm>
            <a:off x="10763402" y="-476402"/>
            <a:ext cx="1904695" cy="1904695"/>
          </a:xfrm>
          <a:prstGeom prst="ellipse">
            <a:avLst/>
          </a:prstGeom>
          <a:noFill/>
          <a:ln w="254000">
            <a:solidFill>
              <a:srgbClr val="0066CC">
                <a:alpha val="1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-266" r="-266" t="0" b="0"/>
          <a:stretch/>
        </p:blipFill>
        <p:spPr>
          <a:xfrm>
            <a:off x="571500" y="697687"/>
            <a:ext cx="323698" cy="28620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37844" y="580644"/>
            <a:ext cx="5934456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33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段階的導入アプローチ（3フェーズ）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71500" y="1466698"/>
            <a:ext cx="3314700" cy="1933956"/>
          </a:xfrm>
          <a:prstGeom prst="roundRect">
            <a:avLst>
              <a:gd name="adj" fmla="val 2329"/>
            </a:avLst>
          </a:prstGeom>
          <a:solidFill>
            <a:srgbClr val="F8FBFF"/>
          </a:solidFill>
          <a:ln w="25400">
            <a:solidFill>
              <a:srgbClr val="0066C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438498" y="1466698"/>
            <a:ext cx="3314700" cy="1933956"/>
          </a:xfrm>
          <a:prstGeom prst="roundRect">
            <a:avLst>
              <a:gd name="adj" fmla="val 2329"/>
            </a:avLst>
          </a:prstGeom>
          <a:solidFill>
            <a:srgbClr val="F8FBFF"/>
          </a:solidFill>
          <a:ln w="25400">
            <a:solidFill>
              <a:srgbClr val="0066C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305495" y="1466698"/>
            <a:ext cx="3314700" cy="1933956"/>
          </a:xfrm>
          <a:prstGeom prst="roundRect">
            <a:avLst>
              <a:gd name="adj" fmla="val 2329"/>
            </a:avLst>
          </a:prstGeom>
          <a:solidFill>
            <a:srgbClr val="F8FBFF"/>
          </a:solidFill>
          <a:ln w="25400">
            <a:solidFill>
              <a:srgbClr val="0066C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80898" y="1295705"/>
            <a:ext cx="381305" cy="381305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9" name="Shape 6"/>
          <p:cNvSpPr/>
          <p:nvPr/>
        </p:nvSpPr>
        <p:spPr>
          <a:xfrm>
            <a:off x="4647895" y="1295705"/>
            <a:ext cx="381305" cy="381305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10" name="Shape 7"/>
          <p:cNvSpPr/>
          <p:nvPr/>
        </p:nvSpPr>
        <p:spPr>
          <a:xfrm>
            <a:off x="8515807" y="1295705"/>
            <a:ext cx="381305" cy="381305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920801" y="1356970"/>
            <a:ext cx="23408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4787798" y="1356970"/>
            <a:ext cx="23408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8654796" y="1356970"/>
            <a:ext cx="23408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1291133" y="1819656"/>
            <a:ext cx="203362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33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認知・理解フェーズ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5158130" y="1819656"/>
            <a:ext cx="203362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33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実践・体験フェーズ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9025128" y="1819656"/>
            <a:ext cx="203362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33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定着・発展フェーズ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1019556" y="2276856"/>
            <a:ext cx="16294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AIリテラシー向上研修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1019556" y="2581351"/>
            <a:ext cx="14767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AI活用事例の共有会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1019556" y="2885846"/>
            <a:ext cx="16294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AI関連書籍の購入支援</a:t>
            </a:r>
            <a:endParaRPr lang="en-US" sz="120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34256" y="2414930"/>
            <a:ext cx="228600" cy="228600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4886554" y="2276856"/>
            <a:ext cx="19531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プロジェクトへの試験導入</a:t>
            </a:r>
            <a:endParaRPr lang="en-US" sz="1200" dirty="0"/>
          </a:p>
        </p:txBody>
      </p:sp>
      <p:sp>
        <p:nvSpPr>
          <p:cNvPr id="22" name="Text 18"/>
          <p:cNvSpPr txBox="1"/>
          <p:nvPr/>
        </p:nvSpPr>
        <p:spPr>
          <a:xfrm>
            <a:off x="4886554" y="2581351"/>
            <a:ext cx="16294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AIツール専用予算確保</a:t>
            </a:r>
            <a:endParaRPr lang="en-US" sz="1200" dirty="0"/>
          </a:p>
        </p:txBody>
      </p:sp>
      <p:sp>
        <p:nvSpPr>
          <p:cNvPr id="23" name="Text 19"/>
          <p:cNvSpPr txBox="1"/>
          <p:nvPr/>
        </p:nvSpPr>
        <p:spPr>
          <a:xfrm>
            <a:off x="4886554" y="2885846"/>
            <a:ext cx="18004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成功事例の社内表彰制度</a:t>
            </a:r>
            <a:endParaRPr lang="en-US" sz="1200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034833" y="2414930"/>
            <a:ext cx="228600" cy="228600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8753551" y="2276856"/>
            <a:ext cx="17812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AI活用を人事評価項目化</a:t>
            </a:r>
            <a:endParaRPr lang="en-US" sz="1200" dirty="0"/>
          </a:p>
        </p:txBody>
      </p:sp>
      <p:sp>
        <p:nvSpPr>
          <p:cNvPr id="26" name="Text 21"/>
          <p:cNvSpPr txBox="1"/>
          <p:nvPr/>
        </p:nvSpPr>
        <p:spPr>
          <a:xfrm>
            <a:off x="8753551" y="2581351"/>
            <a:ext cx="17721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AIエキスパート社内認定</a:t>
            </a:r>
            <a:endParaRPr lang="en-US" sz="1200" dirty="0"/>
          </a:p>
        </p:txBody>
      </p:sp>
      <p:sp>
        <p:nvSpPr>
          <p:cNvPr id="27" name="Text 22"/>
          <p:cNvSpPr txBox="1"/>
          <p:nvPr/>
        </p:nvSpPr>
        <p:spPr>
          <a:xfrm>
            <a:off x="8753551" y="2885846"/>
            <a:ext cx="1791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他社との技術交流会参加</a:t>
            </a:r>
            <a:endParaRPr lang="en-US" sz="1200" dirty="0"/>
          </a:p>
        </p:txBody>
      </p:sp>
      <p:sp>
        <p:nvSpPr>
          <p:cNvPr id="28" name="Shape 23"/>
          <p:cNvSpPr/>
          <p:nvPr/>
        </p:nvSpPr>
        <p:spPr>
          <a:xfrm>
            <a:off x="571500" y="3972154"/>
            <a:ext cx="11048695" cy="1352398"/>
          </a:xfrm>
          <a:prstGeom prst="roundRect">
            <a:avLst>
              <a:gd name="adj" fmla="val 4761"/>
            </a:avLst>
          </a:prstGeom>
          <a:solidFill>
            <a:srgbClr val="EEF7FF"/>
          </a:solidFill>
          <a:ln/>
        </p:spPr>
      </p:sp>
      <p:sp>
        <p:nvSpPr>
          <p:cNvPr id="29" name="Shape 24"/>
          <p:cNvSpPr/>
          <p:nvPr/>
        </p:nvSpPr>
        <p:spPr>
          <a:xfrm>
            <a:off x="571500" y="3972154"/>
            <a:ext cx="38405" cy="1352398"/>
          </a:xfrm>
          <a:prstGeom prst="rect">
            <a:avLst/>
          </a:prstGeom>
          <a:solidFill>
            <a:srgbClr val="0066CC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00100" y="4209898"/>
            <a:ext cx="190195" cy="190195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1067105" y="4162349"/>
            <a:ext cx="6574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33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KPI例</a:t>
            </a:r>
            <a:endParaRPr lang="en-US" sz="1500" dirty="0"/>
          </a:p>
        </p:txBody>
      </p:sp>
      <p:sp>
        <p:nvSpPr>
          <p:cNvPr id="32" name="Text 26"/>
          <p:cNvSpPr txBox="1"/>
          <p:nvPr/>
        </p:nvSpPr>
        <p:spPr>
          <a:xfrm>
            <a:off x="1788566" y="4591202"/>
            <a:ext cx="8001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66C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&gt;90%</a:t>
            </a:r>
            <a:endParaRPr lang="en-US" sz="1800" dirty="0"/>
          </a:p>
        </p:txBody>
      </p:sp>
      <p:sp>
        <p:nvSpPr>
          <p:cNvPr id="33" name="Text 27"/>
          <p:cNvSpPr txBox="1"/>
          <p:nvPr/>
        </p:nvSpPr>
        <p:spPr>
          <a:xfrm>
            <a:off x="4369003" y="4591202"/>
            <a:ext cx="8001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66C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&gt;50%</a:t>
            </a:r>
            <a:endParaRPr lang="en-US" sz="1800" dirty="0"/>
          </a:p>
        </p:txBody>
      </p:sp>
      <p:sp>
        <p:nvSpPr>
          <p:cNvPr id="34" name="Text 28"/>
          <p:cNvSpPr txBox="1"/>
          <p:nvPr/>
        </p:nvSpPr>
        <p:spPr>
          <a:xfrm>
            <a:off x="6986930" y="4591202"/>
            <a:ext cx="99121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66C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20件/月</a:t>
            </a:r>
            <a:endParaRPr lang="en-US" sz="1800" dirty="0"/>
          </a:p>
        </p:txBody>
      </p:sp>
      <p:sp>
        <p:nvSpPr>
          <p:cNvPr id="35" name="Text 29"/>
          <p:cNvSpPr txBox="1"/>
          <p:nvPr/>
        </p:nvSpPr>
        <p:spPr>
          <a:xfrm>
            <a:off x="9816998" y="4591202"/>
            <a:ext cx="8001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66C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+30%</a:t>
            </a:r>
            <a:endParaRPr lang="en-US" sz="1800" dirty="0"/>
          </a:p>
        </p:txBody>
      </p:sp>
      <p:sp>
        <p:nvSpPr>
          <p:cNvPr id="36" name="Text 30"/>
          <p:cNvSpPr txBox="1"/>
          <p:nvPr/>
        </p:nvSpPr>
        <p:spPr>
          <a:xfrm>
            <a:off x="1767535" y="4934102"/>
            <a:ext cx="7671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研修受講率</a:t>
            </a:r>
            <a:endParaRPr lang="en-US" sz="1000" dirty="0"/>
          </a:p>
        </p:txBody>
      </p:sp>
      <p:sp>
        <p:nvSpPr>
          <p:cNvPr id="37" name="Text 31"/>
          <p:cNvSpPr txBox="1"/>
          <p:nvPr/>
        </p:nvSpPr>
        <p:spPr>
          <a:xfrm>
            <a:off x="4421124" y="4934102"/>
            <a:ext cx="6245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AI活用率</a:t>
            </a:r>
            <a:endParaRPr lang="en-US" sz="1000" dirty="0"/>
          </a:p>
        </p:txBody>
      </p:sp>
      <p:sp>
        <p:nvSpPr>
          <p:cNvPr id="38" name="Text 32"/>
          <p:cNvSpPr txBox="1"/>
          <p:nvPr/>
        </p:nvSpPr>
        <p:spPr>
          <a:xfrm>
            <a:off x="6927494" y="4934102"/>
            <a:ext cx="10341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成功事例共有数</a:t>
            </a:r>
            <a:endParaRPr lang="en-US" sz="1000" dirty="0"/>
          </a:p>
        </p:txBody>
      </p:sp>
      <p:sp>
        <p:nvSpPr>
          <p:cNvPr id="39" name="Text 33"/>
          <p:cNvSpPr txBox="1"/>
          <p:nvPr/>
        </p:nvSpPr>
        <p:spPr>
          <a:xfrm>
            <a:off x="9795967" y="4934102"/>
            <a:ext cx="7671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生産性向上</a:t>
            </a:r>
            <a:endParaRPr lang="en-US" sz="1000" dirty="0"/>
          </a:p>
        </p:txBody>
      </p:sp>
      <p:sp>
        <p:nvSpPr>
          <p:cNvPr id="40" name="Text 34"/>
          <p:cNvSpPr txBox="1"/>
          <p:nvPr/>
        </p:nvSpPr>
        <p:spPr>
          <a:xfrm>
            <a:off x="10264140" y="6439205"/>
            <a:ext cx="14767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AI推進プロジェクト</a:t>
            </a:r>
            <a:endParaRPr lang="en-US" sz="1200" dirty="0"/>
          </a:p>
        </p:txBody>
      </p:sp>
      <p:sp>
        <p:nvSpPr>
          <p:cNvPr id="41" name="Shape 35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003366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563002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71500" y="694944"/>
            <a:ext cx="304495" cy="30449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19556" y="580644"/>
            <a:ext cx="6486754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33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AI活用促進施策の全体像（10カテゴリ）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71500" y="1657807"/>
            <a:ext cx="5410505" cy="875995"/>
          </a:xfrm>
          <a:prstGeom prst="roundRect">
            <a:avLst>
              <a:gd name="adj" fmla="val 11346"/>
            </a:avLst>
          </a:prstGeom>
          <a:solidFill>
            <a:srgbClr val="F8FBFF"/>
          </a:solidFill>
          <a:ln w="12700">
            <a:solidFill>
              <a:srgbClr val="E0E9F5"/>
            </a:solidFill>
            <a:prstDash val="solid"/>
          </a:ln>
          <a:effectLst>
            <a:outerShdw sx="100000" sy="100000" kx="0" ky="0" algn="bl" rotWithShape="0" blurRad="63500" dist="38100" dir="5400000">
              <a:srgbClr val="003366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215177" y="1657807"/>
            <a:ext cx="5410505" cy="875995"/>
          </a:xfrm>
          <a:prstGeom prst="roundRect">
            <a:avLst>
              <a:gd name="adj" fmla="val 11346"/>
            </a:avLst>
          </a:prstGeom>
          <a:solidFill>
            <a:srgbClr val="F8FBFF"/>
          </a:solidFill>
          <a:ln w="12700">
            <a:solidFill>
              <a:srgbClr val="E0E9F5"/>
            </a:solidFill>
            <a:prstDash val="solid"/>
          </a:ln>
          <a:effectLst>
            <a:outerShdw sx="100000" sy="100000" kx="0" ky="0" algn="bl" rotWithShape="0" blurRad="63500" dist="38100" dir="5400000">
              <a:srgbClr val="003366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215177" y="2771546"/>
            <a:ext cx="5410505" cy="875995"/>
          </a:xfrm>
          <a:prstGeom prst="roundRect">
            <a:avLst>
              <a:gd name="adj" fmla="val 11346"/>
            </a:avLst>
          </a:prstGeom>
          <a:solidFill>
            <a:srgbClr val="F8FBFF"/>
          </a:solidFill>
          <a:ln w="12700">
            <a:solidFill>
              <a:srgbClr val="E0E9F5"/>
            </a:solidFill>
            <a:prstDash val="solid"/>
          </a:ln>
          <a:effectLst>
            <a:outerShdw sx="100000" sy="100000" kx="0" ky="0" algn="bl" rotWithShape="0" blurRad="63500" dist="38100" dir="5400000">
              <a:srgbClr val="003366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71754" y="1524305"/>
            <a:ext cx="286207" cy="286207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9" name="Shape 6"/>
          <p:cNvSpPr/>
          <p:nvPr/>
        </p:nvSpPr>
        <p:spPr>
          <a:xfrm>
            <a:off x="6415430" y="1524305"/>
            <a:ext cx="286207" cy="286207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69594" y="1552651"/>
            <a:ext cx="210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71754" y="1857146"/>
            <a:ext cx="476402" cy="476402"/>
          </a:xfrm>
          <a:prstGeom prst="ellipse">
            <a:avLst/>
          </a:prstGeom>
          <a:solidFill>
            <a:srgbClr val="0066CC">
              <a:alpha val="10000"/>
            </a:srgbClr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rcRect l="-80" r="-80" t="0" b="0"/>
          <a:stretch/>
        </p:blipFill>
        <p:spPr>
          <a:xfrm>
            <a:off x="866851" y="1981505"/>
            <a:ext cx="286207" cy="22860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6415430" y="2638044"/>
            <a:ext cx="286207" cy="286207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6513271" y="1552651"/>
            <a:ext cx="210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415430" y="1857146"/>
            <a:ext cx="476402" cy="476402"/>
          </a:xfrm>
          <a:prstGeom prst="ellipse">
            <a:avLst/>
          </a:prstGeom>
          <a:solidFill>
            <a:srgbClr val="0066CC">
              <a:alpha val="10000"/>
            </a:srgbClr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1390802" y="1966874"/>
            <a:ext cx="16724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33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教育・トレーニング</a:t>
            </a:r>
            <a:endParaRPr lang="en-US" sz="13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rcRect l="-80" r="-80" t="0" b="0"/>
          <a:stretch/>
        </p:blipFill>
        <p:spPr>
          <a:xfrm>
            <a:off x="6510528" y="1981505"/>
            <a:ext cx="286207" cy="228600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571500" y="2771546"/>
            <a:ext cx="5410505" cy="875995"/>
          </a:xfrm>
          <a:prstGeom prst="roundRect">
            <a:avLst>
              <a:gd name="adj" fmla="val 11346"/>
            </a:avLst>
          </a:prstGeom>
          <a:solidFill>
            <a:srgbClr val="F8FBFF"/>
          </a:solidFill>
          <a:ln w="12700">
            <a:solidFill>
              <a:srgbClr val="E0E9F5"/>
            </a:solidFill>
            <a:prstDash val="solid"/>
          </a:ln>
          <a:effectLst>
            <a:outerShdw sx="100000" sy="100000" kx="0" ky="0" algn="bl" rotWithShape="0" blurRad="63500" dist="38100" dir="5400000">
              <a:srgbClr val="003366">
                <a:alpha val="1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71754" y="2638044"/>
            <a:ext cx="286207" cy="286207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869594" y="2667305"/>
            <a:ext cx="210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6513271" y="2667305"/>
            <a:ext cx="210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17"/>
          <p:cNvSpPr txBox="1"/>
          <p:nvPr/>
        </p:nvSpPr>
        <p:spPr>
          <a:xfrm>
            <a:off x="869594" y="3781044"/>
            <a:ext cx="210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771754" y="2971800"/>
            <a:ext cx="476402" cy="476402"/>
          </a:xfrm>
          <a:prstGeom prst="ellipse">
            <a:avLst/>
          </a:prstGeom>
          <a:solidFill>
            <a:srgbClr val="0066CC">
              <a:alpha val="10000"/>
            </a:srgbClr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7034479" y="1966874"/>
            <a:ext cx="386242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33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環境整備（ライセンス/ガイドライン/相談窓口）</a:t>
            </a:r>
            <a:endParaRPr lang="en-US" sz="1300" dirty="0"/>
          </a:p>
        </p:txBody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44" b="-44"/>
          <a:stretch/>
        </p:blipFill>
        <p:spPr>
          <a:xfrm>
            <a:off x="881482" y="3095244"/>
            <a:ext cx="256946" cy="228600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6415430" y="2971800"/>
            <a:ext cx="476402" cy="476402"/>
          </a:xfrm>
          <a:prstGeom prst="ellipse">
            <a:avLst/>
          </a:prstGeom>
          <a:solidFill>
            <a:srgbClr val="0066CC">
              <a:alpha val="10000"/>
            </a:srgbClr>
          </a:solidFill>
          <a:ln/>
        </p:spPr>
      </p:sp>
      <p:sp>
        <p:nvSpPr>
          <p:cNvPr id="27" name="Text 21"/>
          <p:cNvSpPr txBox="1"/>
          <p:nvPr/>
        </p:nvSpPr>
        <p:spPr>
          <a:xfrm>
            <a:off x="1390802" y="3081528"/>
            <a:ext cx="166237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33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インセンティブ制度</a:t>
            </a:r>
            <a:endParaRPr lang="en-US" sz="1300" dirty="0"/>
          </a:p>
        </p:txBody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rcRect l="-80" r="-80" t="0" b="0"/>
          <a:stretch/>
        </p:blipFill>
        <p:spPr>
          <a:xfrm>
            <a:off x="6510528" y="3095244"/>
            <a:ext cx="286207" cy="228600"/>
          </a:xfrm>
          <a:prstGeom prst="rect">
            <a:avLst/>
          </a:prstGeom>
        </p:spPr>
      </p:pic>
      <p:sp>
        <p:nvSpPr>
          <p:cNvPr id="29" name="Shape 22"/>
          <p:cNvSpPr/>
          <p:nvPr/>
        </p:nvSpPr>
        <p:spPr>
          <a:xfrm>
            <a:off x="571500" y="3886200"/>
            <a:ext cx="5410505" cy="875995"/>
          </a:xfrm>
          <a:prstGeom prst="roundRect">
            <a:avLst>
              <a:gd name="adj" fmla="val 11346"/>
            </a:avLst>
          </a:prstGeom>
          <a:solidFill>
            <a:srgbClr val="F8FBFF"/>
          </a:solidFill>
          <a:ln w="12700">
            <a:solidFill>
              <a:srgbClr val="E0E9F5"/>
            </a:solidFill>
            <a:prstDash val="solid"/>
          </a:ln>
          <a:effectLst>
            <a:outerShdw sx="100000" sy="100000" kx="0" ky="0" algn="bl" rotWithShape="0" blurRad="63500" dist="38100" dir="5400000">
              <a:srgbClr val="003366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771754" y="3752698"/>
            <a:ext cx="286207" cy="286207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31" name="Shape 24"/>
          <p:cNvSpPr/>
          <p:nvPr/>
        </p:nvSpPr>
        <p:spPr>
          <a:xfrm>
            <a:off x="771754" y="4086454"/>
            <a:ext cx="476402" cy="476402"/>
          </a:xfrm>
          <a:prstGeom prst="ellipse">
            <a:avLst/>
          </a:prstGeom>
          <a:solidFill>
            <a:srgbClr val="0066CC">
              <a:alpha val="10000"/>
            </a:srgbClr>
          </a:solidFill>
          <a:ln/>
        </p:spPr>
      </p:sp>
      <p:sp>
        <p:nvSpPr>
          <p:cNvPr id="32" name="Text 25"/>
          <p:cNvSpPr txBox="1"/>
          <p:nvPr/>
        </p:nvSpPr>
        <p:spPr>
          <a:xfrm>
            <a:off x="7034479" y="3081528"/>
            <a:ext cx="20153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33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メンタリング・サポート</a:t>
            </a:r>
            <a:endParaRPr lang="en-US" sz="1300" dirty="0"/>
          </a:p>
        </p:txBody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95198" y="4209898"/>
            <a:ext cx="228600" cy="228600"/>
          </a:xfrm>
          <a:prstGeom prst="rect">
            <a:avLst/>
          </a:prstGeom>
        </p:spPr>
      </p:pic>
      <p:sp>
        <p:nvSpPr>
          <p:cNvPr id="34" name="Shape 26"/>
          <p:cNvSpPr/>
          <p:nvPr/>
        </p:nvSpPr>
        <p:spPr>
          <a:xfrm>
            <a:off x="6215177" y="3886200"/>
            <a:ext cx="5410505" cy="875995"/>
          </a:xfrm>
          <a:prstGeom prst="roundRect">
            <a:avLst>
              <a:gd name="adj" fmla="val 11346"/>
            </a:avLst>
          </a:prstGeom>
          <a:solidFill>
            <a:srgbClr val="F8FBFF"/>
          </a:solidFill>
          <a:ln w="12700">
            <a:solidFill>
              <a:srgbClr val="E0E9F5"/>
            </a:solidFill>
            <a:prstDash val="solid"/>
          </a:ln>
          <a:effectLst>
            <a:outerShdw sx="100000" sy="100000" kx="0" ky="0" algn="bl" rotWithShape="0" blurRad="63500" dist="38100" dir="5400000">
              <a:srgbClr val="003366">
                <a:alpha val="10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571500" y="5000854"/>
            <a:ext cx="5410505" cy="875995"/>
          </a:xfrm>
          <a:prstGeom prst="roundRect">
            <a:avLst>
              <a:gd name="adj" fmla="val 11346"/>
            </a:avLst>
          </a:prstGeom>
          <a:solidFill>
            <a:srgbClr val="F8FBFF"/>
          </a:solidFill>
          <a:ln w="12700">
            <a:solidFill>
              <a:srgbClr val="E0E9F5"/>
            </a:solidFill>
            <a:prstDash val="solid"/>
          </a:ln>
          <a:effectLst>
            <a:outerShdw sx="100000" sy="100000" kx="0" ky="0" algn="bl" rotWithShape="0" blurRad="63500" dist="38100" dir="5400000">
              <a:srgbClr val="003366">
                <a:alpha val="10000"/>
              </a:srgbClr>
            </a:outerShdw>
          </a:effectLst>
        </p:spPr>
      </p:sp>
      <p:sp>
        <p:nvSpPr>
          <p:cNvPr id="36" name="Shape 28"/>
          <p:cNvSpPr/>
          <p:nvPr/>
        </p:nvSpPr>
        <p:spPr>
          <a:xfrm>
            <a:off x="571500" y="6115507"/>
            <a:ext cx="5410505" cy="875995"/>
          </a:xfrm>
          <a:prstGeom prst="roundRect">
            <a:avLst>
              <a:gd name="adj" fmla="val 11346"/>
            </a:avLst>
          </a:prstGeom>
          <a:solidFill>
            <a:srgbClr val="F8FBFF"/>
          </a:solidFill>
          <a:ln w="12700">
            <a:solidFill>
              <a:srgbClr val="E0E9F5"/>
            </a:solidFill>
            <a:prstDash val="solid"/>
          </a:ln>
          <a:effectLst>
            <a:outerShdw sx="100000" sy="100000" kx="0" ky="0" algn="bl" rotWithShape="0" blurRad="63500" dist="38100" dir="5400000">
              <a:srgbClr val="003366">
                <a:alpha val="10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6215177" y="6115507"/>
            <a:ext cx="5410505" cy="875995"/>
          </a:xfrm>
          <a:prstGeom prst="roundRect">
            <a:avLst>
              <a:gd name="adj" fmla="val 11346"/>
            </a:avLst>
          </a:prstGeom>
          <a:solidFill>
            <a:srgbClr val="F8FBFF"/>
          </a:solidFill>
          <a:ln w="12700">
            <a:solidFill>
              <a:srgbClr val="E0E9F5"/>
            </a:solidFill>
            <a:prstDash val="solid"/>
          </a:ln>
          <a:effectLst>
            <a:outerShdw sx="100000" sy="100000" kx="0" ky="0" algn="bl" rotWithShape="0" blurRad="63500" dist="38100" dir="5400000">
              <a:srgbClr val="003366">
                <a:alpha val="10000"/>
              </a:srgbClr>
            </a:outerShdw>
          </a:effectLst>
        </p:spPr>
      </p:sp>
      <p:sp>
        <p:nvSpPr>
          <p:cNvPr id="38" name="Shape 30"/>
          <p:cNvSpPr/>
          <p:nvPr/>
        </p:nvSpPr>
        <p:spPr>
          <a:xfrm>
            <a:off x="6415430" y="3752698"/>
            <a:ext cx="286207" cy="286207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39" name="Shape 31"/>
          <p:cNvSpPr/>
          <p:nvPr/>
        </p:nvSpPr>
        <p:spPr>
          <a:xfrm>
            <a:off x="771754" y="4867351"/>
            <a:ext cx="286207" cy="286207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40" name="Shape 32"/>
          <p:cNvSpPr/>
          <p:nvPr/>
        </p:nvSpPr>
        <p:spPr>
          <a:xfrm>
            <a:off x="6415430" y="5982005"/>
            <a:ext cx="286207" cy="286207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41" name="Text 33"/>
          <p:cNvSpPr txBox="1"/>
          <p:nvPr/>
        </p:nvSpPr>
        <p:spPr>
          <a:xfrm>
            <a:off x="6513271" y="3781044"/>
            <a:ext cx="210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6</a:t>
            </a:r>
            <a:endParaRPr lang="en-US" sz="1200" dirty="0"/>
          </a:p>
        </p:txBody>
      </p:sp>
      <p:sp>
        <p:nvSpPr>
          <p:cNvPr id="42" name="Shape 34"/>
          <p:cNvSpPr/>
          <p:nvPr/>
        </p:nvSpPr>
        <p:spPr>
          <a:xfrm>
            <a:off x="6415430" y="4086454"/>
            <a:ext cx="476402" cy="476402"/>
          </a:xfrm>
          <a:prstGeom prst="ellipse">
            <a:avLst/>
          </a:prstGeom>
          <a:solidFill>
            <a:srgbClr val="0066CC">
              <a:alpha val="10000"/>
            </a:srgbClr>
          </a:solidFill>
          <a:ln/>
        </p:spPr>
      </p:sp>
      <p:sp>
        <p:nvSpPr>
          <p:cNvPr id="43" name="Text 35"/>
          <p:cNvSpPr txBox="1"/>
          <p:nvPr/>
        </p:nvSpPr>
        <p:spPr>
          <a:xfrm>
            <a:off x="1390802" y="4196182"/>
            <a:ext cx="150053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33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AI活用時間の確保</a:t>
            </a:r>
            <a:endParaRPr lang="en-US" sz="1300" dirty="0"/>
          </a:p>
        </p:txBody>
      </p:sp>
      <p:pic>
        <p:nvPicPr>
          <p:cNvPr id="44" name="Image 6" descr="preencoded.png">    </p:cNvPr>
          <p:cNvPicPr>
            <a:picLocks noChangeAspect="1"/>
          </p:cNvPicPr>
          <p:nvPr/>
        </p:nvPicPr>
        <p:blipFill>
          <a:blip r:embed="rId7"/>
          <a:srcRect l="-57" r="-57" t="0" b="0"/>
          <a:stretch/>
        </p:blipFill>
        <p:spPr>
          <a:xfrm>
            <a:off x="6553505" y="4209898"/>
            <a:ext cx="200254" cy="228600"/>
          </a:xfrm>
          <a:prstGeom prst="rect">
            <a:avLst/>
          </a:prstGeom>
        </p:spPr>
      </p:pic>
      <p:sp>
        <p:nvSpPr>
          <p:cNvPr id="45" name="Shape 36"/>
          <p:cNvSpPr/>
          <p:nvPr/>
        </p:nvSpPr>
        <p:spPr>
          <a:xfrm>
            <a:off x="6215177" y="5000854"/>
            <a:ext cx="5410505" cy="875995"/>
          </a:xfrm>
          <a:prstGeom prst="roundRect">
            <a:avLst>
              <a:gd name="adj" fmla="val 11346"/>
            </a:avLst>
          </a:prstGeom>
          <a:solidFill>
            <a:srgbClr val="F8FBFF"/>
          </a:solidFill>
          <a:ln w="12700">
            <a:solidFill>
              <a:srgbClr val="E0E9F5"/>
            </a:solidFill>
            <a:prstDash val="solid"/>
          </a:ln>
          <a:effectLst>
            <a:outerShdw sx="100000" sy="100000" kx="0" ky="0" algn="bl" rotWithShape="0" blurRad="63500" dist="38100" dir="5400000">
              <a:srgbClr val="003366">
                <a:alpha val="10000"/>
              </a:srgbClr>
            </a:outerShdw>
          </a:effectLst>
        </p:spPr>
      </p:sp>
      <p:sp>
        <p:nvSpPr>
          <p:cNvPr id="46" name="Shape 37"/>
          <p:cNvSpPr/>
          <p:nvPr/>
        </p:nvSpPr>
        <p:spPr>
          <a:xfrm>
            <a:off x="6415430" y="4867351"/>
            <a:ext cx="286207" cy="286207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47" name="Text 38"/>
          <p:cNvSpPr txBox="1"/>
          <p:nvPr/>
        </p:nvSpPr>
        <p:spPr>
          <a:xfrm>
            <a:off x="869594" y="4895698"/>
            <a:ext cx="210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7</a:t>
            </a:r>
            <a:endParaRPr lang="en-US" sz="1200" dirty="0"/>
          </a:p>
        </p:txBody>
      </p:sp>
      <p:sp>
        <p:nvSpPr>
          <p:cNvPr id="48" name="Text 39"/>
          <p:cNvSpPr txBox="1"/>
          <p:nvPr/>
        </p:nvSpPr>
        <p:spPr>
          <a:xfrm>
            <a:off x="6513271" y="4895698"/>
            <a:ext cx="210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8</a:t>
            </a:r>
            <a:endParaRPr lang="en-US" sz="1200" dirty="0"/>
          </a:p>
        </p:txBody>
      </p:sp>
      <p:sp>
        <p:nvSpPr>
          <p:cNvPr id="49" name="Text 40"/>
          <p:cNvSpPr txBox="1"/>
          <p:nvPr/>
        </p:nvSpPr>
        <p:spPr>
          <a:xfrm>
            <a:off x="869594" y="6010351"/>
            <a:ext cx="210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9</a:t>
            </a:r>
            <a:endParaRPr lang="en-US" sz="1200" dirty="0"/>
          </a:p>
        </p:txBody>
      </p:sp>
      <p:sp>
        <p:nvSpPr>
          <p:cNvPr id="50" name="Shape 41"/>
          <p:cNvSpPr/>
          <p:nvPr/>
        </p:nvSpPr>
        <p:spPr>
          <a:xfrm>
            <a:off x="771754" y="5201107"/>
            <a:ext cx="476402" cy="476402"/>
          </a:xfrm>
          <a:prstGeom prst="ellipse">
            <a:avLst/>
          </a:prstGeom>
          <a:solidFill>
            <a:srgbClr val="0066CC">
              <a:alpha val="10000"/>
            </a:srgbClr>
          </a:solidFill>
          <a:ln/>
        </p:spPr>
      </p:sp>
      <p:sp>
        <p:nvSpPr>
          <p:cNvPr id="51" name="Text 42"/>
          <p:cNvSpPr txBox="1"/>
          <p:nvPr/>
        </p:nvSpPr>
        <p:spPr>
          <a:xfrm>
            <a:off x="7034479" y="4196182"/>
            <a:ext cx="234817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33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ナレッジ共有・コミュニティ</a:t>
            </a:r>
            <a:endParaRPr lang="en-US" sz="1300" dirty="0"/>
          </a:p>
        </p:txBody>
      </p:sp>
      <p:pic>
        <p:nvPicPr>
          <p:cNvPr id="52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895198" y="5324551"/>
            <a:ext cx="228600" cy="228600"/>
          </a:xfrm>
          <a:prstGeom prst="rect">
            <a:avLst/>
          </a:prstGeom>
        </p:spPr>
      </p:pic>
      <p:sp>
        <p:nvSpPr>
          <p:cNvPr id="53" name="Shape 43"/>
          <p:cNvSpPr/>
          <p:nvPr/>
        </p:nvSpPr>
        <p:spPr>
          <a:xfrm>
            <a:off x="6415430" y="5201107"/>
            <a:ext cx="476402" cy="476402"/>
          </a:xfrm>
          <a:prstGeom prst="ellipse">
            <a:avLst/>
          </a:prstGeom>
          <a:solidFill>
            <a:srgbClr val="0066CC">
              <a:alpha val="10000"/>
            </a:srgbClr>
          </a:solidFill>
          <a:ln/>
        </p:spPr>
      </p:sp>
      <p:sp>
        <p:nvSpPr>
          <p:cNvPr id="54" name="Text 44"/>
          <p:cNvSpPr txBox="1"/>
          <p:nvPr/>
        </p:nvSpPr>
        <p:spPr>
          <a:xfrm>
            <a:off x="1390802" y="5309921"/>
            <a:ext cx="16724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33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スキル可視化・評価</a:t>
            </a:r>
            <a:endParaRPr lang="en-US" sz="1300" dirty="0"/>
          </a:p>
        </p:txBody>
      </p:sp>
      <p:pic>
        <p:nvPicPr>
          <p:cNvPr id="55" name="Image 8" descr="preencoded.png">    </p:cNvPr>
          <p:cNvPicPr>
            <a:picLocks noChangeAspect="1"/>
          </p:cNvPicPr>
          <p:nvPr/>
        </p:nvPicPr>
        <p:blipFill>
          <a:blip r:embed="rId9"/>
          <a:srcRect l="-80" r="-80" t="0" b="0"/>
          <a:stretch/>
        </p:blipFill>
        <p:spPr>
          <a:xfrm>
            <a:off x="6510528" y="5324551"/>
            <a:ext cx="286207" cy="228600"/>
          </a:xfrm>
          <a:prstGeom prst="rect">
            <a:avLst/>
          </a:prstGeom>
        </p:spPr>
      </p:pic>
      <p:sp>
        <p:nvSpPr>
          <p:cNvPr id="56" name="Shape 45"/>
          <p:cNvSpPr/>
          <p:nvPr/>
        </p:nvSpPr>
        <p:spPr>
          <a:xfrm>
            <a:off x="771754" y="5982005"/>
            <a:ext cx="286207" cy="286207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57" name="Text 46"/>
          <p:cNvSpPr txBox="1"/>
          <p:nvPr/>
        </p:nvSpPr>
        <p:spPr>
          <a:xfrm>
            <a:off x="6467551" y="6010351"/>
            <a:ext cx="2953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10</a:t>
            </a:r>
            <a:endParaRPr lang="en-US" sz="1200" dirty="0"/>
          </a:p>
        </p:txBody>
      </p:sp>
      <p:sp>
        <p:nvSpPr>
          <p:cNvPr id="58" name="Shape 47"/>
          <p:cNvSpPr/>
          <p:nvPr/>
        </p:nvSpPr>
        <p:spPr>
          <a:xfrm>
            <a:off x="771754" y="6314846"/>
            <a:ext cx="476402" cy="476402"/>
          </a:xfrm>
          <a:prstGeom prst="ellipse">
            <a:avLst/>
          </a:prstGeom>
          <a:solidFill>
            <a:srgbClr val="0066CC">
              <a:alpha val="10000"/>
            </a:srgbClr>
          </a:solidFill>
          <a:ln/>
        </p:spPr>
      </p:sp>
      <p:sp>
        <p:nvSpPr>
          <p:cNvPr id="59" name="Shape 48"/>
          <p:cNvSpPr/>
          <p:nvPr/>
        </p:nvSpPr>
        <p:spPr>
          <a:xfrm>
            <a:off x="6415430" y="6314846"/>
            <a:ext cx="476402" cy="476402"/>
          </a:xfrm>
          <a:prstGeom prst="ellipse">
            <a:avLst/>
          </a:prstGeom>
          <a:solidFill>
            <a:srgbClr val="0066CC">
              <a:alpha val="10000"/>
            </a:srgbClr>
          </a:solidFill>
          <a:ln/>
        </p:spPr>
      </p:sp>
      <p:sp>
        <p:nvSpPr>
          <p:cNvPr id="60" name="Text 49"/>
          <p:cNvSpPr txBox="1"/>
          <p:nvPr/>
        </p:nvSpPr>
        <p:spPr>
          <a:xfrm>
            <a:off x="7034479" y="5309921"/>
            <a:ext cx="16724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33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組織横断的取り組み</a:t>
            </a:r>
            <a:endParaRPr lang="en-US" sz="1300" dirty="0"/>
          </a:p>
        </p:txBody>
      </p:sp>
      <p:pic>
        <p:nvPicPr>
          <p:cNvPr id="61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895198" y="6439205"/>
            <a:ext cx="228600" cy="228600"/>
          </a:xfrm>
          <a:prstGeom prst="rect">
            <a:avLst/>
          </a:prstGeom>
        </p:spPr>
      </p:pic>
      <p:sp>
        <p:nvSpPr>
          <p:cNvPr id="62" name="Text 50"/>
          <p:cNvSpPr txBox="1"/>
          <p:nvPr/>
        </p:nvSpPr>
        <p:spPr>
          <a:xfrm>
            <a:off x="1390802" y="6424574"/>
            <a:ext cx="16724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33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失敗を許容する文化</a:t>
            </a:r>
            <a:endParaRPr lang="en-US" sz="1300" dirty="0"/>
          </a:p>
        </p:txBody>
      </p:sp>
      <p:pic>
        <p:nvPicPr>
          <p:cNvPr id="63" name="Image 10" descr="preencoded.png">    </p:cNvPr>
          <p:cNvPicPr>
            <a:picLocks noChangeAspect="1"/>
          </p:cNvPicPr>
          <p:nvPr/>
        </p:nvPicPr>
        <p:blipFill>
          <a:blip r:embed="rId11"/>
          <a:srcRect l="-57" r="-57" t="0" b="0"/>
          <a:stretch/>
        </p:blipFill>
        <p:spPr>
          <a:xfrm>
            <a:off x="6553505" y="6439205"/>
            <a:ext cx="200254" cy="228600"/>
          </a:xfrm>
          <a:prstGeom prst="rect">
            <a:avLst/>
          </a:prstGeom>
        </p:spPr>
      </p:pic>
      <p:sp>
        <p:nvSpPr>
          <p:cNvPr id="64" name="Text 51"/>
          <p:cNvSpPr txBox="1"/>
          <p:nvPr/>
        </p:nvSpPr>
        <p:spPr>
          <a:xfrm>
            <a:off x="7034479" y="6424574"/>
            <a:ext cx="20153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33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経営層のコミットメント</a:t>
            </a:r>
            <a:endParaRPr lang="en-US" sz="1300" dirty="0"/>
          </a:p>
        </p:txBody>
      </p:sp>
      <p:sp>
        <p:nvSpPr>
          <p:cNvPr id="65" name="Text 52"/>
          <p:cNvSpPr txBox="1"/>
          <p:nvPr/>
        </p:nvSpPr>
        <p:spPr>
          <a:xfrm>
            <a:off x="10264140" y="7144207"/>
            <a:ext cx="14767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AI推進プロジェクト</a:t>
            </a:r>
            <a:endParaRPr lang="en-US" sz="1200" dirty="0"/>
          </a:p>
        </p:txBody>
      </p:sp>
      <p:sp>
        <p:nvSpPr>
          <p:cNvPr id="66" name="Shape 53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67" name="Shape 54"/>
          <p:cNvSpPr/>
          <p:nvPr/>
        </p:nvSpPr>
        <p:spPr>
          <a:xfrm>
            <a:off x="10763402" y="6133795"/>
            <a:ext cx="1904695" cy="1904695"/>
          </a:xfrm>
          <a:prstGeom prst="ellipse">
            <a:avLst/>
          </a:prstGeom>
          <a:noFill/>
          <a:ln w="254000">
            <a:solidFill>
              <a:srgbClr val="0066CC">
                <a:alpha val="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-607" r="-607" t="0" b="0"/>
          <a:stretch/>
        </p:blipFill>
        <p:spPr>
          <a:xfrm>
            <a:off x="571500" y="697687"/>
            <a:ext cx="362102" cy="28620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6249" y="580644"/>
            <a:ext cx="4038905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33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教育・トレーニング施策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71500" y="1848002"/>
            <a:ext cx="3495751" cy="19202"/>
          </a:xfrm>
          <a:prstGeom prst="rect">
            <a:avLst/>
          </a:prstGeom>
          <a:solidFill>
            <a:srgbClr val="003366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71500" y="1514246"/>
            <a:ext cx="142646" cy="19019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09244" y="1466698"/>
            <a:ext cx="52395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33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施策</a:t>
            </a:r>
            <a:endParaRPr lang="en-US" sz="1500" dirty="0"/>
          </a:p>
        </p:txBody>
      </p:sp>
      <p:sp>
        <p:nvSpPr>
          <p:cNvPr id="8" name="Shape 4"/>
          <p:cNvSpPr/>
          <p:nvPr/>
        </p:nvSpPr>
        <p:spPr>
          <a:xfrm>
            <a:off x="571500" y="2009851"/>
            <a:ext cx="3495751" cy="4276649"/>
          </a:xfrm>
          <a:prstGeom prst="roundRect">
            <a:avLst>
              <a:gd name="adj" fmla="val 713"/>
            </a:avLst>
          </a:prstGeom>
          <a:solidFill>
            <a:srgbClr val="F8FBFF"/>
          </a:solidFill>
          <a:ln/>
        </p:spPr>
      </p:sp>
      <p:sp>
        <p:nvSpPr>
          <p:cNvPr id="9" name="Shape 5"/>
          <p:cNvSpPr/>
          <p:nvPr/>
        </p:nvSpPr>
        <p:spPr>
          <a:xfrm>
            <a:off x="571500" y="2009851"/>
            <a:ext cx="38405" cy="4276649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1114654" y="2200046"/>
            <a:ext cx="28767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AIツール研修（初級/中級/上級）：各レベルに応じた実践的プログラム（基本操作から高度活用まで）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1114654" y="3029407"/>
            <a:ext cx="28767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プロンプトエンジニアリングWS：効果的な質問設計、業務別テンプレート作成、グループワーク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1114654" y="3857854"/>
            <a:ext cx="28767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AI倫理・セキュリティガイドライン：情報漏洩対策、著作権確認手順、バイアス対策、責任範囲の明確化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349801" y="1848002"/>
            <a:ext cx="3495751" cy="19202"/>
          </a:xfrm>
          <a:prstGeom prst="rect">
            <a:avLst/>
          </a:prstGeom>
          <a:solidFill>
            <a:srgbClr val="006633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49801" y="1514246"/>
            <a:ext cx="190195" cy="190195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4635094" y="1466698"/>
            <a:ext cx="9052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66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メリット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4349801" y="2009851"/>
            <a:ext cx="3495751" cy="4276649"/>
          </a:xfrm>
          <a:prstGeom prst="roundRect">
            <a:avLst>
              <a:gd name="adj" fmla="val 713"/>
            </a:avLst>
          </a:prstGeom>
          <a:solidFill>
            <a:srgbClr val="F9FFFA"/>
          </a:solidFill>
          <a:ln/>
        </p:spPr>
      </p:sp>
      <p:sp>
        <p:nvSpPr>
          <p:cNvPr id="17" name="Shape 12"/>
          <p:cNvSpPr/>
          <p:nvPr/>
        </p:nvSpPr>
        <p:spPr>
          <a:xfrm>
            <a:off x="4349801" y="2009851"/>
            <a:ext cx="38405" cy="4276649"/>
          </a:xfrm>
          <a:prstGeom prst="rect">
            <a:avLst/>
          </a:prstGeom>
          <a:solidFill>
            <a:srgbClr val="00AA66"/>
          </a:solidFill>
          <a:ln/>
        </p:spPr>
      </p:sp>
      <p:sp>
        <p:nvSpPr>
          <p:cNvPr id="18" name="Text 13"/>
          <p:cNvSpPr txBox="1"/>
          <p:nvPr/>
        </p:nvSpPr>
        <p:spPr>
          <a:xfrm>
            <a:off x="4892954" y="2200046"/>
            <a:ext cx="28767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スキルの標準化と底上げ：全社員が統一された知識基盤を持ち、チーム内コミュニケーションが円滑化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4892954" y="3029407"/>
            <a:ext cx="28767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効果的な活用促進：体系的教育で誤った使い方を防止、即業務活用可能なスキル習得（活用率3倍に）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4892954" y="3857854"/>
            <a:ext cx="28767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リスク管理の強化：コンプライアンス遵守、セキュリティインシデント80%削減、法的リスク対応力向上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8128102" y="1848002"/>
            <a:ext cx="3495751" cy="19202"/>
          </a:xfrm>
          <a:prstGeom prst="rect">
            <a:avLst/>
          </a:prstGeom>
          <a:solidFill>
            <a:srgbClr val="990000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128102" y="1514246"/>
            <a:ext cx="190195" cy="190195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8413394" y="1466698"/>
            <a:ext cx="109545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99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デメリット</a:t>
            </a:r>
            <a:endParaRPr lang="en-US" sz="1500" dirty="0"/>
          </a:p>
        </p:txBody>
      </p:sp>
      <p:sp>
        <p:nvSpPr>
          <p:cNvPr id="24" name="Shape 18"/>
          <p:cNvSpPr/>
          <p:nvPr/>
        </p:nvSpPr>
        <p:spPr>
          <a:xfrm>
            <a:off x="8128102" y="2009851"/>
            <a:ext cx="3495751" cy="4276649"/>
          </a:xfrm>
          <a:prstGeom prst="roundRect">
            <a:avLst>
              <a:gd name="adj" fmla="val 713"/>
            </a:avLst>
          </a:prstGeom>
          <a:solidFill>
            <a:srgbClr val="FFF9F9"/>
          </a:solidFill>
          <a:ln/>
        </p:spPr>
      </p:sp>
      <p:sp>
        <p:nvSpPr>
          <p:cNvPr id="25" name="Shape 19"/>
          <p:cNvSpPr/>
          <p:nvPr/>
        </p:nvSpPr>
        <p:spPr>
          <a:xfrm>
            <a:off x="8128102" y="2009851"/>
            <a:ext cx="38405" cy="4276649"/>
          </a:xfrm>
          <a:prstGeom prst="rect">
            <a:avLst/>
          </a:prstGeom>
          <a:solidFill>
            <a:srgbClr val="CC3333"/>
          </a:solidFill>
          <a:ln/>
        </p:spPr>
      </p:sp>
      <p:sp>
        <p:nvSpPr>
          <p:cNvPr id="26" name="Text 20"/>
          <p:cNvSpPr txBox="1"/>
          <p:nvPr/>
        </p:nvSpPr>
        <p:spPr>
          <a:xfrm>
            <a:off x="8671255" y="2200046"/>
            <a:ext cx="28767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コストと時間の負担：研修費用（年間500～800万円）、社員の参加時間コスト、講師育成の長期投資</a:t>
            </a:r>
            <a:endParaRPr lang="en-US" sz="1200" dirty="0"/>
          </a:p>
        </p:txBody>
      </p:sp>
      <p:sp>
        <p:nvSpPr>
          <p:cNvPr id="27" name="Text 21"/>
          <p:cNvSpPr txBox="1"/>
          <p:nvPr/>
        </p:nvSpPr>
        <p:spPr>
          <a:xfrm>
            <a:off x="8671255" y="3029407"/>
            <a:ext cx="28767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業務との両立困難：繁忙期の参加率低下（30～40%欠席）、オンデマンド化による学習効果低下</a:t>
            </a:r>
            <a:endParaRPr lang="en-US" sz="1200" dirty="0"/>
          </a:p>
        </p:txBody>
      </p:sp>
      <p:sp>
        <p:nvSpPr>
          <p:cNvPr id="28" name="Text 22"/>
          <p:cNvSpPr txBox="1"/>
          <p:nvPr/>
        </p:nvSpPr>
        <p:spPr>
          <a:xfrm>
            <a:off x="8671255" y="3857854"/>
            <a:ext cx="28767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メンテナンスの課題：頻繁なツール更新（月1回）による教材陳腐化、複数ツール対応の負荷</a:t>
            </a:r>
            <a:endParaRPr lang="en-US" sz="1200" dirty="0"/>
          </a:p>
        </p:txBody>
      </p:sp>
      <p:sp>
        <p:nvSpPr>
          <p:cNvPr id="29" name="Text 23"/>
          <p:cNvSpPr txBox="1"/>
          <p:nvPr/>
        </p:nvSpPr>
        <p:spPr>
          <a:xfrm>
            <a:off x="10264140" y="6439205"/>
            <a:ext cx="14767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AI推進プロジェクト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003366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-607" r="-607" t="0" b="0"/>
          <a:stretch/>
        </p:blipFill>
        <p:spPr>
          <a:xfrm>
            <a:off x="571500" y="697687"/>
            <a:ext cx="362102" cy="28620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6249" y="580644"/>
            <a:ext cx="8144561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33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環境整備（ライセンス・ガイドライン・相談窓口）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71500" y="1848002"/>
            <a:ext cx="3495751" cy="19202"/>
          </a:xfrm>
          <a:prstGeom prst="rect">
            <a:avLst/>
          </a:prstGeom>
          <a:solidFill>
            <a:srgbClr val="003366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71500" y="1514246"/>
            <a:ext cx="142646" cy="19019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09244" y="1466698"/>
            <a:ext cx="52395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33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施策</a:t>
            </a:r>
            <a:endParaRPr lang="en-US" sz="1500" dirty="0"/>
          </a:p>
        </p:txBody>
      </p:sp>
      <p:sp>
        <p:nvSpPr>
          <p:cNvPr id="8" name="Shape 4"/>
          <p:cNvSpPr/>
          <p:nvPr/>
        </p:nvSpPr>
        <p:spPr>
          <a:xfrm>
            <a:off x="571500" y="2009851"/>
            <a:ext cx="3495751" cy="4276649"/>
          </a:xfrm>
          <a:prstGeom prst="roundRect">
            <a:avLst>
              <a:gd name="adj" fmla="val 713"/>
            </a:avLst>
          </a:prstGeom>
          <a:solidFill>
            <a:srgbClr val="F8FBFF"/>
          </a:solidFill>
          <a:ln/>
        </p:spPr>
      </p:sp>
      <p:sp>
        <p:nvSpPr>
          <p:cNvPr id="9" name="Shape 5"/>
          <p:cNvSpPr/>
          <p:nvPr/>
        </p:nvSpPr>
        <p:spPr>
          <a:xfrm>
            <a:off x="571500" y="2009851"/>
            <a:ext cx="38405" cy="4276649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1114654" y="2200046"/>
            <a:ext cx="287670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AIツール利用のためのライセンス一括購入：ChatGPT Team/Enterprise、GitHub Copilot、Claude Pro等を一括契約して全社員に提供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1114654" y="3258007"/>
            <a:ext cx="28767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社内AIツール利用ガイドライン整備：セキュリティ、コンプライアンス、利用範囲などの明確な基準を策定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1114654" y="4086454"/>
            <a:ext cx="28767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AI活用相談窓口の設置：Slackチャンネル、オフィスアワー、専門チームによるサポート体制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349801" y="1848002"/>
            <a:ext cx="3495751" cy="19202"/>
          </a:xfrm>
          <a:prstGeom prst="rect">
            <a:avLst/>
          </a:prstGeom>
          <a:solidFill>
            <a:srgbClr val="006633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49801" y="1514246"/>
            <a:ext cx="190195" cy="190195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4635094" y="1466698"/>
            <a:ext cx="9052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66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メリット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4349801" y="2009851"/>
            <a:ext cx="3495751" cy="4276649"/>
          </a:xfrm>
          <a:prstGeom prst="roundRect">
            <a:avLst>
              <a:gd name="adj" fmla="val 713"/>
            </a:avLst>
          </a:prstGeom>
          <a:solidFill>
            <a:srgbClr val="F9FFFA"/>
          </a:solidFill>
          <a:ln/>
        </p:spPr>
      </p:sp>
      <p:sp>
        <p:nvSpPr>
          <p:cNvPr id="17" name="Shape 12"/>
          <p:cNvSpPr/>
          <p:nvPr/>
        </p:nvSpPr>
        <p:spPr>
          <a:xfrm>
            <a:off x="4349801" y="2009851"/>
            <a:ext cx="38405" cy="4276649"/>
          </a:xfrm>
          <a:prstGeom prst="rect">
            <a:avLst/>
          </a:prstGeom>
          <a:solidFill>
            <a:srgbClr val="00AA66"/>
          </a:solidFill>
          <a:ln/>
        </p:spPr>
      </p:sp>
      <p:sp>
        <p:nvSpPr>
          <p:cNvPr id="18" name="Text 13"/>
          <p:cNvSpPr txBox="1"/>
          <p:nvPr/>
        </p:nvSpPr>
        <p:spPr>
          <a:xfrm>
            <a:off x="4892954" y="2200046"/>
            <a:ext cx="28767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大幅なコスト削減：一括契約により個別購入より20～40%のコスト削減、予算管理の簡素化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4892954" y="3029407"/>
            <a:ext cx="28767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運用効率の向上：ライセンス管理の一元化、未使用ライセンスの可視化、管理工数削減（月10→2時間）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4892954" y="3857854"/>
            <a:ext cx="28767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活用促進の加速：困った時にすぐ相談できる環境により、初期の挫折率が70%→20%に低下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8128102" y="1848002"/>
            <a:ext cx="3495751" cy="19202"/>
          </a:xfrm>
          <a:prstGeom prst="rect">
            <a:avLst/>
          </a:prstGeom>
          <a:solidFill>
            <a:srgbClr val="990000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128102" y="1514246"/>
            <a:ext cx="190195" cy="190195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8413394" y="1466698"/>
            <a:ext cx="109545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99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デメリット</a:t>
            </a:r>
            <a:endParaRPr lang="en-US" sz="1500" dirty="0"/>
          </a:p>
        </p:txBody>
      </p:sp>
      <p:sp>
        <p:nvSpPr>
          <p:cNvPr id="24" name="Shape 18"/>
          <p:cNvSpPr/>
          <p:nvPr/>
        </p:nvSpPr>
        <p:spPr>
          <a:xfrm>
            <a:off x="8128102" y="2009851"/>
            <a:ext cx="3495751" cy="4276649"/>
          </a:xfrm>
          <a:prstGeom prst="roundRect">
            <a:avLst>
              <a:gd name="adj" fmla="val 713"/>
            </a:avLst>
          </a:prstGeom>
          <a:solidFill>
            <a:srgbClr val="FFF9F9"/>
          </a:solidFill>
          <a:ln/>
        </p:spPr>
      </p:sp>
      <p:sp>
        <p:nvSpPr>
          <p:cNvPr id="25" name="Shape 19"/>
          <p:cNvSpPr/>
          <p:nvPr/>
        </p:nvSpPr>
        <p:spPr>
          <a:xfrm>
            <a:off x="8128102" y="2009851"/>
            <a:ext cx="38405" cy="4276649"/>
          </a:xfrm>
          <a:prstGeom prst="rect">
            <a:avLst/>
          </a:prstGeom>
          <a:solidFill>
            <a:srgbClr val="CC3333"/>
          </a:solidFill>
          <a:ln/>
        </p:spPr>
      </p:sp>
      <p:sp>
        <p:nvSpPr>
          <p:cNvPr id="26" name="Text 20"/>
          <p:cNvSpPr txBox="1"/>
          <p:nvPr/>
        </p:nvSpPr>
        <p:spPr>
          <a:xfrm>
            <a:off x="8671255" y="2200046"/>
            <a:ext cx="28767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初期コストとリスク：年間200～500万円の投資、利用率が低い場合のコスト効率悪化、ツール選定ミスリスク</a:t>
            </a:r>
            <a:endParaRPr lang="en-US" sz="1200" dirty="0"/>
          </a:p>
        </p:txBody>
      </p:sp>
      <p:sp>
        <p:nvSpPr>
          <p:cNvPr id="27" name="Text 21"/>
          <p:cNvSpPr txBox="1"/>
          <p:nvPr/>
        </p:nvSpPr>
        <p:spPr>
          <a:xfrm>
            <a:off x="8671255" y="3029407"/>
            <a:ext cx="28767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人的リソースの必要性：ガイドライン策定や相談窓口運営に専任担当者必要（3～5名、年間1,500万円～）</a:t>
            </a:r>
            <a:endParaRPr lang="en-US" sz="1200" dirty="0"/>
          </a:p>
        </p:txBody>
      </p:sp>
      <p:sp>
        <p:nvSpPr>
          <p:cNvPr id="28" name="Text 22"/>
          <p:cNvSpPr txBox="1"/>
          <p:nvPr/>
        </p:nvSpPr>
        <p:spPr>
          <a:xfrm>
            <a:off x="8671255" y="3857854"/>
            <a:ext cx="28767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継続的な運用負荷：技術進化に合わせたガイドライン更新（四半期ごと）、新ツール評価の工数</a:t>
            </a:r>
            <a:endParaRPr lang="en-US" sz="1200" dirty="0"/>
          </a:p>
        </p:txBody>
      </p:sp>
      <p:sp>
        <p:nvSpPr>
          <p:cNvPr id="29" name="Text 23"/>
          <p:cNvSpPr txBox="1"/>
          <p:nvPr/>
        </p:nvSpPr>
        <p:spPr>
          <a:xfrm>
            <a:off x="10264140" y="6439205"/>
            <a:ext cx="14767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AI推進プロジェクト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003366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-1118" r="-1118" t="0" b="0"/>
          <a:stretch/>
        </p:blipFill>
        <p:spPr>
          <a:xfrm>
            <a:off x="571500" y="697687"/>
            <a:ext cx="219456" cy="28620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33602" y="580644"/>
            <a:ext cx="3324758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33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インセンティブ制度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71500" y="1848002"/>
            <a:ext cx="3495751" cy="19202"/>
          </a:xfrm>
          <a:prstGeom prst="rect">
            <a:avLst/>
          </a:prstGeom>
          <a:solidFill>
            <a:srgbClr val="003366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71500" y="1514246"/>
            <a:ext cx="142646" cy="19019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09244" y="1466698"/>
            <a:ext cx="52395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33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施策</a:t>
            </a:r>
            <a:endParaRPr lang="en-US" sz="1500" dirty="0"/>
          </a:p>
        </p:txBody>
      </p:sp>
      <p:sp>
        <p:nvSpPr>
          <p:cNvPr id="8" name="Shape 4"/>
          <p:cNvSpPr/>
          <p:nvPr/>
        </p:nvSpPr>
        <p:spPr>
          <a:xfrm>
            <a:off x="571500" y="2009851"/>
            <a:ext cx="3495751" cy="4276649"/>
          </a:xfrm>
          <a:prstGeom prst="roundRect">
            <a:avLst>
              <a:gd name="adj" fmla="val 713"/>
            </a:avLst>
          </a:prstGeom>
          <a:solidFill>
            <a:srgbClr val="F8FBFF"/>
          </a:solidFill>
          <a:ln/>
        </p:spPr>
      </p:sp>
      <p:sp>
        <p:nvSpPr>
          <p:cNvPr id="9" name="Shape 5"/>
          <p:cNvSpPr/>
          <p:nvPr/>
        </p:nvSpPr>
        <p:spPr>
          <a:xfrm>
            <a:off x="571500" y="2009851"/>
            <a:ext cx="38405" cy="4276649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1114654" y="2200046"/>
            <a:ext cx="28767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AI活用による業務効率化実績報奨金：成果に応じて個人3～10万円、チーム10～50万円の報酬を提供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1114654" y="3029407"/>
            <a:ext cx="28767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AI関連資格取得支援：受験費用全額補助、教材費上限5万円/年、合格時報奨金3～10万円支給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1114654" y="3857854"/>
            <a:ext cx="28767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AI活用アイデアコンテスト：半期ごとに開催、最優秀50万円、優秀30万円、特別賞10万円×3名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1114654" y="4686300"/>
            <a:ext cx="28767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AIエキスパート社内認定：4段階レベル、月額手当（Gold:2万円、Platinum:5万円）、名刺へのロゴ記載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349801" y="1848002"/>
            <a:ext cx="3495751" cy="19202"/>
          </a:xfrm>
          <a:prstGeom prst="rect">
            <a:avLst/>
          </a:prstGeom>
          <a:solidFill>
            <a:srgbClr val="006633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49801" y="1514246"/>
            <a:ext cx="190195" cy="190195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635094" y="1466698"/>
            <a:ext cx="9052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66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メリット</a:t>
            </a:r>
            <a:endParaRPr lang="en-US" sz="1500" dirty="0"/>
          </a:p>
        </p:txBody>
      </p:sp>
      <p:sp>
        <p:nvSpPr>
          <p:cNvPr id="17" name="Shape 12"/>
          <p:cNvSpPr/>
          <p:nvPr/>
        </p:nvSpPr>
        <p:spPr>
          <a:xfrm>
            <a:off x="4349801" y="2009851"/>
            <a:ext cx="3495751" cy="4276649"/>
          </a:xfrm>
          <a:prstGeom prst="roundRect">
            <a:avLst>
              <a:gd name="adj" fmla="val 713"/>
            </a:avLst>
          </a:prstGeom>
          <a:solidFill>
            <a:srgbClr val="F9FFFA"/>
          </a:solidFill>
          <a:ln/>
        </p:spPr>
      </p:sp>
      <p:sp>
        <p:nvSpPr>
          <p:cNvPr id="18" name="Shape 13"/>
          <p:cNvSpPr/>
          <p:nvPr/>
        </p:nvSpPr>
        <p:spPr>
          <a:xfrm>
            <a:off x="4349801" y="2009851"/>
            <a:ext cx="38405" cy="4276649"/>
          </a:xfrm>
          <a:prstGeom prst="rect">
            <a:avLst/>
          </a:prstGeom>
          <a:solidFill>
            <a:srgbClr val="00AA66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4892954" y="2200046"/>
            <a:ext cx="28767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モチベーション向上：明確な報酬による積極的取り組み促進、事例報告が月5件→20件に増加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4892954" y="3029407"/>
            <a:ext cx="28767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イノベーション創出：社内競争によるアイデア創出、部門を超えたコラボレーション（年間50～100件のアイデア）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4892954" y="3857854"/>
            <a:ext cx="28767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人材育成の促進：体系的なスキル習得と専門性向上、資格取得率が2倍に（10%→20%）</a:t>
            </a:r>
            <a:endParaRPr lang="en-US" sz="1200" dirty="0"/>
          </a:p>
        </p:txBody>
      </p:sp>
      <p:sp>
        <p:nvSpPr>
          <p:cNvPr id="22" name="Text 17"/>
          <p:cNvSpPr txBox="1"/>
          <p:nvPr/>
        </p:nvSpPr>
        <p:spPr>
          <a:xfrm>
            <a:off x="4892954" y="4686300"/>
            <a:ext cx="28767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組織力の強化：社内エキスパートが明確化、メンター文化醸成、スキルの属人化解消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8128102" y="1848002"/>
            <a:ext cx="3495751" cy="19202"/>
          </a:xfrm>
          <a:prstGeom prst="rect">
            <a:avLst/>
          </a:prstGeom>
          <a:solidFill>
            <a:srgbClr val="990000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128102" y="1514246"/>
            <a:ext cx="190195" cy="190195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8413394" y="1466698"/>
            <a:ext cx="109545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99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デメリット</a:t>
            </a:r>
            <a:endParaRPr lang="en-US" sz="1500" dirty="0"/>
          </a:p>
        </p:txBody>
      </p:sp>
      <p:sp>
        <p:nvSpPr>
          <p:cNvPr id="26" name="Shape 20"/>
          <p:cNvSpPr/>
          <p:nvPr/>
        </p:nvSpPr>
        <p:spPr>
          <a:xfrm>
            <a:off x="8128102" y="2009851"/>
            <a:ext cx="3495751" cy="4276649"/>
          </a:xfrm>
          <a:prstGeom prst="roundRect">
            <a:avLst>
              <a:gd name="adj" fmla="val 713"/>
            </a:avLst>
          </a:prstGeom>
          <a:solidFill>
            <a:srgbClr val="FFF9F9"/>
          </a:solidFill>
          <a:ln/>
        </p:spPr>
      </p:sp>
      <p:sp>
        <p:nvSpPr>
          <p:cNvPr id="27" name="Shape 21"/>
          <p:cNvSpPr/>
          <p:nvPr/>
        </p:nvSpPr>
        <p:spPr>
          <a:xfrm>
            <a:off x="8128102" y="2009851"/>
            <a:ext cx="38405" cy="4276649"/>
          </a:xfrm>
          <a:prstGeom prst="rect">
            <a:avLst/>
          </a:prstGeom>
          <a:solidFill>
            <a:srgbClr val="CC3333"/>
          </a:solidFill>
          <a:ln/>
        </p:spPr>
      </p:sp>
      <p:sp>
        <p:nvSpPr>
          <p:cNvPr id="28" name="Text 22"/>
          <p:cNvSpPr txBox="1"/>
          <p:nvPr/>
        </p:nvSpPr>
        <p:spPr>
          <a:xfrm>
            <a:off x="8671255" y="2200046"/>
            <a:ext cx="28767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評価の公平性問題：報奨金の公平評価が困難、定量評価が難しい業務は不利に、主観が入りやすい</a:t>
            </a:r>
            <a:endParaRPr lang="en-US" sz="1200" dirty="0"/>
          </a:p>
        </p:txBody>
      </p:sp>
      <p:sp>
        <p:nvSpPr>
          <p:cNvPr id="29" name="Text 23"/>
          <p:cNvSpPr txBox="1"/>
          <p:nvPr/>
        </p:nvSpPr>
        <p:spPr>
          <a:xfrm>
            <a:off x="8671255" y="3029407"/>
            <a:ext cx="28767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本質的価値の喪失リスク：報酬目的の活用主体化、見栄えの良い事例作りに時間を浪費</a:t>
            </a:r>
            <a:endParaRPr lang="en-US" sz="1200" dirty="0"/>
          </a:p>
        </p:txBody>
      </p:sp>
      <p:sp>
        <p:nvSpPr>
          <p:cNvPr id="30" name="Text 24"/>
          <p:cNvSpPr txBox="1"/>
          <p:nvPr/>
        </p:nvSpPr>
        <p:spPr>
          <a:xfrm>
            <a:off x="8671255" y="3857854"/>
            <a:ext cx="28767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形骸化の危険性：資格取得目的化、「ペーパーエキスパート」増加、継続学習意欲の低下</a:t>
            </a:r>
            <a:endParaRPr lang="en-US" sz="1200" dirty="0"/>
          </a:p>
        </p:txBody>
      </p:sp>
      <p:sp>
        <p:nvSpPr>
          <p:cNvPr id="31" name="Text 25"/>
          <p:cNvSpPr txBox="1"/>
          <p:nvPr/>
        </p:nvSpPr>
        <p:spPr>
          <a:xfrm>
            <a:off x="8671255" y="4686300"/>
            <a:ext cx="28767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組織の分断リスク：非認定者の士気低下、「エキスパートとそれ以外」の二極化進行</a:t>
            </a:r>
            <a:endParaRPr lang="en-US" sz="1200" dirty="0"/>
          </a:p>
        </p:txBody>
      </p:sp>
      <p:sp>
        <p:nvSpPr>
          <p:cNvPr id="32" name="Text 26"/>
          <p:cNvSpPr txBox="1"/>
          <p:nvPr/>
        </p:nvSpPr>
        <p:spPr>
          <a:xfrm>
            <a:off x="10264140" y="6439205"/>
            <a:ext cx="14767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AI推進プロジェクト</a:t>
            </a:r>
            <a:endParaRPr lang="en-US" sz="1200" dirty="0"/>
          </a:p>
        </p:txBody>
      </p:sp>
      <p:sp>
        <p:nvSpPr>
          <p:cNvPr id="33" name="Shape 27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003366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05802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-607" r="-607" t="0" b="0"/>
          <a:stretch/>
        </p:blipFill>
        <p:spPr>
          <a:xfrm>
            <a:off x="571500" y="697687"/>
            <a:ext cx="362102" cy="28620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6249" y="580644"/>
            <a:ext cx="4724705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33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メンタリング・サポート体制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71500" y="1848002"/>
            <a:ext cx="3495751" cy="19202"/>
          </a:xfrm>
          <a:prstGeom prst="rect">
            <a:avLst/>
          </a:prstGeom>
          <a:solidFill>
            <a:srgbClr val="003366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71500" y="1514246"/>
            <a:ext cx="142646" cy="19019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09244" y="1466698"/>
            <a:ext cx="52395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33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施策</a:t>
            </a:r>
            <a:endParaRPr lang="en-US" sz="1500" dirty="0"/>
          </a:p>
        </p:txBody>
      </p:sp>
      <p:sp>
        <p:nvSpPr>
          <p:cNvPr id="8" name="Shape 4"/>
          <p:cNvSpPr/>
          <p:nvPr/>
        </p:nvSpPr>
        <p:spPr>
          <a:xfrm>
            <a:off x="571500" y="2009851"/>
            <a:ext cx="3495751" cy="4524451"/>
          </a:xfrm>
          <a:prstGeom prst="roundRect">
            <a:avLst>
              <a:gd name="adj" fmla="val 713"/>
            </a:avLst>
          </a:prstGeom>
          <a:solidFill>
            <a:srgbClr val="F8FBFF"/>
          </a:solidFill>
          <a:ln/>
        </p:spPr>
      </p:sp>
      <p:sp>
        <p:nvSpPr>
          <p:cNvPr id="9" name="Shape 5"/>
          <p:cNvSpPr/>
          <p:nvPr/>
        </p:nvSpPr>
        <p:spPr>
          <a:xfrm>
            <a:off x="571500" y="2009851"/>
            <a:ext cx="38405" cy="4524451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1114654" y="2200046"/>
            <a:ext cx="28767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AI精通社員をメンターとして配置：各部門1～2名（全社15名程度）、メンティ5～8名担当、月1回以上の個別面談実施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1114654" y="3029407"/>
            <a:ext cx="28767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1対1のサポート体制：オンボーディングプログラム、予約制相談、質問カテゴリー別対応、「質問歓迎」文化の醸成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1114654" y="3857854"/>
            <a:ext cx="28767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AIツール体験会（ハンズオン形式）：週1回90分、テーマ別少人数制、実践課題、フォローアップ体制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1114654" y="4686300"/>
            <a:ext cx="28767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実務課題ワークショップ：月1回半日、実際の業務課題を持ち寄り、グループディスカッション、AIツール試行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1114654" y="5514746"/>
            <a:ext cx="28767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外部専門家による特別セッション：四半期1回、講演+Q&amp;A+ワークショップ、業界最新動向共有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4349801" y="1848002"/>
            <a:ext cx="3495751" cy="19202"/>
          </a:xfrm>
          <a:prstGeom prst="rect">
            <a:avLst/>
          </a:prstGeom>
          <a:solidFill>
            <a:srgbClr val="00663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49801" y="1514246"/>
            <a:ext cx="190195" cy="19019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4635094" y="1466698"/>
            <a:ext cx="9052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66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メリット</a:t>
            </a:r>
            <a:endParaRPr lang="en-US" sz="1500" dirty="0"/>
          </a:p>
        </p:txBody>
      </p:sp>
      <p:sp>
        <p:nvSpPr>
          <p:cNvPr id="18" name="Shape 13"/>
          <p:cNvSpPr/>
          <p:nvPr/>
        </p:nvSpPr>
        <p:spPr>
          <a:xfrm>
            <a:off x="4349801" y="2009851"/>
            <a:ext cx="3495751" cy="4524451"/>
          </a:xfrm>
          <a:prstGeom prst="roundRect">
            <a:avLst>
              <a:gd name="adj" fmla="val 713"/>
            </a:avLst>
          </a:prstGeom>
          <a:solidFill>
            <a:srgbClr val="F9FFFA"/>
          </a:solidFill>
          <a:ln/>
        </p:spPr>
      </p:sp>
      <p:sp>
        <p:nvSpPr>
          <p:cNvPr id="19" name="Shape 14"/>
          <p:cNvSpPr/>
          <p:nvPr/>
        </p:nvSpPr>
        <p:spPr>
          <a:xfrm>
            <a:off x="4349801" y="2009851"/>
            <a:ext cx="38405" cy="4524451"/>
          </a:xfrm>
          <a:prstGeom prst="rect">
            <a:avLst/>
          </a:prstGeom>
          <a:solidFill>
            <a:srgbClr val="00AA66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4892954" y="2200046"/>
            <a:ext cx="28767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個別最適化された学習：各自のレベルに合わせた効果的指導、つまずきの即時解消、習得速度2～3倍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4892954" y="3029407"/>
            <a:ext cx="28767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組織力の強化：メンター・メンティ双方の成長、部門を超えた人間関係構築、相互学習効果</a:t>
            </a:r>
            <a:endParaRPr lang="en-US" sz="1200" dirty="0"/>
          </a:p>
        </p:txBody>
      </p:sp>
      <p:sp>
        <p:nvSpPr>
          <p:cNvPr id="22" name="Text 17"/>
          <p:cNvSpPr txBox="1"/>
          <p:nvPr/>
        </p:nvSpPr>
        <p:spPr>
          <a:xfrm>
            <a:off x="4892954" y="3857854"/>
            <a:ext cx="28767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実務直結の学習：即座に業務適用可能なスキル習得、体験会参加者の80%が1週間以内に活用開始</a:t>
            </a:r>
            <a:endParaRPr lang="en-US" sz="1200" dirty="0"/>
          </a:p>
        </p:txBody>
      </p:sp>
      <p:sp>
        <p:nvSpPr>
          <p:cNvPr id="23" name="Text 18"/>
          <p:cNvSpPr txBox="1"/>
          <p:nvPr/>
        </p:nvSpPr>
        <p:spPr>
          <a:xfrm>
            <a:off x="4892954" y="4686300"/>
            <a:ext cx="28767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最新情報の取得：外部専門家から最先端技術動向を直接学習、業界ベストプラクティスの獲得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8128102" y="1848002"/>
            <a:ext cx="3495751" cy="19202"/>
          </a:xfrm>
          <a:prstGeom prst="rect">
            <a:avLst/>
          </a:prstGeom>
          <a:solidFill>
            <a:srgbClr val="990000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128102" y="1514246"/>
            <a:ext cx="190195" cy="190195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8413394" y="1466698"/>
            <a:ext cx="109545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99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デメリット</a:t>
            </a:r>
            <a:endParaRPr lang="en-US" sz="1500" dirty="0"/>
          </a:p>
        </p:txBody>
      </p:sp>
      <p:sp>
        <p:nvSpPr>
          <p:cNvPr id="27" name="Shape 21"/>
          <p:cNvSpPr/>
          <p:nvPr/>
        </p:nvSpPr>
        <p:spPr>
          <a:xfrm>
            <a:off x="8128102" y="2009851"/>
            <a:ext cx="3495751" cy="4524451"/>
          </a:xfrm>
          <a:prstGeom prst="roundRect">
            <a:avLst>
              <a:gd name="adj" fmla="val 713"/>
            </a:avLst>
          </a:prstGeom>
          <a:solidFill>
            <a:srgbClr val="FFF9F9"/>
          </a:solidFill>
          <a:ln/>
        </p:spPr>
      </p:sp>
      <p:sp>
        <p:nvSpPr>
          <p:cNvPr id="28" name="Shape 22"/>
          <p:cNvSpPr/>
          <p:nvPr/>
        </p:nvSpPr>
        <p:spPr>
          <a:xfrm>
            <a:off x="8128102" y="2009851"/>
            <a:ext cx="38405" cy="4524451"/>
          </a:xfrm>
          <a:prstGeom prst="rect">
            <a:avLst/>
          </a:prstGeom>
          <a:solidFill>
            <a:srgbClr val="CC3333"/>
          </a:solidFill>
          <a:ln/>
        </p:spPr>
      </p:sp>
      <p:sp>
        <p:nvSpPr>
          <p:cNvPr id="29" name="Text 23"/>
          <p:cNvSpPr txBox="1"/>
          <p:nvPr/>
        </p:nvSpPr>
        <p:spPr>
          <a:xfrm>
            <a:off x="8671255" y="2200046"/>
            <a:ext cx="28767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メンターの負担増加：月10～15時間のメンタリング時間が必要、本業との両立困難、優秀人材への負担集中</a:t>
            </a:r>
            <a:endParaRPr lang="en-US" sz="1200" dirty="0"/>
          </a:p>
        </p:txBody>
      </p:sp>
      <p:sp>
        <p:nvSpPr>
          <p:cNvPr id="30" name="Text 24"/>
          <p:cNvSpPr txBox="1"/>
          <p:nvPr/>
        </p:nvSpPr>
        <p:spPr>
          <a:xfrm>
            <a:off x="8671255" y="3029407"/>
            <a:ext cx="28767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品質のばらつき：メンターの質による指導内容の差、学習成果に最大2倍の差、引継ぎ課題</a:t>
            </a:r>
            <a:endParaRPr lang="en-US" sz="1200" dirty="0"/>
          </a:p>
        </p:txBody>
      </p:sp>
      <p:sp>
        <p:nvSpPr>
          <p:cNvPr id="31" name="Text 25"/>
          <p:cNvSpPr txBox="1"/>
          <p:nvPr/>
        </p:nvSpPr>
        <p:spPr>
          <a:xfrm>
            <a:off x="8671255" y="3857854"/>
            <a:ext cx="28767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運営コストと工数：準備・運営に週5～10時間、少人数制のため多数開催必要、録画配信の効果半減</a:t>
            </a:r>
            <a:endParaRPr lang="en-US" sz="1200" dirty="0"/>
          </a:p>
        </p:txBody>
      </p:sp>
      <p:sp>
        <p:nvSpPr>
          <p:cNvPr id="32" name="Text 26"/>
          <p:cNvSpPr txBox="1"/>
          <p:nvPr/>
        </p:nvSpPr>
        <p:spPr>
          <a:xfrm>
            <a:off x="8671255" y="4686300"/>
            <a:ext cx="28767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高額な外部コスト：外部講師招聘に1回50～100万円、費用対効果測定の難しさ、具体課題対応力の不確実性</a:t>
            </a:r>
            <a:endParaRPr lang="en-US" sz="1200" dirty="0"/>
          </a:p>
        </p:txBody>
      </p:sp>
      <p:sp>
        <p:nvSpPr>
          <p:cNvPr id="33" name="Text 27"/>
          <p:cNvSpPr txBox="1"/>
          <p:nvPr/>
        </p:nvSpPr>
        <p:spPr>
          <a:xfrm>
            <a:off x="10264140" y="6687007"/>
            <a:ext cx="14767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AI推進プロジェクト</a:t>
            </a:r>
            <a:endParaRPr lang="en-US" sz="1200" dirty="0"/>
          </a:p>
        </p:txBody>
      </p:sp>
      <p:sp>
        <p:nvSpPr>
          <p:cNvPr id="34" name="Shape 28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003366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71500" y="697687"/>
            <a:ext cx="286207" cy="28620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00354" y="580644"/>
            <a:ext cx="2991002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33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AI活用時間の確保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71500" y="1848002"/>
            <a:ext cx="3495751" cy="19202"/>
          </a:xfrm>
          <a:prstGeom prst="rect">
            <a:avLst/>
          </a:prstGeom>
          <a:solidFill>
            <a:srgbClr val="003366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71500" y="1514246"/>
            <a:ext cx="142646" cy="19019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09244" y="1466698"/>
            <a:ext cx="52395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33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施策</a:t>
            </a:r>
            <a:endParaRPr lang="en-US" sz="1500" dirty="0"/>
          </a:p>
        </p:txBody>
      </p:sp>
      <p:sp>
        <p:nvSpPr>
          <p:cNvPr id="8" name="Shape 4"/>
          <p:cNvSpPr/>
          <p:nvPr/>
        </p:nvSpPr>
        <p:spPr>
          <a:xfrm>
            <a:off x="571500" y="2009851"/>
            <a:ext cx="3495751" cy="4276649"/>
          </a:xfrm>
          <a:prstGeom prst="roundRect">
            <a:avLst>
              <a:gd name="adj" fmla="val 713"/>
            </a:avLst>
          </a:prstGeom>
          <a:solidFill>
            <a:srgbClr val="F8FBFF"/>
          </a:solidFill>
          <a:ln/>
        </p:spPr>
      </p:sp>
      <p:sp>
        <p:nvSpPr>
          <p:cNvPr id="9" name="Shape 5"/>
          <p:cNvSpPr/>
          <p:nvPr/>
        </p:nvSpPr>
        <p:spPr>
          <a:xfrm>
            <a:off x="571500" y="2009851"/>
            <a:ext cx="38405" cy="4276649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1114654" y="2200046"/>
            <a:ext cx="287670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業務時間の10%をAI学習・実験時間として確保：週4時間（月16時間）を公式にAI関連活動に使用可能、勤怠システムにカテゴリ追加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1114654" y="3258007"/>
            <a:ext cx="287670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「AIフライデー」の設定：毎週金曜午後（14:00-17:00）をAI活用推進時間に、個人学習・グループ活動・実務適用から選択可能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1114654" y="4315054"/>
            <a:ext cx="287670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プロジェクト計画にAI学習時間を組み込む：全体工数の5〜10%をAI関連活動として見積り、WBSに「AI活用推進」タスクを明示的に含める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349801" y="1848002"/>
            <a:ext cx="3495751" cy="19202"/>
          </a:xfrm>
          <a:prstGeom prst="rect">
            <a:avLst/>
          </a:prstGeom>
          <a:solidFill>
            <a:srgbClr val="006633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49801" y="1514246"/>
            <a:ext cx="190195" cy="190195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4635094" y="1466698"/>
            <a:ext cx="9052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66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メリット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4349801" y="2009851"/>
            <a:ext cx="3495751" cy="4276649"/>
          </a:xfrm>
          <a:prstGeom prst="roundRect">
            <a:avLst>
              <a:gd name="adj" fmla="val 713"/>
            </a:avLst>
          </a:prstGeom>
          <a:solidFill>
            <a:srgbClr val="F9FFFA"/>
          </a:solidFill>
          <a:ln/>
        </p:spPr>
      </p:sp>
      <p:sp>
        <p:nvSpPr>
          <p:cNvPr id="17" name="Shape 12"/>
          <p:cNvSpPr/>
          <p:nvPr/>
        </p:nvSpPr>
        <p:spPr>
          <a:xfrm>
            <a:off x="4349801" y="2009851"/>
            <a:ext cx="38405" cy="4276649"/>
          </a:xfrm>
          <a:prstGeom prst="rect">
            <a:avLst/>
          </a:prstGeom>
          <a:solidFill>
            <a:srgbClr val="00AA66"/>
          </a:solidFill>
          <a:ln/>
        </p:spPr>
      </p:sp>
      <p:sp>
        <p:nvSpPr>
          <p:cNvPr id="18" name="Text 13"/>
          <p:cNvSpPr txBox="1"/>
          <p:nvPr/>
        </p:nvSpPr>
        <p:spPr>
          <a:xfrm>
            <a:off x="4892954" y="2200046"/>
            <a:ext cx="28767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心理的負担の軽減：公式な時間確保により遠慮なく学習・実験に専念できる、AI活用率が未実施企業比で2.5倍向上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4892954" y="3029407"/>
            <a:ext cx="28767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継続的な成長：定期的学習で年間約200時間のスキルアップ時間確保、全社一斉取り組みによる相互学習効果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4892954" y="3857854"/>
            <a:ext cx="287670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確実な時間確保：プロジェクト計画に組み込むことで時間が保証され、「学習時間がない」という言い訳が通用しなくなる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4892954" y="4914900"/>
            <a:ext cx="28767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成果の可視化：四半期レポートで学習成果と業務貢献が見える化、人事評価での考慮でモチベーション向上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8128102" y="1848002"/>
            <a:ext cx="3495751" cy="19202"/>
          </a:xfrm>
          <a:prstGeom prst="rect">
            <a:avLst/>
          </a:prstGeom>
          <a:solidFill>
            <a:srgbClr val="990000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128102" y="1514246"/>
            <a:ext cx="190195" cy="190195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8413394" y="1466698"/>
            <a:ext cx="109545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99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デメリット</a:t>
            </a:r>
            <a:endParaRPr lang="en-US" sz="1500" dirty="0"/>
          </a:p>
        </p:txBody>
      </p:sp>
      <p:sp>
        <p:nvSpPr>
          <p:cNvPr id="25" name="Shape 19"/>
          <p:cNvSpPr/>
          <p:nvPr/>
        </p:nvSpPr>
        <p:spPr>
          <a:xfrm>
            <a:off x="8128102" y="2009851"/>
            <a:ext cx="3495751" cy="4276649"/>
          </a:xfrm>
          <a:prstGeom prst="roundRect">
            <a:avLst>
              <a:gd name="adj" fmla="val 713"/>
            </a:avLst>
          </a:prstGeom>
          <a:solidFill>
            <a:srgbClr val="FFF9F9"/>
          </a:solidFill>
          <a:ln/>
        </p:spPr>
      </p:sp>
      <p:sp>
        <p:nvSpPr>
          <p:cNvPr id="26" name="Shape 20"/>
          <p:cNvSpPr/>
          <p:nvPr/>
        </p:nvSpPr>
        <p:spPr>
          <a:xfrm>
            <a:off x="8128102" y="2009851"/>
            <a:ext cx="38405" cy="4276649"/>
          </a:xfrm>
          <a:prstGeom prst="rect">
            <a:avLst/>
          </a:prstGeom>
          <a:solidFill>
            <a:srgbClr val="CC3333"/>
          </a:solidFill>
          <a:ln/>
        </p:spPr>
      </p:sp>
      <p:sp>
        <p:nvSpPr>
          <p:cNvPr id="27" name="Text 21"/>
          <p:cNvSpPr txBox="1"/>
          <p:nvPr/>
        </p:nvSpPr>
        <p:spPr>
          <a:xfrm>
            <a:off x="8671255" y="2200046"/>
            <a:ext cx="28767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業務効率への影響：稼働時間が実質週36時間に減少、短納期プロジェクトでは時間確保が困難に</a:t>
            </a:r>
            <a:endParaRPr lang="en-US" sz="1200" dirty="0"/>
          </a:p>
        </p:txBody>
      </p:sp>
      <p:sp>
        <p:nvSpPr>
          <p:cNvPr id="28" name="Text 22"/>
          <p:cNvSpPr txBox="1"/>
          <p:nvPr/>
        </p:nvSpPr>
        <p:spPr>
          <a:xfrm>
            <a:off x="8671255" y="3029407"/>
            <a:ext cx="28767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形骸化のリスク：約30%の社員が表面的には参加しているが実際は他の作業、自己管理能力の低い社員は活用できない</a:t>
            </a:r>
            <a:endParaRPr lang="en-US" sz="1200" dirty="0"/>
          </a:p>
        </p:txBody>
      </p:sp>
      <p:sp>
        <p:nvSpPr>
          <p:cNvPr id="29" name="Text 23"/>
          <p:cNvSpPr txBox="1"/>
          <p:nvPr/>
        </p:nvSpPr>
        <p:spPr>
          <a:xfrm>
            <a:off x="8671255" y="3857854"/>
            <a:ext cx="28767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コスト増加の懸念：工数増加（5-10%）により提案時の競争力に影響、ROI見えにくく顧客説明が困難</a:t>
            </a:r>
            <a:endParaRPr lang="en-US" sz="1200" dirty="0"/>
          </a:p>
        </p:txBody>
      </p:sp>
      <p:sp>
        <p:nvSpPr>
          <p:cNvPr id="30" name="Text 24"/>
          <p:cNvSpPr txBox="1"/>
          <p:nvPr/>
        </p:nvSpPr>
        <p:spPr>
          <a:xfrm>
            <a:off x="8671255" y="4686300"/>
            <a:ext cx="28767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ステークホルダー対応：「なぜ我々の予算で学習するのか」という顧客からの指摘、納期遅延の言い訳に使われる懸念</a:t>
            </a:r>
            <a:endParaRPr lang="en-US" sz="1200" dirty="0"/>
          </a:p>
        </p:txBody>
      </p:sp>
      <p:sp>
        <p:nvSpPr>
          <p:cNvPr id="31" name="Text 25"/>
          <p:cNvSpPr txBox="1"/>
          <p:nvPr/>
        </p:nvSpPr>
        <p:spPr>
          <a:xfrm>
            <a:off x="10264140" y="6439205"/>
            <a:ext cx="14767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AI推進プロジェクト</a:t>
            </a:r>
            <a:endParaRPr lang="en-US" sz="1200" dirty="0"/>
          </a:p>
        </p:txBody>
      </p:sp>
      <p:sp>
        <p:nvSpPr>
          <p:cNvPr id="32" name="Shape 26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003366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530" b="-530"/>
          <a:stretch/>
        </p:blipFill>
        <p:spPr>
          <a:xfrm>
            <a:off x="571500" y="697687"/>
            <a:ext cx="247802" cy="28620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61949" y="580644"/>
            <a:ext cx="4696358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33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ナレッジ共有・コミュニティ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71500" y="1848002"/>
            <a:ext cx="3495751" cy="19202"/>
          </a:xfrm>
          <a:prstGeom prst="rect">
            <a:avLst/>
          </a:prstGeom>
          <a:solidFill>
            <a:srgbClr val="003366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71500" y="1514246"/>
            <a:ext cx="142646" cy="19019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09244" y="1466698"/>
            <a:ext cx="52395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33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施策</a:t>
            </a:r>
            <a:endParaRPr lang="en-US" sz="1500" dirty="0"/>
          </a:p>
        </p:txBody>
      </p:sp>
      <p:sp>
        <p:nvSpPr>
          <p:cNvPr id="8" name="Shape 4"/>
          <p:cNvSpPr/>
          <p:nvPr/>
        </p:nvSpPr>
        <p:spPr>
          <a:xfrm>
            <a:off x="571500" y="2009851"/>
            <a:ext cx="3495751" cy="4276649"/>
          </a:xfrm>
          <a:prstGeom prst="roundRect">
            <a:avLst>
              <a:gd name="adj" fmla="val 713"/>
            </a:avLst>
          </a:prstGeom>
          <a:solidFill>
            <a:srgbClr val="F8FBFF"/>
          </a:solidFill>
          <a:ln/>
        </p:spPr>
      </p:sp>
      <p:sp>
        <p:nvSpPr>
          <p:cNvPr id="9" name="Shape 5"/>
          <p:cNvSpPr/>
          <p:nvPr/>
        </p:nvSpPr>
        <p:spPr>
          <a:xfrm>
            <a:off x="571500" y="2009851"/>
            <a:ext cx="38405" cy="4276649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1114654" y="2200046"/>
            <a:ext cx="28767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事例DB・検索型ナレッジベース：成功・失敗事例を業務別、ツール別に分類し、検索可能なデータベースとして整備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1114654" y="3029407"/>
            <a:ext cx="28767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プロンプトライブラリ：効果的だったプロンプトや設定を目的別に分類し、すぐに再利用可能な形で共有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1114654" y="3857854"/>
            <a:ext cx="287670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定例勉強会・コミュニティ活動：週1回の昼休み勉強会、発表・読書会・もくもく会形式、オンライン/オフラインのハイブリッド開催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1114654" y="4914900"/>
            <a:ext cx="28767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外部参加支援制度：AIコミュニティ参加費補助（年5万円/人）、業務時間認定、登壇支援、イベント参加費全額負担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349801" y="1848002"/>
            <a:ext cx="3495751" cy="19202"/>
          </a:xfrm>
          <a:prstGeom prst="rect">
            <a:avLst/>
          </a:prstGeom>
          <a:solidFill>
            <a:srgbClr val="006633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49801" y="1514246"/>
            <a:ext cx="190195" cy="190195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635094" y="1466698"/>
            <a:ext cx="9052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66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メリット</a:t>
            </a:r>
            <a:endParaRPr lang="en-US" sz="1500" dirty="0"/>
          </a:p>
        </p:txBody>
      </p:sp>
      <p:sp>
        <p:nvSpPr>
          <p:cNvPr id="17" name="Shape 12"/>
          <p:cNvSpPr/>
          <p:nvPr/>
        </p:nvSpPr>
        <p:spPr>
          <a:xfrm>
            <a:off x="4349801" y="2009851"/>
            <a:ext cx="3495751" cy="4276649"/>
          </a:xfrm>
          <a:prstGeom prst="roundRect">
            <a:avLst>
              <a:gd name="adj" fmla="val 713"/>
            </a:avLst>
          </a:prstGeom>
          <a:solidFill>
            <a:srgbClr val="F9FFFA"/>
          </a:solidFill>
          <a:ln/>
        </p:spPr>
      </p:sp>
      <p:sp>
        <p:nvSpPr>
          <p:cNvPr id="18" name="Shape 13"/>
          <p:cNvSpPr/>
          <p:nvPr/>
        </p:nvSpPr>
        <p:spPr>
          <a:xfrm>
            <a:off x="4349801" y="2009851"/>
            <a:ext cx="38405" cy="4276649"/>
          </a:xfrm>
          <a:prstGeom prst="rect">
            <a:avLst/>
          </a:prstGeom>
          <a:solidFill>
            <a:srgbClr val="00AA66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4892954" y="2200046"/>
            <a:ext cx="28767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組織学習の加速と効率化：試行錯誤時間40～60%短縮、情報検索時間3分以内、新入社員オンボーディング期間半減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4892954" y="3029407"/>
            <a:ext cx="28767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知識の民主化と依存度低下：AIエキスパートへの依存50～70%低下、属人化防止、部門間知識格差縮小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4892954" y="3857854"/>
            <a:ext cx="28767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初心者の参入障壁低減：即使えるテンプレートで初日から活用可能、挫折率70%→20%に低下、継続率80%以上</a:t>
            </a:r>
            <a:endParaRPr lang="en-US" sz="1200" dirty="0"/>
          </a:p>
        </p:txBody>
      </p:sp>
      <p:sp>
        <p:nvSpPr>
          <p:cNvPr id="22" name="Text 17"/>
          <p:cNvSpPr txBox="1"/>
          <p:nvPr/>
        </p:nvSpPr>
        <p:spPr>
          <a:xfrm>
            <a:off x="4892954" y="4686300"/>
            <a:ext cx="28767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外部からの知見獲得：業界トレンドを3～6ヶ月早く把握、他社との比較による客観視、採用・提携機会の創出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8128102" y="1848002"/>
            <a:ext cx="3495751" cy="19202"/>
          </a:xfrm>
          <a:prstGeom prst="rect">
            <a:avLst/>
          </a:prstGeom>
          <a:solidFill>
            <a:srgbClr val="990000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128102" y="1514246"/>
            <a:ext cx="190195" cy="190195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8413394" y="1466698"/>
            <a:ext cx="109545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99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デメリット</a:t>
            </a:r>
            <a:endParaRPr lang="en-US" sz="1500" dirty="0"/>
          </a:p>
        </p:txBody>
      </p:sp>
      <p:sp>
        <p:nvSpPr>
          <p:cNvPr id="26" name="Shape 20"/>
          <p:cNvSpPr/>
          <p:nvPr/>
        </p:nvSpPr>
        <p:spPr>
          <a:xfrm>
            <a:off x="8128102" y="2009851"/>
            <a:ext cx="3495751" cy="4276649"/>
          </a:xfrm>
          <a:prstGeom prst="roundRect">
            <a:avLst>
              <a:gd name="adj" fmla="val 713"/>
            </a:avLst>
          </a:prstGeom>
          <a:solidFill>
            <a:srgbClr val="FFF9F9"/>
          </a:solidFill>
          <a:ln/>
        </p:spPr>
      </p:sp>
      <p:sp>
        <p:nvSpPr>
          <p:cNvPr id="27" name="Shape 21"/>
          <p:cNvSpPr/>
          <p:nvPr/>
        </p:nvSpPr>
        <p:spPr>
          <a:xfrm>
            <a:off x="8128102" y="2009851"/>
            <a:ext cx="38405" cy="4276649"/>
          </a:xfrm>
          <a:prstGeom prst="rect">
            <a:avLst/>
          </a:prstGeom>
          <a:solidFill>
            <a:srgbClr val="CC3333"/>
          </a:solidFill>
          <a:ln/>
        </p:spPr>
      </p:sp>
      <p:sp>
        <p:nvSpPr>
          <p:cNvPr id="28" name="Text 22"/>
          <p:cNvSpPr txBox="1"/>
          <p:nvPr/>
        </p:nvSpPr>
        <p:spPr>
          <a:xfrm>
            <a:off x="8671255" y="2200046"/>
            <a:ext cx="28767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システム構築・運用コスト：初期費用200～500万円、運用コスト年間100～200万円、専任担当者1～2名必要</a:t>
            </a:r>
            <a:endParaRPr lang="en-US" sz="1200" dirty="0"/>
          </a:p>
        </p:txBody>
      </p:sp>
      <p:sp>
        <p:nvSpPr>
          <p:cNvPr id="29" name="Text 23"/>
          <p:cNvSpPr txBox="1"/>
          <p:nvPr/>
        </p:nvSpPr>
        <p:spPr>
          <a:xfrm>
            <a:off x="8671255" y="3029407"/>
            <a:ext cx="28767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情報過多と検索性の問題：1000件超で検索性低下、類似情報乱立、品質ばらつき、タグ付け統一困難</a:t>
            </a:r>
            <a:endParaRPr lang="en-US" sz="1200" dirty="0"/>
          </a:p>
        </p:txBody>
      </p:sp>
      <p:sp>
        <p:nvSpPr>
          <p:cNvPr id="30" name="Text 24"/>
          <p:cNvSpPr txBox="1"/>
          <p:nvPr/>
        </p:nvSpPr>
        <p:spPr>
          <a:xfrm>
            <a:off x="8671255" y="3857854"/>
            <a:ext cx="28767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参加負担と形骸化のリスク：頻度が高いと参加率30～50%に低下、発表準備負担、義務的参加で質の低下</a:t>
            </a:r>
            <a:endParaRPr lang="en-US" sz="1200" dirty="0"/>
          </a:p>
        </p:txBody>
      </p:sp>
      <p:sp>
        <p:nvSpPr>
          <p:cNvPr id="31" name="Text 25"/>
          <p:cNvSpPr txBox="1"/>
          <p:nvPr/>
        </p:nvSpPr>
        <p:spPr>
          <a:xfrm>
            <a:off x="8671255" y="4686300"/>
            <a:ext cx="28767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外部参加の管理課題：予算管理の複雑さ、参加希望集中時の選定難、報告義務の負担、機密情報取扱いリスク</a:t>
            </a:r>
            <a:endParaRPr lang="en-US" sz="1200" dirty="0"/>
          </a:p>
        </p:txBody>
      </p:sp>
      <p:sp>
        <p:nvSpPr>
          <p:cNvPr id="32" name="Text 26"/>
          <p:cNvSpPr txBox="1"/>
          <p:nvPr/>
        </p:nvSpPr>
        <p:spPr>
          <a:xfrm>
            <a:off x="10264140" y="6439205"/>
            <a:ext cx="14767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AI推進プロジェクト</a:t>
            </a:r>
            <a:endParaRPr lang="en-US" sz="1200" dirty="0"/>
          </a:p>
        </p:txBody>
      </p:sp>
      <p:sp>
        <p:nvSpPr>
          <p:cNvPr id="33" name="Shape 27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003366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71500" y="697687"/>
            <a:ext cx="286207" cy="28620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00354" y="580644"/>
            <a:ext cx="3353105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33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スキル可視化・評価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71500" y="1848002"/>
            <a:ext cx="3495751" cy="19202"/>
          </a:xfrm>
          <a:prstGeom prst="rect">
            <a:avLst/>
          </a:prstGeom>
          <a:solidFill>
            <a:srgbClr val="003366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71500" y="1514246"/>
            <a:ext cx="142646" cy="19019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09244" y="1466698"/>
            <a:ext cx="52395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33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施策</a:t>
            </a:r>
            <a:endParaRPr lang="en-US" sz="1500" dirty="0"/>
          </a:p>
        </p:txBody>
      </p:sp>
      <p:sp>
        <p:nvSpPr>
          <p:cNvPr id="8" name="Shape 4"/>
          <p:cNvSpPr/>
          <p:nvPr/>
        </p:nvSpPr>
        <p:spPr>
          <a:xfrm>
            <a:off x="571500" y="2009851"/>
            <a:ext cx="3495751" cy="4276649"/>
          </a:xfrm>
          <a:prstGeom prst="roundRect">
            <a:avLst>
              <a:gd name="adj" fmla="val 713"/>
            </a:avLst>
          </a:prstGeom>
          <a:solidFill>
            <a:srgbClr val="F8FBFF"/>
          </a:solidFill>
          <a:ln/>
        </p:spPr>
      </p:sp>
      <p:sp>
        <p:nvSpPr>
          <p:cNvPr id="9" name="Shape 5"/>
          <p:cNvSpPr/>
          <p:nvPr/>
        </p:nvSpPr>
        <p:spPr>
          <a:xfrm>
            <a:off x="571500" y="2009851"/>
            <a:ext cx="38405" cy="4276649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1114654" y="2200046"/>
            <a:ext cx="28767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バッジ制度：AIスキルをレベル分けし（Beginner～Expert）、達成度を可視化。社内プロフィール・名刺等に表示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1114654" y="3029407"/>
            <a:ext cx="28767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スキルマップ：個人・チームのスキル習得状況をレーダーチャートで可視化。成長ロードマップと目標設定を提供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1114654" y="3857854"/>
            <a:ext cx="28767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活用状況レポート：個人・チームのAI活用頻度・範囲・効果を定量測定。ダッシュボードで可視化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1114654" y="4686300"/>
            <a:ext cx="28767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ベストプラクティス横展開：成功事例を標準化。評価・選定・展開・支援プロセスを体系化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349801" y="1848002"/>
            <a:ext cx="3495751" cy="19202"/>
          </a:xfrm>
          <a:prstGeom prst="rect">
            <a:avLst/>
          </a:prstGeom>
          <a:solidFill>
            <a:srgbClr val="006633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49801" y="1514246"/>
            <a:ext cx="190195" cy="190195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635094" y="1466698"/>
            <a:ext cx="9052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66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メリット</a:t>
            </a:r>
            <a:endParaRPr lang="en-US" sz="1500" dirty="0"/>
          </a:p>
        </p:txBody>
      </p:sp>
      <p:sp>
        <p:nvSpPr>
          <p:cNvPr id="17" name="Shape 12"/>
          <p:cNvSpPr/>
          <p:nvPr/>
        </p:nvSpPr>
        <p:spPr>
          <a:xfrm>
            <a:off x="4349801" y="2009851"/>
            <a:ext cx="3495751" cy="4276649"/>
          </a:xfrm>
          <a:prstGeom prst="roundRect">
            <a:avLst>
              <a:gd name="adj" fmla="val 713"/>
            </a:avLst>
          </a:prstGeom>
          <a:solidFill>
            <a:srgbClr val="F9FFFA"/>
          </a:solidFill>
          <a:ln/>
        </p:spPr>
      </p:sp>
      <p:sp>
        <p:nvSpPr>
          <p:cNvPr id="18" name="Shape 13"/>
          <p:cNvSpPr/>
          <p:nvPr/>
        </p:nvSpPr>
        <p:spPr>
          <a:xfrm>
            <a:off x="4349801" y="2009851"/>
            <a:ext cx="38405" cy="4276649"/>
          </a:xfrm>
          <a:prstGeom prst="rect">
            <a:avLst/>
          </a:prstGeom>
          <a:solidFill>
            <a:srgbClr val="00AA66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4892954" y="2200046"/>
            <a:ext cx="28767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モチベーション向上と継続性：成長が見える化され学習意欲が40%向上。レベルアップの達成感で継続率85%以上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4892954" y="3029407"/>
            <a:ext cx="28767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戦略的な人材育成・配置：組織全体のスキル分布把握。プロジェクト最適配置、後継者育成計画に活用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4892954" y="3857854"/>
            <a:ext cx="28767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公平で客観的な評価：データに基づく評価で透明性向上。「評価されない」不満が50～70%減少</a:t>
            </a:r>
            <a:endParaRPr lang="en-US" sz="1200" dirty="0"/>
          </a:p>
        </p:txBody>
      </p:sp>
      <p:sp>
        <p:nvSpPr>
          <p:cNvPr id="22" name="Text 17"/>
          <p:cNvSpPr txBox="1"/>
          <p:nvPr/>
        </p:nvSpPr>
        <p:spPr>
          <a:xfrm>
            <a:off x="4892954" y="4686300"/>
            <a:ext cx="28767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組織全体の生産性向上：ベストプラクティス横展開で全体の生産性20～30%向上。品質の安定化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8128102" y="1848002"/>
            <a:ext cx="3495751" cy="19202"/>
          </a:xfrm>
          <a:prstGeom prst="rect">
            <a:avLst/>
          </a:prstGeom>
          <a:solidFill>
            <a:srgbClr val="990000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128102" y="1514246"/>
            <a:ext cx="190195" cy="190195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8413394" y="1466698"/>
            <a:ext cx="109545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99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デメリット</a:t>
            </a:r>
            <a:endParaRPr lang="en-US" sz="1500" dirty="0"/>
          </a:p>
        </p:txBody>
      </p:sp>
      <p:sp>
        <p:nvSpPr>
          <p:cNvPr id="26" name="Shape 20"/>
          <p:cNvSpPr/>
          <p:nvPr/>
        </p:nvSpPr>
        <p:spPr>
          <a:xfrm>
            <a:off x="8128102" y="2009851"/>
            <a:ext cx="3495751" cy="4276649"/>
          </a:xfrm>
          <a:prstGeom prst="roundRect">
            <a:avLst>
              <a:gd name="adj" fmla="val 713"/>
            </a:avLst>
          </a:prstGeom>
          <a:solidFill>
            <a:srgbClr val="FFF9F9"/>
          </a:solidFill>
          <a:ln/>
        </p:spPr>
      </p:sp>
      <p:sp>
        <p:nvSpPr>
          <p:cNvPr id="27" name="Shape 21"/>
          <p:cNvSpPr/>
          <p:nvPr/>
        </p:nvSpPr>
        <p:spPr>
          <a:xfrm>
            <a:off x="8128102" y="2009851"/>
            <a:ext cx="38405" cy="4276649"/>
          </a:xfrm>
          <a:prstGeom prst="rect">
            <a:avLst/>
          </a:prstGeom>
          <a:solidFill>
            <a:srgbClr val="CC3333"/>
          </a:solidFill>
          <a:ln/>
        </p:spPr>
      </p:sp>
      <p:sp>
        <p:nvSpPr>
          <p:cNvPr id="28" name="Text 22"/>
          <p:cNvSpPr txBox="1"/>
          <p:nvPr/>
        </p:nvSpPr>
        <p:spPr>
          <a:xfrm>
            <a:off x="8671255" y="2200046"/>
            <a:ext cx="28767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評価基準の設定と公平性：スキル評価基準の線引きが曖昧。評価者の主観が入り、職種間での比較が困難</a:t>
            </a:r>
            <a:endParaRPr lang="en-US" sz="1200" dirty="0"/>
          </a:p>
        </p:txBody>
      </p:sp>
      <p:sp>
        <p:nvSpPr>
          <p:cNvPr id="29" name="Text 23"/>
          <p:cNvSpPr txBox="1"/>
          <p:nvPr/>
        </p:nvSpPr>
        <p:spPr>
          <a:xfrm>
            <a:off x="8671255" y="3029407"/>
            <a:ext cx="28767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心理的な悪影響：低評価者（30～40%）が萎縮。バッジ取得が目的化し、組織内の分断リスク</a:t>
            </a:r>
            <a:endParaRPr lang="en-US" sz="1200" dirty="0"/>
          </a:p>
        </p:txBody>
      </p:sp>
      <p:sp>
        <p:nvSpPr>
          <p:cNvPr id="30" name="Text 24"/>
          <p:cNvSpPr txBox="1"/>
          <p:nvPr/>
        </p:nvSpPr>
        <p:spPr>
          <a:xfrm>
            <a:off x="8671255" y="3857854"/>
            <a:ext cx="28767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測定の難しさと指標の偏り：量的評価偏重で質的貢献が軽視。長期的価値創出が評価されにくい</a:t>
            </a:r>
            <a:endParaRPr lang="en-US" sz="1200" dirty="0"/>
          </a:p>
        </p:txBody>
      </p:sp>
      <p:sp>
        <p:nvSpPr>
          <p:cNvPr id="31" name="Text 25"/>
          <p:cNvSpPr txBox="1"/>
          <p:nvPr/>
        </p:nvSpPr>
        <p:spPr>
          <a:xfrm>
            <a:off x="8671255" y="4686300"/>
            <a:ext cx="28767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横展開の推進コスト：専任担当者と年間500～1000万円の予算が必要。部門ごとのカスタマイズ負荷</a:t>
            </a:r>
            <a:endParaRPr lang="en-US" sz="1200" dirty="0"/>
          </a:p>
        </p:txBody>
      </p:sp>
      <p:sp>
        <p:nvSpPr>
          <p:cNvPr id="32" name="Text 26"/>
          <p:cNvSpPr txBox="1"/>
          <p:nvPr/>
        </p:nvSpPr>
        <p:spPr>
          <a:xfrm>
            <a:off x="10264140" y="6439205"/>
            <a:ext cx="14767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AI推進プロジェクト</a:t>
            </a:r>
            <a:endParaRPr lang="en-US" sz="1200" dirty="0"/>
          </a:p>
        </p:txBody>
      </p:sp>
      <p:sp>
        <p:nvSpPr>
          <p:cNvPr id="33" name="Shape 27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003366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-607" r="-607" t="0" b="0"/>
          <a:stretch/>
        </p:blipFill>
        <p:spPr>
          <a:xfrm>
            <a:off x="571500" y="697687"/>
            <a:ext cx="362102" cy="28620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6249" y="580644"/>
            <a:ext cx="3353105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33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組織横断的取り組み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71500" y="1848002"/>
            <a:ext cx="3495751" cy="19202"/>
          </a:xfrm>
          <a:prstGeom prst="rect">
            <a:avLst/>
          </a:prstGeom>
          <a:solidFill>
            <a:srgbClr val="003366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71500" y="1514246"/>
            <a:ext cx="142646" cy="19019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09244" y="1466698"/>
            <a:ext cx="52395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33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施策</a:t>
            </a:r>
            <a:endParaRPr lang="en-US" sz="1500" dirty="0"/>
          </a:p>
        </p:txBody>
      </p:sp>
      <p:sp>
        <p:nvSpPr>
          <p:cNvPr id="8" name="Shape 4"/>
          <p:cNvSpPr/>
          <p:nvPr/>
        </p:nvSpPr>
        <p:spPr>
          <a:xfrm>
            <a:off x="571500" y="2009851"/>
            <a:ext cx="3495751" cy="4276649"/>
          </a:xfrm>
          <a:prstGeom prst="roundRect">
            <a:avLst>
              <a:gd name="adj" fmla="val 713"/>
            </a:avLst>
          </a:prstGeom>
          <a:solidFill>
            <a:srgbClr val="F8FBFF"/>
          </a:solidFill>
          <a:ln/>
        </p:spPr>
      </p:sp>
      <p:sp>
        <p:nvSpPr>
          <p:cNvPr id="9" name="Shape 5"/>
          <p:cNvSpPr/>
          <p:nvPr/>
        </p:nvSpPr>
        <p:spPr>
          <a:xfrm>
            <a:off x="571500" y="2009851"/>
            <a:ext cx="38405" cy="4276649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1114654" y="2200046"/>
            <a:ext cx="287670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部門横断プロジェクト：開発・営業・管理部門など各部門から選出したメンバーによる3～6ヶ月の期限付きAI活用プロジェクト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1114654" y="3258007"/>
            <a:ext cx="287670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多様な視点からのアイデア創出：常時受付のアイデアボックス、四半期アイデアソン開催、異なる役割・専門性からの募集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1114654" y="4315054"/>
            <a:ext cx="28767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組織全体でのAI文化醸成：ビジョンへの明記、行動規範への組み込み、社内AI Championの任命、AI Weekの開催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349801" y="1848002"/>
            <a:ext cx="3495751" cy="19202"/>
          </a:xfrm>
          <a:prstGeom prst="rect">
            <a:avLst/>
          </a:prstGeom>
          <a:solidFill>
            <a:srgbClr val="006633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49801" y="1514246"/>
            <a:ext cx="190195" cy="190195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4635094" y="1466698"/>
            <a:ext cx="9052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66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メリット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4349801" y="2009851"/>
            <a:ext cx="3495751" cy="4276649"/>
          </a:xfrm>
          <a:prstGeom prst="roundRect">
            <a:avLst>
              <a:gd name="adj" fmla="val 713"/>
            </a:avLst>
          </a:prstGeom>
          <a:solidFill>
            <a:srgbClr val="F9FFFA"/>
          </a:solidFill>
          <a:ln/>
        </p:spPr>
      </p:sp>
      <p:sp>
        <p:nvSpPr>
          <p:cNvPr id="17" name="Shape 12"/>
          <p:cNvSpPr/>
          <p:nvPr/>
        </p:nvSpPr>
        <p:spPr>
          <a:xfrm>
            <a:off x="4349801" y="2009851"/>
            <a:ext cx="38405" cy="4276649"/>
          </a:xfrm>
          <a:prstGeom prst="rect">
            <a:avLst/>
          </a:prstGeom>
          <a:solidFill>
            <a:srgbClr val="00AA66"/>
          </a:solidFill>
          <a:ln/>
        </p:spPr>
      </p:sp>
      <p:sp>
        <p:nvSpPr>
          <p:cNvPr id="18" name="Text 13"/>
          <p:cNvSpPr txBox="1"/>
          <p:nvPr/>
        </p:nvSpPr>
        <p:spPr>
          <a:xfrm>
            <a:off x="4892954" y="2200046"/>
            <a:ext cx="287670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イノベーション創出と相乗効果：異なる専門性の融合により革新的なアイデアが通常の3～5倍に、成功率が単独部門比で2～3倍に向上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4892954" y="3258007"/>
            <a:ext cx="287670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組織連携の強化と一体感醸成：部門間の壁が低くなり、対立が50～70%減少、人的ネットワーク形成による継続的協力関係の構築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4892954" y="4315054"/>
            <a:ext cx="287670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持続可能な推進体制：全社的文化として定着することで、特定担当者の異動・退職に左右されない継続的なAI活用が可能に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8128102" y="1848002"/>
            <a:ext cx="3495751" cy="19202"/>
          </a:xfrm>
          <a:prstGeom prst="rect">
            <a:avLst/>
          </a:prstGeom>
          <a:solidFill>
            <a:srgbClr val="990000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128102" y="1514246"/>
            <a:ext cx="190195" cy="190195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8413394" y="1466698"/>
            <a:ext cx="109545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99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デメリット</a:t>
            </a:r>
            <a:endParaRPr lang="en-US" sz="1500" dirty="0"/>
          </a:p>
        </p:txBody>
      </p:sp>
      <p:sp>
        <p:nvSpPr>
          <p:cNvPr id="24" name="Shape 18"/>
          <p:cNvSpPr/>
          <p:nvPr/>
        </p:nvSpPr>
        <p:spPr>
          <a:xfrm>
            <a:off x="8128102" y="2009851"/>
            <a:ext cx="3495751" cy="4276649"/>
          </a:xfrm>
          <a:prstGeom prst="roundRect">
            <a:avLst>
              <a:gd name="adj" fmla="val 713"/>
            </a:avLst>
          </a:prstGeom>
          <a:solidFill>
            <a:srgbClr val="FFF9F9"/>
          </a:solidFill>
          <a:ln/>
        </p:spPr>
      </p:sp>
      <p:sp>
        <p:nvSpPr>
          <p:cNvPr id="25" name="Shape 19"/>
          <p:cNvSpPr/>
          <p:nvPr/>
        </p:nvSpPr>
        <p:spPr>
          <a:xfrm>
            <a:off x="8128102" y="2009851"/>
            <a:ext cx="38405" cy="4276649"/>
          </a:xfrm>
          <a:prstGeom prst="rect">
            <a:avLst/>
          </a:prstGeom>
          <a:solidFill>
            <a:srgbClr val="CC3333"/>
          </a:solidFill>
          <a:ln/>
        </p:spPr>
      </p:sp>
      <p:sp>
        <p:nvSpPr>
          <p:cNvPr id="26" name="Text 20"/>
          <p:cNvSpPr txBox="1"/>
          <p:nvPr/>
        </p:nvSpPr>
        <p:spPr>
          <a:xfrm>
            <a:off x="8671255" y="2200046"/>
            <a:ext cx="287670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調整コストと意思決定の遅延：部門間調整に200～400時間の工数発生、優先順位の相違による合意形成の長期化、複雑な稟議プロセス</a:t>
            </a:r>
            <a:endParaRPr lang="en-US" sz="1200" dirty="0"/>
          </a:p>
        </p:txBody>
      </p:sp>
      <p:sp>
        <p:nvSpPr>
          <p:cNvPr id="27" name="Text 21"/>
          <p:cNvSpPr txBox="1"/>
          <p:nvPr/>
        </p:nvSpPr>
        <p:spPr>
          <a:xfrm>
            <a:off x="8671255" y="3258007"/>
            <a:ext cx="287670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責任の曖昧さと推進力の低下：「誰の責任か」が不明確、「本業ではない」と優先度低下、熱心なメンバーへの依存リスク</a:t>
            </a:r>
            <a:endParaRPr lang="en-US" sz="1200" dirty="0"/>
          </a:p>
        </p:txBody>
      </p:sp>
      <p:sp>
        <p:nvSpPr>
          <p:cNvPr id="28" name="Text 22"/>
          <p:cNvSpPr txBox="1"/>
          <p:nvPr/>
        </p:nvSpPr>
        <p:spPr>
          <a:xfrm>
            <a:off x="8671255" y="4315054"/>
            <a:ext cx="28767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文化醸成の長期性：定着に2～3年の時間が必要、短期成果の見えにくさによる批判、ROI証明の難しさ、形骸化リスク</a:t>
            </a:r>
            <a:endParaRPr lang="en-US" sz="1200" dirty="0"/>
          </a:p>
        </p:txBody>
      </p:sp>
      <p:sp>
        <p:nvSpPr>
          <p:cNvPr id="29" name="Text 23"/>
          <p:cNvSpPr txBox="1"/>
          <p:nvPr/>
        </p:nvSpPr>
        <p:spPr>
          <a:xfrm>
            <a:off x="10264140" y="6439205"/>
            <a:ext cx="14767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AI推進プロジェクト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003366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71500" y="697687"/>
            <a:ext cx="286207" cy="28620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00354" y="580644"/>
            <a:ext cx="4381805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33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失敗を許容する文化づくり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71500" y="1848002"/>
            <a:ext cx="3495751" cy="19202"/>
          </a:xfrm>
          <a:prstGeom prst="rect">
            <a:avLst/>
          </a:prstGeom>
          <a:solidFill>
            <a:srgbClr val="003366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71500" y="1514246"/>
            <a:ext cx="142646" cy="19019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09244" y="1466698"/>
            <a:ext cx="52395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33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施策</a:t>
            </a:r>
            <a:endParaRPr lang="en-US" sz="1500" dirty="0"/>
          </a:p>
        </p:txBody>
      </p:sp>
      <p:sp>
        <p:nvSpPr>
          <p:cNvPr id="8" name="Shape 4"/>
          <p:cNvSpPr/>
          <p:nvPr/>
        </p:nvSpPr>
        <p:spPr>
          <a:xfrm>
            <a:off x="571500" y="2009851"/>
            <a:ext cx="3495751" cy="4276649"/>
          </a:xfrm>
          <a:prstGeom prst="roundRect">
            <a:avLst>
              <a:gd name="adj" fmla="val 713"/>
            </a:avLst>
          </a:prstGeom>
          <a:solidFill>
            <a:srgbClr val="F8FBFF"/>
          </a:solidFill>
          <a:ln/>
        </p:spPr>
      </p:sp>
      <p:sp>
        <p:nvSpPr>
          <p:cNvPr id="9" name="Shape 5"/>
          <p:cNvSpPr/>
          <p:nvPr/>
        </p:nvSpPr>
        <p:spPr>
          <a:xfrm>
            <a:off x="571500" y="2009851"/>
            <a:ext cx="38405" cy="4276649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1114654" y="2200046"/>
            <a:ext cx="28767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失敗を学習機会として評価：失敗を減点ではなく、学びと成長の機会として積極的に評価する制度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1114654" y="3029407"/>
            <a:ext cx="28767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「今月の失敗から学んだこと」共有会：月1回、失敗事例とその学びを全社で共有する場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1114654" y="3857854"/>
            <a:ext cx="28767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心理的安全性を確保した実験環境：サンドボックス環境、明確なガイドライン、経営層からの支持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1114654" y="4686300"/>
            <a:ext cx="28767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チャレンジを奨励する評価制度：「新技術へのチャレンジ」を評価項目に明記、プロセスも評価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349801" y="1848002"/>
            <a:ext cx="3495751" cy="19202"/>
          </a:xfrm>
          <a:prstGeom prst="rect">
            <a:avLst/>
          </a:prstGeom>
          <a:solidFill>
            <a:srgbClr val="006633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49801" y="1514246"/>
            <a:ext cx="190195" cy="190195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635094" y="1466698"/>
            <a:ext cx="9052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66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メリット</a:t>
            </a:r>
            <a:endParaRPr lang="en-US" sz="1500" dirty="0"/>
          </a:p>
        </p:txBody>
      </p:sp>
      <p:sp>
        <p:nvSpPr>
          <p:cNvPr id="17" name="Shape 12"/>
          <p:cNvSpPr/>
          <p:nvPr/>
        </p:nvSpPr>
        <p:spPr>
          <a:xfrm>
            <a:off x="4349801" y="2009851"/>
            <a:ext cx="3495751" cy="4276649"/>
          </a:xfrm>
          <a:prstGeom prst="roundRect">
            <a:avLst>
              <a:gd name="adj" fmla="val 713"/>
            </a:avLst>
          </a:prstGeom>
          <a:solidFill>
            <a:srgbClr val="F9FFFA"/>
          </a:solidFill>
          <a:ln/>
        </p:spPr>
      </p:sp>
      <p:sp>
        <p:nvSpPr>
          <p:cNvPr id="18" name="Shape 13"/>
          <p:cNvSpPr/>
          <p:nvPr/>
        </p:nvSpPr>
        <p:spPr>
          <a:xfrm>
            <a:off x="4349801" y="2009851"/>
            <a:ext cx="38405" cy="4276649"/>
          </a:xfrm>
          <a:prstGeom prst="rect">
            <a:avLst/>
          </a:prstGeom>
          <a:solidFill>
            <a:srgbClr val="00AA66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4892954" y="2200046"/>
            <a:ext cx="28767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積極的なチャレンジ促進：心理的安全性確保により、新技術挑戦率が50%→85%に上昇、イノベーション創出が活発化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4892954" y="3029407"/>
            <a:ext cx="28767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組織学習の加速：失敗事例の蓄積により、学習速度が3～4倍に向上、同じ過ちの繰り返しを防止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4892954" y="3857854"/>
            <a:ext cx="28767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社員の成長促進：失敗からの学びを評価することで自己成長が加速、チーム内の信頼関係強化</a:t>
            </a:r>
            <a:endParaRPr lang="en-US" sz="1200" dirty="0"/>
          </a:p>
        </p:txBody>
      </p:sp>
      <p:sp>
        <p:nvSpPr>
          <p:cNvPr id="22" name="Text 17"/>
          <p:cNvSpPr txBox="1"/>
          <p:nvPr/>
        </p:nvSpPr>
        <p:spPr>
          <a:xfrm>
            <a:off x="4892954" y="4686300"/>
            <a:ext cx="28767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定量的な効果測定：心理的安全性サーベイにより、文化醸成の進捗を数値で可視化し改善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8128102" y="1848002"/>
            <a:ext cx="3495751" cy="19202"/>
          </a:xfrm>
          <a:prstGeom prst="rect">
            <a:avLst/>
          </a:prstGeom>
          <a:solidFill>
            <a:srgbClr val="990000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128102" y="1514246"/>
            <a:ext cx="190195" cy="190195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8413394" y="1466698"/>
            <a:ext cx="109545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99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デメリット</a:t>
            </a:r>
            <a:endParaRPr lang="en-US" sz="1500" dirty="0"/>
          </a:p>
        </p:txBody>
      </p:sp>
      <p:sp>
        <p:nvSpPr>
          <p:cNvPr id="26" name="Shape 20"/>
          <p:cNvSpPr/>
          <p:nvPr/>
        </p:nvSpPr>
        <p:spPr>
          <a:xfrm>
            <a:off x="8128102" y="2009851"/>
            <a:ext cx="3495751" cy="4276649"/>
          </a:xfrm>
          <a:prstGeom prst="roundRect">
            <a:avLst>
              <a:gd name="adj" fmla="val 713"/>
            </a:avLst>
          </a:prstGeom>
          <a:solidFill>
            <a:srgbClr val="FFF9F9"/>
          </a:solidFill>
          <a:ln/>
        </p:spPr>
      </p:sp>
      <p:sp>
        <p:nvSpPr>
          <p:cNvPr id="27" name="Shape 21"/>
          <p:cNvSpPr/>
          <p:nvPr/>
        </p:nvSpPr>
        <p:spPr>
          <a:xfrm>
            <a:off x="8128102" y="2009851"/>
            <a:ext cx="38405" cy="4276649"/>
          </a:xfrm>
          <a:prstGeom prst="rect">
            <a:avLst/>
          </a:prstGeom>
          <a:solidFill>
            <a:srgbClr val="CC3333"/>
          </a:solidFill>
          <a:ln/>
        </p:spPr>
      </p:sp>
      <p:sp>
        <p:nvSpPr>
          <p:cNvPr id="28" name="Text 22"/>
          <p:cNvSpPr txBox="1"/>
          <p:nvPr/>
        </p:nvSpPr>
        <p:spPr>
          <a:xfrm>
            <a:off x="8671255" y="2200046"/>
            <a:ext cx="28767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評価基準の曖昧さ：「チャレンジ」と「単なる失敗」の線引きが難しく、評価者による判断のばらつきが発生</a:t>
            </a:r>
            <a:endParaRPr lang="en-US" sz="1200" dirty="0"/>
          </a:p>
        </p:txBody>
      </p:sp>
      <p:sp>
        <p:nvSpPr>
          <p:cNvPr id="29" name="Text 23"/>
          <p:cNvSpPr txBox="1"/>
          <p:nvPr/>
        </p:nvSpPr>
        <p:spPr>
          <a:xfrm>
            <a:off x="8671255" y="3029407"/>
            <a:ext cx="28767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形骸化のリスク：失敗レポート作成が形式的な作業になり、本質的な学びが得られない可能性</a:t>
            </a:r>
            <a:endParaRPr lang="en-US" sz="1200" dirty="0"/>
          </a:p>
        </p:txBody>
      </p:sp>
      <p:sp>
        <p:nvSpPr>
          <p:cNvPr id="30" name="Text 24"/>
          <p:cNvSpPr txBox="1"/>
          <p:nvPr/>
        </p:nvSpPr>
        <p:spPr>
          <a:xfrm>
            <a:off x="8671255" y="3857854"/>
            <a:ext cx="28767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緊張感の欠如：「失敗が許される」が「失敗しても構わない」と誤解され、品質意識が低下するリスク</a:t>
            </a:r>
            <a:endParaRPr lang="en-US" sz="1200" dirty="0"/>
          </a:p>
        </p:txBody>
      </p:sp>
      <p:sp>
        <p:nvSpPr>
          <p:cNvPr id="31" name="Text 25"/>
          <p:cNvSpPr txBox="1"/>
          <p:nvPr/>
        </p:nvSpPr>
        <p:spPr>
          <a:xfrm>
            <a:off x="8671255" y="4686300"/>
            <a:ext cx="28767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環境構築・維持コスト：サンドボックス環境構築に初期費用200～500万円、年間100～300万円の運用コスト</a:t>
            </a:r>
            <a:endParaRPr lang="en-US" sz="1200" dirty="0"/>
          </a:p>
        </p:txBody>
      </p:sp>
      <p:sp>
        <p:nvSpPr>
          <p:cNvPr id="32" name="Text 26"/>
          <p:cNvSpPr txBox="1"/>
          <p:nvPr/>
        </p:nvSpPr>
        <p:spPr>
          <a:xfrm>
            <a:off x="10264140" y="6439205"/>
            <a:ext cx="14767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AI推進プロジェクト</a:t>
            </a:r>
            <a:endParaRPr lang="en-US" sz="1200" dirty="0"/>
          </a:p>
        </p:txBody>
      </p:sp>
      <p:sp>
        <p:nvSpPr>
          <p:cNvPr id="33" name="Shape 27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003366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530" b="-530"/>
          <a:stretch/>
        </p:blipFill>
        <p:spPr>
          <a:xfrm>
            <a:off x="571500" y="697687"/>
            <a:ext cx="247802" cy="28620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61949" y="580644"/>
            <a:ext cx="4038905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33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経営層のコミットメント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71500" y="1848002"/>
            <a:ext cx="3495751" cy="19202"/>
          </a:xfrm>
          <a:prstGeom prst="rect">
            <a:avLst/>
          </a:prstGeom>
          <a:solidFill>
            <a:srgbClr val="003366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71500" y="1514246"/>
            <a:ext cx="142646" cy="19019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09244" y="1466698"/>
            <a:ext cx="52395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33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施策</a:t>
            </a:r>
            <a:endParaRPr lang="en-US" sz="1500" dirty="0"/>
          </a:p>
        </p:txBody>
      </p:sp>
      <p:sp>
        <p:nvSpPr>
          <p:cNvPr id="8" name="Shape 4"/>
          <p:cNvSpPr/>
          <p:nvPr/>
        </p:nvSpPr>
        <p:spPr>
          <a:xfrm>
            <a:off x="571500" y="2009851"/>
            <a:ext cx="3495751" cy="4276649"/>
          </a:xfrm>
          <a:prstGeom prst="roundRect">
            <a:avLst>
              <a:gd name="adj" fmla="val 713"/>
            </a:avLst>
          </a:prstGeom>
          <a:solidFill>
            <a:srgbClr val="F8FBFF"/>
          </a:solidFill>
          <a:ln/>
        </p:spPr>
      </p:sp>
      <p:sp>
        <p:nvSpPr>
          <p:cNvPr id="9" name="Shape 5"/>
          <p:cNvSpPr/>
          <p:nvPr/>
        </p:nvSpPr>
        <p:spPr>
          <a:xfrm>
            <a:off x="571500" y="2009851"/>
            <a:ext cx="38405" cy="4276649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1114654" y="2200046"/>
            <a:ext cx="28767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経営層自身がAIツールを積極的に活用：経営会議資料作成、戦略立案、日常業務、AI活用事例の共有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1114654" y="3029407"/>
            <a:ext cx="28767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定期的なメッセージ発信：月次社長メッセージ、四半期全社会議、年次経営方針発表での双方向コミュニケーション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1114654" y="3857854"/>
            <a:ext cx="28767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経営計画への位置づけ：3～5年AIロードマップ、専用予算確保（売上1-2%）、AI推進組織の設置、KPI設定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1114654" y="4686300"/>
            <a:ext cx="28767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トップダウン×ボトムアップ：経営からの方針と現場からの提案を連携、AI推進委員会、パイロットプロジェクト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349801" y="1848002"/>
            <a:ext cx="3495751" cy="19202"/>
          </a:xfrm>
          <a:prstGeom prst="rect">
            <a:avLst/>
          </a:prstGeom>
          <a:solidFill>
            <a:srgbClr val="006633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49801" y="1514246"/>
            <a:ext cx="190195" cy="190195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635094" y="1466698"/>
            <a:ext cx="9052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66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メリット</a:t>
            </a:r>
            <a:endParaRPr lang="en-US" sz="1500" dirty="0"/>
          </a:p>
        </p:txBody>
      </p:sp>
      <p:sp>
        <p:nvSpPr>
          <p:cNvPr id="17" name="Shape 12"/>
          <p:cNvSpPr/>
          <p:nvPr/>
        </p:nvSpPr>
        <p:spPr>
          <a:xfrm>
            <a:off x="4349801" y="2009851"/>
            <a:ext cx="3495751" cy="4276649"/>
          </a:xfrm>
          <a:prstGeom prst="roundRect">
            <a:avLst>
              <a:gd name="adj" fmla="val 713"/>
            </a:avLst>
          </a:prstGeom>
          <a:solidFill>
            <a:srgbClr val="F9FFFA"/>
          </a:solidFill>
          <a:ln/>
        </p:spPr>
      </p:sp>
      <p:sp>
        <p:nvSpPr>
          <p:cNvPr id="18" name="Shape 13"/>
          <p:cNvSpPr/>
          <p:nvPr/>
        </p:nvSpPr>
        <p:spPr>
          <a:xfrm>
            <a:off x="4349801" y="2009851"/>
            <a:ext cx="38405" cy="4276649"/>
          </a:xfrm>
          <a:prstGeom prst="rect">
            <a:avLst/>
          </a:prstGeom>
          <a:solidFill>
            <a:srgbClr val="00AA66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4892954" y="2200046"/>
            <a:ext cx="28767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組織全体の意識向上：経営層の本気度が伝わり、AI活用への意識が50%→90%に向上、現場の抵抗が大幅に減少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4892954" y="3029407"/>
            <a:ext cx="28767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リソース確保の容易さ：必要な予算・人材配置・時間確保が承認されやすく、優先度が明確になる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4892954" y="3857854"/>
            <a:ext cx="28767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方向性の統一と迅速な意思決定：組織の方向性が明確化、意思決定が2-3倍速く、部門間協力も容易に</a:t>
            </a:r>
            <a:endParaRPr lang="en-US" sz="1200" dirty="0"/>
          </a:p>
        </p:txBody>
      </p:sp>
      <p:sp>
        <p:nvSpPr>
          <p:cNvPr id="22" name="Text 17"/>
          <p:cNvSpPr txBox="1"/>
          <p:nvPr/>
        </p:nvSpPr>
        <p:spPr>
          <a:xfrm>
            <a:off x="4892954" y="4686300"/>
            <a:ext cx="28767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Top-Down×Bottom-Upの相乗効果：戦略と実践の融合、柔軟で実効性の高い推進、エンゲージメント向上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8128102" y="1848002"/>
            <a:ext cx="3495751" cy="19202"/>
          </a:xfrm>
          <a:prstGeom prst="rect">
            <a:avLst/>
          </a:prstGeom>
          <a:solidFill>
            <a:srgbClr val="990000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128102" y="1514246"/>
            <a:ext cx="190195" cy="190195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8413394" y="1466698"/>
            <a:ext cx="109545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99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デメリット</a:t>
            </a:r>
            <a:endParaRPr lang="en-US" sz="1500" dirty="0"/>
          </a:p>
        </p:txBody>
      </p:sp>
      <p:sp>
        <p:nvSpPr>
          <p:cNvPr id="26" name="Shape 20"/>
          <p:cNvSpPr/>
          <p:nvPr/>
        </p:nvSpPr>
        <p:spPr>
          <a:xfrm>
            <a:off x="8128102" y="2009851"/>
            <a:ext cx="3495751" cy="4276649"/>
          </a:xfrm>
          <a:prstGeom prst="roundRect">
            <a:avLst>
              <a:gd name="adj" fmla="val 713"/>
            </a:avLst>
          </a:prstGeom>
          <a:solidFill>
            <a:srgbClr val="FFF9F9"/>
          </a:solidFill>
          <a:ln/>
        </p:spPr>
      </p:sp>
      <p:sp>
        <p:nvSpPr>
          <p:cNvPr id="27" name="Shape 21"/>
          <p:cNvSpPr/>
          <p:nvPr/>
        </p:nvSpPr>
        <p:spPr>
          <a:xfrm>
            <a:off x="8128102" y="2009851"/>
            <a:ext cx="38405" cy="4276649"/>
          </a:xfrm>
          <a:prstGeom prst="rect">
            <a:avLst/>
          </a:prstGeom>
          <a:solidFill>
            <a:srgbClr val="CC3333"/>
          </a:solidFill>
          <a:ln/>
        </p:spPr>
      </p:sp>
      <p:sp>
        <p:nvSpPr>
          <p:cNvPr id="28" name="Text 22"/>
          <p:cNvSpPr txBox="1"/>
          <p:nvPr/>
        </p:nvSpPr>
        <p:spPr>
          <a:xfrm>
            <a:off x="8671255" y="2200046"/>
            <a:ext cx="28767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形式的な推進と現場との乖離：経営層のAI理解が表面的だと「とりあえずAIを使え」という形式的な指示に</a:t>
            </a:r>
            <a:endParaRPr lang="en-US" sz="1200" dirty="0"/>
          </a:p>
        </p:txBody>
      </p:sp>
      <p:sp>
        <p:nvSpPr>
          <p:cNvPr id="29" name="Text 23"/>
          <p:cNvSpPr txBox="1"/>
          <p:nvPr/>
        </p:nvSpPr>
        <p:spPr>
          <a:xfrm>
            <a:off x="8671255" y="3029407"/>
            <a:ext cx="28767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現場の創意工夫の抑制：トップダウンが強すぎると「指示されたことだけやる」姿勢になり、自発的工夫が減少</a:t>
            </a:r>
            <a:endParaRPr lang="en-US" sz="1200" dirty="0"/>
          </a:p>
        </p:txBody>
      </p:sp>
      <p:sp>
        <p:nvSpPr>
          <p:cNvPr id="30" name="Text 24"/>
          <p:cNvSpPr txBox="1"/>
          <p:nvPr/>
        </p:nvSpPr>
        <p:spPr>
          <a:xfrm>
            <a:off x="8671255" y="3857854"/>
            <a:ext cx="28767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不適切な目標設定：高すぎる目標で現場が疲弊、短期KPI偏重で形式的活動が増加、本質的効果が出にくい</a:t>
            </a:r>
            <a:endParaRPr lang="en-US" sz="1200" dirty="0"/>
          </a:p>
        </p:txBody>
      </p:sp>
      <p:sp>
        <p:nvSpPr>
          <p:cNvPr id="31" name="Text 25"/>
          <p:cNvSpPr txBox="1"/>
          <p:nvPr/>
        </p:nvSpPr>
        <p:spPr>
          <a:xfrm>
            <a:off x="8671255" y="4686300"/>
            <a:ext cx="28767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バランス調整の困難さ：Top-Down/Bottom-Upのバランス調整に月20-40時間の工数、責任所在の曖昧化</a:t>
            </a:r>
            <a:endParaRPr lang="en-US" sz="1200" dirty="0"/>
          </a:p>
        </p:txBody>
      </p:sp>
      <p:sp>
        <p:nvSpPr>
          <p:cNvPr id="32" name="Text 26"/>
          <p:cNvSpPr txBox="1"/>
          <p:nvPr/>
        </p:nvSpPr>
        <p:spPr>
          <a:xfrm>
            <a:off x="10264140" y="6439205"/>
            <a:ext cx="14767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AI推進プロジェクト</a:t>
            </a:r>
            <a:endParaRPr lang="en-US" sz="1200" dirty="0"/>
          </a:p>
        </p:txBody>
      </p:sp>
      <p:sp>
        <p:nvSpPr>
          <p:cNvPr id="33" name="Shape 27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003366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067751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71500" y="694944"/>
            <a:ext cx="304495" cy="30449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19556" y="580644"/>
            <a:ext cx="6496812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33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意識変革における14の主要課題（概要）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71500" y="1419149"/>
            <a:ext cx="5429707" cy="705002"/>
          </a:xfrm>
          <a:prstGeom prst="roundRect">
            <a:avLst>
              <a:gd name="adj" fmla="val 17527"/>
            </a:avLst>
          </a:prstGeom>
          <a:solidFill>
            <a:srgbClr val="F8FBFF"/>
          </a:solidFill>
          <a:ln w="12700">
            <a:solidFill>
              <a:srgbClr val="E0E9F5"/>
            </a:solidFill>
            <a:prstDash val="solid"/>
          </a:ln>
          <a:effectLst>
            <a:outerShdw sx="100000" sy="100000" kx="0" ky="0" algn="bl" rotWithShape="0" blurRad="63500" dist="38100" dir="5400000">
              <a:srgbClr val="003366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191402" y="1419149"/>
            <a:ext cx="5429707" cy="705002"/>
          </a:xfrm>
          <a:prstGeom prst="roundRect">
            <a:avLst>
              <a:gd name="adj" fmla="val 17527"/>
            </a:avLst>
          </a:prstGeom>
          <a:solidFill>
            <a:srgbClr val="F8FBFF"/>
          </a:solidFill>
          <a:ln w="12700">
            <a:solidFill>
              <a:srgbClr val="E0E9F5"/>
            </a:solidFill>
            <a:prstDash val="solid"/>
          </a:ln>
          <a:effectLst>
            <a:outerShdw sx="100000" sy="100000" kx="0" ky="0" algn="bl" rotWithShape="0" blurRad="63500" dist="38100" dir="5400000">
              <a:srgbClr val="003366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191402" y="2314346"/>
            <a:ext cx="5429707" cy="705002"/>
          </a:xfrm>
          <a:prstGeom prst="roundRect">
            <a:avLst>
              <a:gd name="adj" fmla="val 17527"/>
            </a:avLst>
          </a:prstGeom>
          <a:solidFill>
            <a:srgbClr val="F8FBFF"/>
          </a:solidFill>
          <a:ln w="12700">
            <a:solidFill>
              <a:srgbClr val="E0E9F5"/>
            </a:solidFill>
            <a:prstDash val="solid"/>
          </a:ln>
          <a:effectLst>
            <a:outerShdw sx="100000" sy="100000" kx="0" ky="0" algn="bl" rotWithShape="0" blurRad="63500" dist="38100" dir="5400000">
              <a:srgbClr val="003366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191402" y="3209544"/>
            <a:ext cx="5429707" cy="705002"/>
          </a:xfrm>
          <a:prstGeom prst="roundRect">
            <a:avLst>
              <a:gd name="adj" fmla="val 17527"/>
            </a:avLst>
          </a:prstGeom>
          <a:solidFill>
            <a:srgbClr val="F8FBFF"/>
          </a:solidFill>
          <a:ln w="12700">
            <a:solidFill>
              <a:srgbClr val="E0E9F5"/>
            </a:solidFill>
            <a:prstDash val="solid"/>
          </a:ln>
          <a:effectLst>
            <a:outerShdw sx="100000" sy="100000" kx="0" ky="0" algn="bl" rotWithShape="0" blurRad="63500" dist="38100" dir="5400000">
              <a:srgbClr val="003366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33349" y="1314907"/>
            <a:ext cx="228600" cy="228600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10" name="Shape 7"/>
          <p:cNvSpPr/>
          <p:nvPr/>
        </p:nvSpPr>
        <p:spPr>
          <a:xfrm>
            <a:off x="6353251" y="1314907"/>
            <a:ext cx="228600" cy="228600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13816" y="1343254"/>
            <a:ext cx="1627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733349" y="1580998"/>
            <a:ext cx="381305" cy="381305"/>
          </a:xfrm>
          <a:prstGeom prst="ellipse">
            <a:avLst/>
          </a:prstGeom>
          <a:solidFill>
            <a:srgbClr val="0066CC">
              <a:alpha val="10000"/>
            </a:srgbClr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28446" y="1676095"/>
            <a:ext cx="190195" cy="190195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353251" y="2210105"/>
            <a:ext cx="228600" cy="228600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6433718" y="1343254"/>
            <a:ext cx="1627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6353251" y="1580998"/>
            <a:ext cx="381305" cy="381305"/>
          </a:xfrm>
          <a:prstGeom prst="ellipse">
            <a:avLst/>
          </a:prstGeom>
          <a:solidFill>
            <a:srgbClr val="0066CC">
              <a:alpha val="10000"/>
            </a:srgbClr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1257300" y="1657807"/>
            <a:ext cx="13432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33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学習意欲ギャップ</a:t>
            </a:r>
            <a:endParaRPr lang="en-US" sz="12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424574" y="1676095"/>
            <a:ext cx="237744" cy="190195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571500" y="2314346"/>
            <a:ext cx="5429707" cy="705002"/>
          </a:xfrm>
          <a:prstGeom prst="roundRect">
            <a:avLst>
              <a:gd name="adj" fmla="val 17527"/>
            </a:avLst>
          </a:prstGeom>
          <a:solidFill>
            <a:srgbClr val="F8FBFF"/>
          </a:solidFill>
          <a:ln w="12700">
            <a:solidFill>
              <a:srgbClr val="E0E9F5"/>
            </a:solidFill>
            <a:prstDash val="solid"/>
          </a:ln>
          <a:effectLst>
            <a:outerShdw sx="100000" sy="100000" kx="0" ky="0" algn="bl" rotWithShape="0" blurRad="63500" dist="38100" dir="5400000">
              <a:srgbClr val="003366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571500" y="4105656"/>
            <a:ext cx="5429707" cy="705002"/>
          </a:xfrm>
          <a:prstGeom prst="roundRect">
            <a:avLst>
              <a:gd name="adj" fmla="val 17527"/>
            </a:avLst>
          </a:prstGeom>
          <a:solidFill>
            <a:srgbClr val="F8FBFF"/>
          </a:solidFill>
          <a:ln w="12700">
            <a:solidFill>
              <a:srgbClr val="E0E9F5"/>
            </a:solidFill>
            <a:prstDash val="solid"/>
          </a:ln>
          <a:effectLst>
            <a:outerShdw sx="100000" sy="100000" kx="0" ky="0" algn="bl" rotWithShape="0" blurRad="63500" dist="38100" dir="5400000">
              <a:srgbClr val="003366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33349" y="2210105"/>
            <a:ext cx="228600" cy="228600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22" name="Shape 17"/>
          <p:cNvSpPr/>
          <p:nvPr/>
        </p:nvSpPr>
        <p:spPr>
          <a:xfrm>
            <a:off x="733349" y="4000500"/>
            <a:ext cx="228600" cy="228600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813816" y="2238451"/>
            <a:ext cx="1627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900" dirty="0"/>
          </a:p>
        </p:txBody>
      </p:sp>
      <p:sp>
        <p:nvSpPr>
          <p:cNvPr id="24" name="Text 19"/>
          <p:cNvSpPr txBox="1"/>
          <p:nvPr/>
        </p:nvSpPr>
        <p:spPr>
          <a:xfrm>
            <a:off x="6433718" y="2238451"/>
            <a:ext cx="1627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</a:t>
            </a:r>
            <a:endParaRPr lang="en-US" sz="900" dirty="0"/>
          </a:p>
        </p:txBody>
      </p:sp>
      <p:sp>
        <p:nvSpPr>
          <p:cNvPr id="25" name="Text 20"/>
          <p:cNvSpPr txBox="1"/>
          <p:nvPr/>
        </p:nvSpPr>
        <p:spPr>
          <a:xfrm>
            <a:off x="813816" y="3133649"/>
            <a:ext cx="1627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</a:t>
            </a:r>
            <a:endParaRPr lang="en-US" sz="900" dirty="0"/>
          </a:p>
        </p:txBody>
      </p:sp>
      <p:sp>
        <p:nvSpPr>
          <p:cNvPr id="26" name="Shape 21"/>
          <p:cNvSpPr/>
          <p:nvPr/>
        </p:nvSpPr>
        <p:spPr>
          <a:xfrm>
            <a:off x="733349" y="2476195"/>
            <a:ext cx="381305" cy="381305"/>
          </a:xfrm>
          <a:prstGeom prst="ellipse">
            <a:avLst/>
          </a:prstGeom>
          <a:solidFill>
            <a:srgbClr val="0066CC">
              <a:alpha val="10000"/>
            </a:srgbClr>
          </a:solidFill>
          <a:ln/>
        </p:spPr>
      </p:sp>
      <p:sp>
        <p:nvSpPr>
          <p:cNvPr id="27" name="Text 22"/>
          <p:cNvSpPr txBox="1"/>
          <p:nvPr/>
        </p:nvSpPr>
        <p:spPr>
          <a:xfrm>
            <a:off x="6877202" y="1657807"/>
            <a:ext cx="13341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33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デジタルデバイド</a:t>
            </a:r>
            <a:endParaRPr lang="en-US" sz="1200" dirty="0"/>
          </a:p>
        </p:txBody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52221" y="2572207"/>
            <a:ext cx="142646" cy="190195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813816" y="4028846"/>
            <a:ext cx="1627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7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6353251" y="2476195"/>
            <a:ext cx="381305" cy="381305"/>
          </a:xfrm>
          <a:prstGeom prst="ellipse">
            <a:avLst/>
          </a:prstGeom>
          <a:solidFill>
            <a:srgbClr val="0066CC">
              <a:alpha val="10000"/>
            </a:srgbClr>
          </a:solidFill>
          <a:ln/>
        </p:spPr>
      </p:sp>
      <p:sp>
        <p:nvSpPr>
          <p:cNvPr id="31" name="Text 25"/>
          <p:cNvSpPr txBox="1"/>
          <p:nvPr/>
        </p:nvSpPr>
        <p:spPr>
          <a:xfrm>
            <a:off x="1257300" y="2553005"/>
            <a:ext cx="11914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33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効果発現の遅延</a:t>
            </a:r>
            <a:endParaRPr lang="en-US" sz="1200" dirty="0"/>
          </a:p>
        </p:txBody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424574" y="2572207"/>
            <a:ext cx="237744" cy="190195"/>
          </a:xfrm>
          <a:prstGeom prst="rect">
            <a:avLst/>
          </a:prstGeom>
        </p:spPr>
      </p:pic>
      <p:sp>
        <p:nvSpPr>
          <p:cNvPr id="33" name="Shape 26"/>
          <p:cNvSpPr/>
          <p:nvPr/>
        </p:nvSpPr>
        <p:spPr>
          <a:xfrm>
            <a:off x="571500" y="3209544"/>
            <a:ext cx="5429707" cy="705002"/>
          </a:xfrm>
          <a:prstGeom prst="roundRect">
            <a:avLst>
              <a:gd name="adj" fmla="val 17527"/>
            </a:avLst>
          </a:prstGeom>
          <a:solidFill>
            <a:srgbClr val="F8FBFF"/>
          </a:solidFill>
          <a:ln w="12700">
            <a:solidFill>
              <a:srgbClr val="E0E9F5"/>
            </a:solidFill>
            <a:prstDash val="solid"/>
          </a:ln>
          <a:effectLst>
            <a:outerShdw sx="100000" sy="100000" kx="0" ky="0" algn="bl" rotWithShape="0" blurRad="63500" dist="38100" dir="5400000">
              <a:srgbClr val="003366">
                <a:alpha val="10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733349" y="3105302"/>
            <a:ext cx="228600" cy="228600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35" name="Shape 28"/>
          <p:cNvSpPr/>
          <p:nvPr/>
        </p:nvSpPr>
        <p:spPr>
          <a:xfrm>
            <a:off x="733349" y="3372307"/>
            <a:ext cx="381305" cy="381305"/>
          </a:xfrm>
          <a:prstGeom prst="ellipse">
            <a:avLst/>
          </a:prstGeom>
          <a:solidFill>
            <a:srgbClr val="0066CC">
              <a:alpha val="10000"/>
            </a:srgbClr>
          </a:solidFill>
          <a:ln/>
        </p:spPr>
      </p:sp>
      <p:sp>
        <p:nvSpPr>
          <p:cNvPr id="36" name="Text 29"/>
          <p:cNvSpPr txBox="1"/>
          <p:nvPr/>
        </p:nvSpPr>
        <p:spPr>
          <a:xfrm>
            <a:off x="6877202" y="2553005"/>
            <a:ext cx="7242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33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AI脅威論</a:t>
            </a:r>
            <a:endParaRPr lang="en-US" sz="1200" dirty="0"/>
          </a:p>
        </p:txBody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04672" y="3467405"/>
            <a:ext cx="237744" cy="190195"/>
          </a:xfrm>
          <a:prstGeom prst="rect">
            <a:avLst/>
          </a:prstGeom>
        </p:spPr>
      </p:pic>
      <p:sp>
        <p:nvSpPr>
          <p:cNvPr id="38" name="Shape 30"/>
          <p:cNvSpPr/>
          <p:nvPr/>
        </p:nvSpPr>
        <p:spPr>
          <a:xfrm>
            <a:off x="6353251" y="3105302"/>
            <a:ext cx="228600" cy="228600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39" name="Text 31"/>
          <p:cNvSpPr txBox="1"/>
          <p:nvPr/>
        </p:nvSpPr>
        <p:spPr>
          <a:xfrm>
            <a:off x="6433718" y="3133649"/>
            <a:ext cx="1627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6</a:t>
            </a:r>
            <a:endParaRPr lang="en-US" sz="900" dirty="0"/>
          </a:p>
        </p:txBody>
      </p:sp>
      <p:sp>
        <p:nvSpPr>
          <p:cNvPr id="40" name="Shape 32"/>
          <p:cNvSpPr/>
          <p:nvPr/>
        </p:nvSpPr>
        <p:spPr>
          <a:xfrm>
            <a:off x="6353251" y="3372307"/>
            <a:ext cx="381305" cy="381305"/>
          </a:xfrm>
          <a:prstGeom prst="ellipse">
            <a:avLst/>
          </a:prstGeom>
          <a:solidFill>
            <a:srgbClr val="0066CC">
              <a:alpha val="10000"/>
            </a:srgbClr>
          </a:solidFill>
          <a:ln/>
        </p:spPr>
      </p:sp>
      <p:sp>
        <p:nvSpPr>
          <p:cNvPr id="41" name="Shape 33"/>
          <p:cNvSpPr/>
          <p:nvPr/>
        </p:nvSpPr>
        <p:spPr>
          <a:xfrm>
            <a:off x="733349" y="4267505"/>
            <a:ext cx="381305" cy="381305"/>
          </a:xfrm>
          <a:prstGeom prst="ellipse">
            <a:avLst/>
          </a:prstGeom>
          <a:solidFill>
            <a:srgbClr val="0066CC">
              <a:alpha val="10000"/>
            </a:srgbClr>
          </a:solidFill>
          <a:ln/>
        </p:spPr>
      </p:sp>
      <p:sp>
        <p:nvSpPr>
          <p:cNvPr id="42" name="Text 34"/>
          <p:cNvSpPr txBox="1"/>
          <p:nvPr/>
        </p:nvSpPr>
        <p:spPr>
          <a:xfrm>
            <a:off x="1257300" y="3448202"/>
            <a:ext cx="13432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33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ピアプレッシャー</a:t>
            </a:r>
            <a:endParaRPr lang="en-US" sz="1200" dirty="0"/>
          </a:p>
        </p:txBody>
      </p:sp>
      <p:pic>
        <p:nvPicPr>
          <p:cNvPr id="43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6448349" y="3467405"/>
            <a:ext cx="190195" cy="190195"/>
          </a:xfrm>
          <a:prstGeom prst="rect">
            <a:avLst/>
          </a:prstGeom>
        </p:spPr>
      </p:pic>
      <p:sp>
        <p:nvSpPr>
          <p:cNvPr id="44" name="Text 35"/>
          <p:cNvSpPr txBox="1"/>
          <p:nvPr/>
        </p:nvSpPr>
        <p:spPr>
          <a:xfrm>
            <a:off x="6877202" y="3448202"/>
            <a:ext cx="13432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33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成果測定の難しさ</a:t>
            </a:r>
            <a:endParaRPr lang="en-US" sz="1200" dirty="0"/>
          </a:p>
        </p:txBody>
      </p:sp>
      <p:pic>
        <p:nvPicPr>
          <p:cNvPr id="45" name="Image 7" descr="preencoded.png">    </p:cNvPr>
          <p:cNvPicPr>
            <a:picLocks noChangeAspect="1"/>
          </p:cNvPicPr>
          <p:nvPr/>
        </p:nvPicPr>
        <p:blipFill>
          <a:blip r:embed="rId8"/>
          <a:srcRect l="-1282" r="-1282" t="0" b="0"/>
          <a:stretch/>
        </p:blipFill>
        <p:spPr>
          <a:xfrm>
            <a:off x="814730" y="4362602"/>
            <a:ext cx="219456" cy="190195"/>
          </a:xfrm>
          <a:prstGeom prst="rect">
            <a:avLst/>
          </a:prstGeom>
        </p:spPr>
      </p:pic>
      <p:sp>
        <p:nvSpPr>
          <p:cNvPr id="46" name="Shape 36"/>
          <p:cNvSpPr/>
          <p:nvPr/>
        </p:nvSpPr>
        <p:spPr>
          <a:xfrm>
            <a:off x="6191402" y="4105656"/>
            <a:ext cx="5429707" cy="705002"/>
          </a:xfrm>
          <a:prstGeom prst="roundRect">
            <a:avLst>
              <a:gd name="adj" fmla="val 17527"/>
            </a:avLst>
          </a:prstGeom>
          <a:solidFill>
            <a:srgbClr val="F8FBFF"/>
          </a:solidFill>
          <a:ln w="12700">
            <a:solidFill>
              <a:srgbClr val="E0E9F5"/>
            </a:solidFill>
            <a:prstDash val="solid"/>
          </a:ln>
          <a:effectLst>
            <a:outerShdw sx="100000" sy="100000" kx="0" ky="0" algn="bl" rotWithShape="0" blurRad="63500" dist="38100" dir="5400000">
              <a:srgbClr val="003366">
                <a:alpha val="10000"/>
              </a:srgbClr>
            </a:outerShdw>
          </a:effectLst>
        </p:spPr>
      </p:sp>
      <p:sp>
        <p:nvSpPr>
          <p:cNvPr id="47" name="Shape 37"/>
          <p:cNvSpPr/>
          <p:nvPr/>
        </p:nvSpPr>
        <p:spPr>
          <a:xfrm>
            <a:off x="571500" y="5000854"/>
            <a:ext cx="5429707" cy="705002"/>
          </a:xfrm>
          <a:prstGeom prst="roundRect">
            <a:avLst>
              <a:gd name="adj" fmla="val 17527"/>
            </a:avLst>
          </a:prstGeom>
          <a:solidFill>
            <a:srgbClr val="F8FBFF"/>
          </a:solidFill>
          <a:ln w="12700">
            <a:solidFill>
              <a:srgbClr val="E0E9F5"/>
            </a:solidFill>
            <a:prstDash val="solid"/>
          </a:ln>
          <a:effectLst>
            <a:outerShdw sx="100000" sy="100000" kx="0" ky="0" algn="bl" rotWithShape="0" blurRad="63500" dist="38100" dir="5400000">
              <a:srgbClr val="003366">
                <a:alpha val="10000"/>
              </a:srgbClr>
            </a:outerShdw>
          </a:effectLst>
        </p:spPr>
      </p:sp>
      <p:sp>
        <p:nvSpPr>
          <p:cNvPr id="48" name="Shape 38"/>
          <p:cNvSpPr/>
          <p:nvPr/>
        </p:nvSpPr>
        <p:spPr>
          <a:xfrm>
            <a:off x="571500" y="5896051"/>
            <a:ext cx="5429707" cy="705002"/>
          </a:xfrm>
          <a:prstGeom prst="roundRect">
            <a:avLst>
              <a:gd name="adj" fmla="val 17527"/>
            </a:avLst>
          </a:prstGeom>
          <a:solidFill>
            <a:srgbClr val="F8FBFF"/>
          </a:solidFill>
          <a:ln w="12700">
            <a:solidFill>
              <a:srgbClr val="E0E9F5"/>
            </a:solidFill>
            <a:prstDash val="solid"/>
          </a:ln>
          <a:effectLst>
            <a:outerShdw sx="100000" sy="100000" kx="0" ky="0" algn="bl" rotWithShape="0" blurRad="63500" dist="38100" dir="5400000">
              <a:srgbClr val="003366">
                <a:alpha val="10000"/>
              </a:srgbClr>
            </a:outerShdw>
          </a:effectLst>
        </p:spPr>
      </p:sp>
      <p:sp>
        <p:nvSpPr>
          <p:cNvPr id="49" name="Shape 39"/>
          <p:cNvSpPr/>
          <p:nvPr/>
        </p:nvSpPr>
        <p:spPr>
          <a:xfrm>
            <a:off x="6191402" y="5896051"/>
            <a:ext cx="5429707" cy="705002"/>
          </a:xfrm>
          <a:prstGeom prst="roundRect">
            <a:avLst>
              <a:gd name="adj" fmla="val 17527"/>
            </a:avLst>
          </a:prstGeom>
          <a:solidFill>
            <a:srgbClr val="F8FBFF"/>
          </a:solidFill>
          <a:ln w="12700">
            <a:solidFill>
              <a:srgbClr val="E0E9F5"/>
            </a:solidFill>
            <a:prstDash val="solid"/>
          </a:ln>
          <a:effectLst>
            <a:outerShdw sx="100000" sy="100000" kx="0" ky="0" algn="bl" rotWithShape="0" blurRad="63500" dist="38100" dir="5400000">
              <a:srgbClr val="003366">
                <a:alpha val="10000"/>
              </a:srgbClr>
            </a:outerShdw>
          </a:effectLst>
        </p:spPr>
      </p:sp>
      <p:sp>
        <p:nvSpPr>
          <p:cNvPr id="50" name="Shape 40"/>
          <p:cNvSpPr/>
          <p:nvPr/>
        </p:nvSpPr>
        <p:spPr>
          <a:xfrm>
            <a:off x="571500" y="6791249"/>
            <a:ext cx="5429707" cy="705002"/>
          </a:xfrm>
          <a:prstGeom prst="roundRect">
            <a:avLst>
              <a:gd name="adj" fmla="val 17527"/>
            </a:avLst>
          </a:prstGeom>
          <a:solidFill>
            <a:srgbClr val="F8FBFF"/>
          </a:solidFill>
          <a:ln w="12700">
            <a:solidFill>
              <a:srgbClr val="E0E9F5"/>
            </a:solidFill>
            <a:prstDash val="solid"/>
          </a:ln>
          <a:effectLst>
            <a:outerShdw sx="100000" sy="100000" kx="0" ky="0" algn="bl" rotWithShape="0" blurRad="63500" dist="38100" dir="5400000">
              <a:srgbClr val="003366">
                <a:alpha val="10000"/>
              </a:srgbClr>
            </a:outerShdw>
          </a:effectLst>
        </p:spPr>
      </p:sp>
      <p:sp>
        <p:nvSpPr>
          <p:cNvPr id="51" name="Shape 41"/>
          <p:cNvSpPr/>
          <p:nvPr/>
        </p:nvSpPr>
        <p:spPr>
          <a:xfrm>
            <a:off x="6353251" y="4000500"/>
            <a:ext cx="228600" cy="228600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52" name="Shape 42"/>
          <p:cNvSpPr/>
          <p:nvPr/>
        </p:nvSpPr>
        <p:spPr>
          <a:xfrm>
            <a:off x="733349" y="4895698"/>
            <a:ext cx="228600" cy="228600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53" name="Shape 43"/>
          <p:cNvSpPr/>
          <p:nvPr/>
        </p:nvSpPr>
        <p:spPr>
          <a:xfrm>
            <a:off x="6353251" y="5790895"/>
            <a:ext cx="228600" cy="228600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54" name="Shape 44"/>
          <p:cNvSpPr/>
          <p:nvPr/>
        </p:nvSpPr>
        <p:spPr>
          <a:xfrm>
            <a:off x="733349" y="6687007"/>
            <a:ext cx="228600" cy="228600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55" name="Text 45"/>
          <p:cNvSpPr txBox="1"/>
          <p:nvPr/>
        </p:nvSpPr>
        <p:spPr>
          <a:xfrm>
            <a:off x="6433718" y="4028846"/>
            <a:ext cx="1627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8</a:t>
            </a:r>
            <a:endParaRPr lang="en-US" sz="900" dirty="0"/>
          </a:p>
        </p:txBody>
      </p:sp>
      <p:sp>
        <p:nvSpPr>
          <p:cNvPr id="56" name="Shape 46"/>
          <p:cNvSpPr/>
          <p:nvPr/>
        </p:nvSpPr>
        <p:spPr>
          <a:xfrm>
            <a:off x="6353251" y="4267505"/>
            <a:ext cx="381305" cy="381305"/>
          </a:xfrm>
          <a:prstGeom prst="ellipse">
            <a:avLst/>
          </a:prstGeom>
          <a:solidFill>
            <a:srgbClr val="0066CC">
              <a:alpha val="10000"/>
            </a:srgbClr>
          </a:solidFill>
          <a:ln/>
        </p:spPr>
      </p:sp>
      <p:sp>
        <p:nvSpPr>
          <p:cNvPr id="57" name="Text 47"/>
          <p:cNvSpPr txBox="1"/>
          <p:nvPr/>
        </p:nvSpPr>
        <p:spPr>
          <a:xfrm>
            <a:off x="1257300" y="4343400"/>
            <a:ext cx="13432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33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スキル格差固定化</a:t>
            </a:r>
            <a:endParaRPr lang="en-US" sz="1200" dirty="0"/>
          </a:p>
        </p:txBody>
      </p:sp>
      <p:pic>
        <p:nvPicPr>
          <p:cNvPr id="58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6448349" y="4362602"/>
            <a:ext cx="190195" cy="190195"/>
          </a:xfrm>
          <a:prstGeom prst="rect">
            <a:avLst/>
          </a:prstGeom>
        </p:spPr>
      </p:pic>
      <p:sp>
        <p:nvSpPr>
          <p:cNvPr id="59" name="Shape 48"/>
          <p:cNvSpPr/>
          <p:nvPr/>
        </p:nvSpPr>
        <p:spPr>
          <a:xfrm>
            <a:off x="6191402" y="5000854"/>
            <a:ext cx="5429707" cy="705002"/>
          </a:xfrm>
          <a:prstGeom prst="roundRect">
            <a:avLst>
              <a:gd name="adj" fmla="val 17527"/>
            </a:avLst>
          </a:prstGeom>
          <a:solidFill>
            <a:srgbClr val="F8FBFF"/>
          </a:solidFill>
          <a:ln w="12700">
            <a:solidFill>
              <a:srgbClr val="E0E9F5"/>
            </a:solidFill>
            <a:prstDash val="solid"/>
          </a:ln>
          <a:effectLst>
            <a:outerShdw sx="100000" sy="100000" kx="0" ky="0" algn="bl" rotWithShape="0" blurRad="63500" dist="38100" dir="5400000">
              <a:srgbClr val="003366">
                <a:alpha val="10000"/>
              </a:srgbClr>
            </a:outerShdw>
          </a:effectLst>
        </p:spPr>
      </p:sp>
      <p:sp>
        <p:nvSpPr>
          <p:cNvPr id="60" name="Shape 49"/>
          <p:cNvSpPr/>
          <p:nvPr/>
        </p:nvSpPr>
        <p:spPr>
          <a:xfrm>
            <a:off x="6353251" y="4895698"/>
            <a:ext cx="228600" cy="228600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61" name="Text 50"/>
          <p:cNvSpPr txBox="1"/>
          <p:nvPr/>
        </p:nvSpPr>
        <p:spPr>
          <a:xfrm>
            <a:off x="813816" y="4924044"/>
            <a:ext cx="1627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9</a:t>
            </a:r>
            <a:endParaRPr lang="en-US" sz="900" dirty="0"/>
          </a:p>
        </p:txBody>
      </p:sp>
      <p:sp>
        <p:nvSpPr>
          <p:cNvPr id="62" name="Text 51"/>
          <p:cNvSpPr txBox="1"/>
          <p:nvPr/>
        </p:nvSpPr>
        <p:spPr>
          <a:xfrm>
            <a:off x="6399886" y="4924044"/>
            <a:ext cx="2286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10</a:t>
            </a:r>
            <a:endParaRPr lang="en-US" sz="900" dirty="0"/>
          </a:p>
        </p:txBody>
      </p:sp>
      <p:sp>
        <p:nvSpPr>
          <p:cNvPr id="63" name="Text 52"/>
          <p:cNvSpPr txBox="1"/>
          <p:nvPr/>
        </p:nvSpPr>
        <p:spPr>
          <a:xfrm>
            <a:off x="779983" y="5820156"/>
            <a:ext cx="2286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11</a:t>
            </a:r>
            <a:endParaRPr lang="en-US" sz="900" dirty="0"/>
          </a:p>
        </p:txBody>
      </p:sp>
      <p:sp>
        <p:nvSpPr>
          <p:cNvPr id="64" name="Shape 53"/>
          <p:cNvSpPr/>
          <p:nvPr/>
        </p:nvSpPr>
        <p:spPr>
          <a:xfrm>
            <a:off x="733349" y="5162702"/>
            <a:ext cx="381305" cy="381305"/>
          </a:xfrm>
          <a:prstGeom prst="ellipse">
            <a:avLst/>
          </a:prstGeom>
          <a:solidFill>
            <a:srgbClr val="0066CC">
              <a:alpha val="10000"/>
            </a:srgbClr>
          </a:solidFill>
          <a:ln/>
        </p:spPr>
      </p:sp>
      <p:sp>
        <p:nvSpPr>
          <p:cNvPr id="65" name="Text 54"/>
          <p:cNvSpPr txBox="1"/>
          <p:nvPr/>
        </p:nvSpPr>
        <p:spPr>
          <a:xfrm>
            <a:off x="6877202" y="4343400"/>
            <a:ext cx="7342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33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変化疲れ</a:t>
            </a:r>
            <a:endParaRPr lang="en-US" sz="1200" dirty="0"/>
          </a:p>
        </p:txBody>
      </p:sp>
      <p:pic>
        <p:nvPicPr>
          <p:cNvPr id="66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828446" y="5257800"/>
            <a:ext cx="190195" cy="190195"/>
          </a:xfrm>
          <a:prstGeom prst="rect">
            <a:avLst/>
          </a:prstGeom>
        </p:spPr>
      </p:pic>
      <p:sp>
        <p:nvSpPr>
          <p:cNvPr id="67" name="Shape 55"/>
          <p:cNvSpPr/>
          <p:nvPr/>
        </p:nvSpPr>
        <p:spPr>
          <a:xfrm>
            <a:off x="6353251" y="5162702"/>
            <a:ext cx="381305" cy="381305"/>
          </a:xfrm>
          <a:prstGeom prst="ellipse">
            <a:avLst/>
          </a:prstGeom>
          <a:solidFill>
            <a:srgbClr val="0066CC">
              <a:alpha val="10000"/>
            </a:srgbClr>
          </a:solidFill>
          <a:ln/>
        </p:spPr>
      </p:sp>
      <p:sp>
        <p:nvSpPr>
          <p:cNvPr id="68" name="Text 56"/>
          <p:cNvSpPr txBox="1"/>
          <p:nvPr/>
        </p:nvSpPr>
        <p:spPr>
          <a:xfrm>
            <a:off x="1257300" y="5238598"/>
            <a:ext cx="14008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33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過度依存/思考停止</a:t>
            </a:r>
            <a:endParaRPr lang="en-US" sz="1200" dirty="0"/>
          </a:p>
        </p:txBody>
      </p:sp>
      <p:pic>
        <p:nvPicPr>
          <p:cNvPr id="69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6424574" y="5257800"/>
            <a:ext cx="237744" cy="190195"/>
          </a:xfrm>
          <a:prstGeom prst="rect">
            <a:avLst/>
          </a:prstGeom>
        </p:spPr>
      </p:pic>
      <p:sp>
        <p:nvSpPr>
          <p:cNvPr id="70" name="Shape 57"/>
          <p:cNvSpPr/>
          <p:nvPr/>
        </p:nvSpPr>
        <p:spPr>
          <a:xfrm>
            <a:off x="733349" y="5790895"/>
            <a:ext cx="228600" cy="228600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71" name="Text 58"/>
          <p:cNvSpPr txBox="1"/>
          <p:nvPr/>
        </p:nvSpPr>
        <p:spPr>
          <a:xfrm>
            <a:off x="6399886" y="5820156"/>
            <a:ext cx="2286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12</a:t>
            </a:r>
            <a:endParaRPr lang="en-US" sz="900" dirty="0"/>
          </a:p>
        </p:txBody>
      </p:sp>
      <p:sp>
        <p:nvSpPr>
          <p:cNvPr id="72" name="Shape 59"/>
          <p:cNvSpPr/>
          <p:nvPr/>
        </p:nvSpPr>
        <p:spPr>
          <a:xfrm>
            <a:off x="733349" y="6057900"/>
            <a:ext cx="381305" cy="381305"/>
          </a:xfrm>
          <a:prstGeom prst="ellipse">
            <a:avLst/>
          </a:prstGeom>
          <a:solidFill>
            <a:srgbClr val="0066CC">
              <a:alpha val="10000"/>
            </a:srgbClr>
          </a:solidFill>
          <a:ln/>
        </p:spPr>
      </p:sp>
      <p:sp>
        <p:nvSpPr>
          <p:cNvPr id="73" name="Shape 60"/>
          <p:cNvSpPr/>
          <p:nvPr/>
        </p:nvSpPr>
        <p:spPr>
          <a:xfrm>
            <a:off x="6353251" y="6057900"/>
            <a:ext cx="381305" cy="381305"/>
          </a:xfrm>
          <a:prstGeom prst="ellipse">
            <a:avLst/>
          </a:prstGeom>
          <a:solidFill>
            <a:srgbClr val="0066CC">
              <a:alpha val="10000"/>
            </a:srgbClr>
          </a:solidFill>
          <a:ln/>
        </p:spPr>
      </p:sp>
      <p:sp>
        <p:nvSpPr>
          <p:cNvPr id="74" name="Text 61"/>
          <p:cNvSpPr txBox="1"/>
          <p:nvPr/>
        </p:nvSpPr>
        <p:spPr>
          <a:xfrm>
            <a:off x="6877202" y="5238598"/>
            <a:ext cx="13341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33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プライバシー不安</a:t>
            </a:r>
            <a:endParaRPr lang="en-US" sz="1200" dirty="0"/>
          </a:p>
        </p:txBody>
      </p:sp>
      <p:pic>
        <p:nvPicPr>
          <p:cNvPr id="75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828446" y="6152998"/>
            <a:ext cx="190195" cy="190195"/>
          </a:xfrm>
          <a:prstGeom prst="rect">
            <a:avLst/>
          </a:prstGeom>
        </p:spPr>
      </p:pic>
      <p:sp>
        <p:nvSpPr>
          <p:cNvPr id="76" name="Shape 62"/>
          <p:cNvSpPr/>
          <p:nvPr/>
        </p:nvSpPr>
        <p:spPr>
          <a:xfrm>
            <a:off x="6191402" y="6791249"/>
            <a:ext cx="5429707" cy="705002"/>
          </a:xfrm>
          <a:prstGeom prst="roundRect">
            <a:avLst>
              <a:gd name="adj" fmla="val 17527"/>
            </a:avLst>
          </a:prstGeom>
          <a:solidFill>
            <a:srgbClr val="F8FBFF"/>
          </a:solidFill>
          <a:ln w="12700">
            <a:solidFill>
              <a:srgbClr val="E0E9F5"/>
            </a:solidFill>
            <a:prstDash val="solid"/>
          </a:ln>
          <a:effectLst>
            <a:outerShdw sx="100000" sy="100000" kx="0" ky="0" algn="bl" rotWithShape="0" blurRad="63500" dist="38100" dir="5400000">
              <a:srgbClr val="003366">
                <a:alpha val="10000"/>
              </a:srgbClr>
            </a:outerShdw>
          </a:effectLst>
        </p:spPr>
      </p:sp>
      <p:sp>
        <p:nvSpPr>
          <p:cNvPr id="77" name="Shape 63"/>
          <p:cNvSpPr/>
          <p:nvPr/>
        </p:nvSpPr>
        <p:spPr>
          <a:xfrm>
            <a:off x="6353251" y="6687007"/>
            <a:ext cx="228600" cy="228600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78" name="Shape 64"/>
          <p:cNvSpPr/>
          <p:nvPr/>
        </p:nvSpPr>
        <p:spPr>
          <a:xfrm>
            <a:off x="733349" y="6953098"/>
            <a:ext cx="381305" cy="381305"/>
          </a:xfrm>
          <a:prstGeom prst="ellipse">
            <a:avLst/>
          </a:prstGeom>
          <a:solidFill>
            <a:srgbClr val="0066CC">
              <a:alpha val="10000"/>
            </a:srgbClr>
          </a:solidFill>
          <a:ln/>
        </p:spPr>
      </p:sp>
      <p:sp>
        <p:nvSpPr>
          <p:cNvPr id="79" name="Text 65"/>
          <p:cNvSpPr txBox="1"/>
          <p:nvPr/>
        </p:nvSpPr>
        <p:spPr>
          <a:xfrm>
            <a:off x="1257300" y="6133795"/>
            <a:ext cx="6958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33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ROI疑念</a:t>
            </a:r>
            <a:endParaRPr lang="en-US" sz="1200" dirty="0"/>
          </a:p>
        </p:txBody>
      </p:sp>
      <p:pic>
        <p:nvPicPr>
          <p:cNvPr id="80" name="Image 12" descr="preencoded.png">    </p:cNvPr>
          <p:cNvPicPr>
            <a:picLocks noChangeAspect="1"/>
          </p:cNvPicPr>
          <p:nvPr/>
        </p:nvPicPr>
        <p:blipFill>
          <a:blip r:embed="rId13"/>
          <a:srcRect l="0" r="0" t="0" b="0"/>
          <a:stretch/>
        </p:blipFill>
        <p:spPr>
          <a:xfrm>
            <a:off x="6472123" y="6152998"/>
            <a:ext cx="142646" cy="190195"/>
          </a:xfrm>
          <a:prstGeom prst="rect">
            <a:avLst/>
          </a:prstGeom>
        </p:spPr>
      </p:pic>
      <p:sp>
        <p:nvSpPr>
          <p:cNvPr id="81" name="Text 66"/>
          <p:cNvSpPr txBox="1"/>
          <p:nvPr/>
        </p:nvSpPr>
        <p:spPr>
          <a:xfrm>
            <a:off x="779983" y="6715354"/>
            <a:ext cx="2286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13</a:t>
            </a:r>
            <a:endParaRPr lang="en-US" sz="900" dirty="0"/>
          </a:p>
        </p:txBody>
      </p:sp>
      <p:sp>
        <p:nvSpPr>
          <p:cNvPr id="82" name="Text 67"/>
          <p:cNvSpPr txBox="1"/>
          <p:nvPr/>
        </p:nvSpPr>
        <p:spPr>
          <a:xfrm>
            <a:off x="6877202" y="6133795"/>
            <a:ext cx="13432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33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暗黙知の形式知化</a:t>
            </a:r>
            <a:endParaRPr lang="en-US" sz="1200" dirty="0"/>
          </a:p>
        </p:txBody>
      </p:sp>
      <p:pic>
        <p:nvPicPr>
          <p:cNvPr id="83" name="Image 13" descr="preencoded.png">    </p:cNvPr>
          <p:cNvPicPr>
            <a:picLocks noChangeAspect="1"/>
          </p:cNvPicPr>
          <p:nvPr/>
        </p:nvPicPr>
        <p:blipFill>
          <a:blip r:embed="rId14"/>
          <a:srcRect l="-1282" r="-1282" t="0" b="0"/>
          <a:stretch/>
        </p:blipFill>
        <p:spPr>
          <a:xfrm>
            <a:off x="814730" y="7048195"/>
            <a:ext cx="219456" cy="190195"/>
          </a:xfrm>
          <a:prstGeom prst="rect">
            <a:avLst/>
          </a:prstGeom>
        </p:spPr>
      </p:pic>
      <p:sp>
        <p:nvSpPr>
          <p:cNvPr id="84" name="Text 68"/>
          <p:cNvSpPr txBox="1"/>
          <p:nvPr/>
        </p:nvSpPr>
        <p:spPr>
          <a:xfrm>
            <a:off x="6399886" y="6715354"/>
            <a:ext cx="2286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14</a:t>
            </a:r>
            <a:endParaRPr lang="en-US" sz="900" dirty="0"/>
          </a:p>
        </p:txBody>
      </p:sp>
      <p:sp>
        <p:nvSpPr>
          <p:cNvPr id="85" name="Shape 69"/>
          <p:cNvSpPr/>
          <p:nvPr/>
        </p:nvSpPr>
        <p:spPr>
          <a:xfrm>
            <a:off x="6353251" y="6953098"/>
            <a:ext cx="381305" cy="381305"/>
          </a:xfrm>
          <a:prstGeom prst="ellipse">
            <a:avLst/>
          </a:prstGeom>
          <a:solidFill>
            <a:srgbClr val="0066CC">
              <a:alpha val="10000"/>
            </a:srgbClr>
          </a:solidFill>
          <a:ln/>
        </p:spPr>
      </p:sp>
      <p:sp>
        <p:nvSpPr>
          <p:cNvPr id="86" name="Text 70"/>
          <p:cNvSpPr txBox="1"/>
          <p:nvPr/>
        </p:nvSpPr>
        <p:spPr>
          <a:xfrm>
            <a:off x="1257300" y="7029907"/>
            <a:ext cx="8860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33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組織の慣性</a:t>
            </a:r>
            <a:endParaRPr lang="en-US" sz="1200" dirty="0"/>
          </a:p>
        </p:txBody>
      </p:sp>
      <p:pic>
        <p:nvPicPr>
          <p:cNvPr id="87" name="Image 14" descr="preencoded.png">    </p:cNvPr>
          <p:cNvPicPr>
            <a:picLocks noChangeAspect="1"/>
          </p:cNvPicPr>
          <p:nvPr/>
        </p:nvPicPr>
        <p:blipFill>
          <a:blip r:embed="rId15"/>
          <a:srcRect l="0" r="0" t="0" b="0"/>
          <a:stretch/>
        </p:blipFill>
        <p:spPr>
          <a:xfrm>
            <a:off x="6424574" y="7048195"/>
            <a:ext cx="237744" cy="190195"/>
          </a:xfrm>
          <a:prstGeom prst="rect">
            <a:avLst/>
          </a:prstGeom>
        </p:spPr>
      </p:pic>
      <p:sp>
        <p:nvSpPr>
          <p:cNvPr id="88" name="Text 71"/>
          <p:cNvSpPr txBox="1"/>
          <p:nvPr/>
        </p:nvSpPr>
        <p:spPr>
          <a:xfrm>
            <a:off x="6877202" y="7029907"/>
            <a:ext cx="26197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33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顧客/ステークホルダー認識ギャップ</a:t>
            </a:r>
            <a:endParaRPr lang="en-US" sz="1200" dirty="0"/>
          </a:p>
        </p:txBody>
      </p:sp>
      <p:sp>
        <p:nvSpPr>
          <p:cNvPr id="89" name="Text 72"/>
          <p:cNvSpPr txBox="1"/>
          <p:nvPr/>
        </p:nvSpPr>
        <p:spPr>
          <a:xfrm>
            <a:off x="10264140" y="7648956"/>
            <a:ext cx="14767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AI推進プロジェクト</a:t>
            </a:r>
            <a:endParaRPr lang="en-US" sz="1200" dirty="0"/>
          </a:p>
        </p:txBody>
      </p:sp>
      <p:sp>
        <p:nvSpPr>
          <p:cNvPr id="90" name="Shape 73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91" name="Shape 74"/>
          <p:cNvSpPr/>
          <p:nvPr/>
        </p:nvSpPr>
        <p:spPr>
          <a:xfrm>
            <a:off x="10763402" y="6638544"/>
            <a:ext cx="1904695" cy="1904695"/>
          </a:xfrm>
          <a:prstGeom prst="ellipse">
            <a:avLst/>
          </a:prstGeom>
          <a:noFill/>
          <a:ln w="254000">
            <a:solidFill>
              <a:srgbClr val="0066CC">
                <a:alpha val="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-1528" r="-1528" t="0" b="0"/>
          <a:stretch/>
        </p:blipFill>
        <p:spPr>
          <a:xfrm>
            <a:off x="571500" y="1016813"/>
            <a:ext cx="161849" cy="20939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71500" y="1218895"/>
            <a:ext cx="1196035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033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課題1:</a:t>
            </a:r>
            <a:endParaRPr lang="en-US" sz="2500" dirty="0"/>
          </a:p>
        </p:txBody>
      </p:sp>
      <p:sp>
        <p:nvSpPr>
          <p:cNvPr id="5" name="Text 2"/>
          <p:cNvSpPr txBox="1"/>
          <p:nvPr/>
        </p:nvSpPr>
        <p:spPr>
          <a:xfrm>
            <a:off x="571500" y="1607515"/>
            <a:ext cx="2833726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033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学習意欲の個人差</a:t>
            </a:r>
            <a:endParaRPr lang="en-US" sz="2500" dirty="0"/>
          </a:p>
        </p:txBody>
      </p:sp>
      <p:sp>
        <p:nvSpPr>
          <p:cNvPr id="6" name="Text 3"/>
          <p:cNvSpPr txBox="1"/>
          <p:nvPr/>
        </p:nvSpPr>
        <p:spPr>
          <a:xfrm>
            <a:off x="571500" y="1996135"/>
            <a:ext cx="3805733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033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（モチベーションギャップ）</a:t>
            </a:r>
            <a:endParaRPr lang="en-US" sz="25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508906" y="652882"/>
            <a:ext cx="209398" cy="20939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813402" y="614477"/>
            <a:ext cx="9052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66C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現状認識</a:t>
            </a:r>
            <a:endParaRPr lang="en-US" sz="15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rcRect l="-33" r="-33" t="0" b="0"/>
          <a:stretch/>
        </p:blipFill>
        <p:spPr>
          <a:xfrm>
            <a:off x="4537253" y="1033272"/>
            <a:ext cx="171907" cy="152705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4813402" y="2395728"/>
            <a:ext cx="9052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66C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根本原因</a:t>
            </a:r>
            <a:endParaRPr lang="en-US" sz="1500" dirty="0"/>
          </a:p>
        </p:txBody>
      </p:sp>
      <p:sp>
        <p:nvSpPr>
          <p:cNvPr id="11" name="Text 6"/>
          <p:cNvSpPr txBox="1"/>
          <p:nvPr/>
        </p:nvSpPr>
        <p:spPr>
          <a:xfrm>
            <a:off x="4880153" y="1033272"/>
            <a:ext cx="398678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積極層20-30%、様子見層40-50%、抵抗層20-30%</a:t>
            </a:r>
            <a:endParaRPr lang="en-US" sz="13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180" b="-180"/>
          <a:stretch/>
        </p:blipFill>
        <p:spPr>
          <a:xfrm>
            <a:off x="4574743" y="1423721"/>
            <a:ext cx="95098" cy="152705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4880153" y="1423721"/>
            <a:ext cx="355793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必要性を感じつつも行動に移せない層が多数</a:t>
            </a:r>
            <a:endParaRPr lang="en-US" sz="13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180" b="-180"/>
          <a:stretch/>
        </p:blipFill>
        <p:spPr>
          <a:xfrm>
            <a:off x="4527194" y="1814170"/>
            <a:ext cx="190195" cy="152705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4880153" y="1814170"/>
            <a:ext cx="252923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事例・成功体験の可視性が不足</a:t>
            </a:r>
            <a:endParaRPr lang="en-US" sz="130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4508906" y="2433218"/>
            <a:ext cx="209398" cy="209398"/>
          </a:xfrm>
          <a:prstGeom prst="rect">
            <a:avLst/>
          </a:prstGeom>
        </p:spPr>
      </p:pic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4546397" y="2814523"/>
            <a:ext cx="152705" cy="152705"/>
          </a:xfrm>
          <a:prstGeom prst="rect">
            <a:avLst/>
          </a:prstGeom>
        </p:spPr>
      </p:pic>
      <p:sp>
        <p:nvSpPr>
          <p:cNvPr id="18" name="Text 9"/>
          <p:cNvSpPr txBox="1"/>
          <p:nvPr/>
        </p:nvSpPr>
        <p:spPr>
          <a:xfrm>
            <a:off x="4880153" y="2814523"/>
            <a:ext cx="27011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業務への具体的適用イメージ不足</a:t>
            </a:r>
            <a:endParaRPr lang="en-US" sz="1300" dirty="0"/>
          </a:p>
        </p:txBody>
      </p:sp>
      <p:pic>
        <p:nvPicPr>
          <p:cNvPr id="19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-180" b="-180"/>
          <a:stretch/>
        </p:blipFill>
        <p:spPr>
          <a:xfrm>
            <a:off x="4527194" y="3204972"/>
            <a:ext cx="190195" cy="152705"/>
          </a:xfrm>
          <a:prstGeom prst="rect">
            <a:avLst/>
          </a:prstGeom>
        </p:spPr>
      </p:pic>
      <p:sp>
        <p:nvSpPr>
          <p:cNvPr id="20" name="Text 10"/>
          <p:cNvSpPr txBox="1"/>
          <p:nvPr/>
        </p:nvSpPr>
        <p:spPr>
          <a:xfrm>
            <a:off x="4813402" y="4176979"/>
            <a:ext cx="14767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66C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対策アプローチ</a:t>
            </a:r>
            <a:endParaRPr lang="en-US" sz="1500" dirty="0"/>
          </a:p>
        </p:txBody>
      </p:sp>
      <p:sp>
        <p:nvSpPr>
          <p:cNvPr id="21" name="Text 11"/>
          <p:cNvSpPr txBox="1"/>
          <p:nvPr/>
        </p:nvSpPr>
        <p:spPr>
          <a:xfrm>
            <a:off x="4880153" y="3204972"/>
            <a:ext cx="23582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学習コストと効果の不確実性</a:t>
            </a:r>
            <a:endParaRPr lang="en-US" sz="1300" dirty="0"/>
          </a:p>
        </p:txBody>
      </p:sp>
      <p:pic>
        <p:nvPicPr>
          <p:cNvPr id="22" name="Image 8" descr="preencoded.png">    </p:cNvPr>
          <p:cNvPicPr>
            <a:picLocks noChangeAspect="1"/>
          </p:cNvPicPr>
          <p:nvPr/>
        </p:nvPicPr>
        <p:blipFill>
          <a:blip r:embed="rId9"/>
          <a:srcRect l="-33" r="-33" t="0" b="0"/>
          <a:stretch/>
        </p:blipFill>
        <p:spPr>
          <a:xfrm>
            <a:off x="4537253" y="3595421"/>
            <a:ext cx="171907" cy="152705"/>
          </a:xfrm>
          <a:prstGeom prst="rect">
            <a:avLst/>
          </a:prstGeom>
        </p:spPr>
      </p:pic>
      <p:sp>
        <p:nvSpPr>
          <p:cNvPr id="23" name="Text 12"/>
          <p:cNvSpPr txBox="1"/>
          <p:nvPr/>
        </p:nvSpPr>
        <p:spPr>
          <a:xfrm>
            <a:off x="4880153" y="3595421"/>
            <a:ext cx="30440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現状維持バイアス、難しさへの先入観</a:t>
            </a:r>
            <a:endParaRPr lang="en-US" sz="1300" dirty="0"/>
          </a:p>
        </p:txBody>
      </p:sp>
      <p:pic>
        <p:nvPicPr>
          <p:cNvPr id="24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4508906" y="4214470"/>
            <a:ext cx="209398" cy="209398"/>
          </a:xfrm>
          <a:prstGeom prst="rect">
            <a:avLst/>
          </a:prstGeom>
        </p:spPr>
      </p:pic>
      <p:pic>
        <p:nvPicPr>
          <p:cNvPr id="25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-43" b="-43"/>
          <a:stretch/>
        </p:blipFill>
        <p:spPr>
          <a:xfrm>
            <a:off x="4508906" y="4729277"/>
            <a:ext cx="133502" cy="152705"/>
          </a:xfrm>
          <a:prstGeom prst="rect">
            <a:avLst/>
          </a:prstGeom>
        </p:spPr>
      </p:pic>
      <p:sp>
        <p:nvSpPr>
          <p:cNvPr id="26" name="Text 13"/>
          <p:cNvSpPr txBox="1"/>
          <p:nvPr/>
        </p:nvSpPr>
        <p:spPr>
          <a:xfrm>
            <a:off x="4718304" y="4690872"/>
            <a:ext cx="7342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33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短期対策</a:t>
            </a:r>
            <a:endParaRPr lang="en-US" sz="1200" dirty="0"/>
          </a:p>
        </p:txBody>
      </p:sp>
      <p:pic>
        <p:nvPicPr>
          <p:cNvPr id="27" name="Image 11" descr="preencoded.png">    </p:cNvPr>
          <p:cNvPicPr>
            <a:picLocks noChangeAspect="1"/>
          </p:cNvPicPr>
          <p:nvPr/>
        </p:nvPicPr>
        <p:blipFill>
          <a:blip r:embed="rId12"/>
          <a:srcRect l="-33" r="-33" t="0" b="0"/>
          <a:stretch/>
        </p:blipFill>
        <p:spPr>
          <a:xfrm>
            <a:off x="4537253" y="5014570"/>
            <a:ext cx="171907" cy="152705"/>
          </a:xfrm>
          <a:prstGeom prst="rect">
            <a:avLst/>
          </a:prstGeom>
        </p:spPr>
      </p:pic>
      <p:sp>
        <p:nvSpPr>
          <p:cNvPr id="28" name="Text 14"/>
          <p:cNvSpPr txBox="1"/>
          <p:nvPr/>
        </p:nvSpPr>
        <p:spPr>
          <a:xfrm>
            <a:off x="4880153" y="5014570"/>
            <a:ext cx="262432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クイックウィン体験（5分課題）</a:t>
            </a:r>
            <a:endParaRPr lang="en-US" sz="1300" dirty="0"/>
          </a:p>
        </p:txBody>
      </p:sp>
      <p:pic>
        <p:nvPicPr>
          <p:cNvPr id="29" name="Image 12" descr="preencoded.png">    </p:cNvPr>
          <p:cNvPicPr>
            <a:picLocks noChangeAspect="1"/>
          </p:cNvPicPr>
          <p:nvPr/>
        </p:nvPicPr>
        <p:blipFill>
          <a:blip r:embed="rId13"/>
          <a:srcRect l="-33" r="-33" t="0" b="0"/>
          <a:stretch/>
        </p:blipFill>
        <p:spPr>
          <a:xfrm>
            <a:off x="4537253" y="5405018"/>
            <a:ext cx="171907" cy="152705"/>
          </a:xfrm>
          <a:prstGeom prst="rect">
            <a:avLst/>
          </a:prstGeom>
        </p:spPr>
      </p:pic>
      <p:sp>
        <p:nvSpPr>
          <p:cNvPr id="30" name="Text 15"/>
          <p:cNvSpPr txBox="1"/>
          <p:nvPr/>
        </p:nvSpPr>
        <p:spPr>
          <a:xfrm>
            <a:off x="4880153" y="5405018"/>
            <a:ext cx="252923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業務直結デモンストレーション</a:t>
            </a:r>
            <a:endParaRPr lang="en-US" sz="1300" dirty="0"/>
          </a:p>
        </p:txBody>
      </p:sp>
      <p:pic>
        <p:nvPicPr>
          <p:cNvPr id="31" name="Image 13" descr="preencoded.png">    </p:cNvPr>
          <p:cNvPicPr>
            <a:picLocks noChangeAspect="1"/>
          </p:cNvPicPr>
          <p:nvPr/>
        </p:nvPicPr>
        <p:blipFill>
          <a:blip r:embed="rId14"/>
          <a:srcRect l="0" r="0" t="-180" b="-180"/>
          <a:stretch/>
        </p:blipFill>
        <p:spPr>
          <a:xfrm>
            <a:off x="4527194" y="5796382"/>
            <a:ext cx="190195" cy="152705"/>
          </a:xfrm>
          <a:prstGeom prst="rect">
            <a:avLst/>
          </a:prstGeom>
        </p:spPr>
      </p:pic>
      <p:sp>
        <p:nvSpPr>
          <p:cNvPr id="32" name="Text 16"/>
          <p:cNvSpPr txBox="1"/>
          <p:nvPr/>
        </p:nvSpPr>
        <p:spPr>
          <a:xfrm>
            <a:off x="4880153" y="5796382"/>
            <a:ext cx="131947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ペアAI活用制度</a:t>
            </a:r>
            <a:endParaRPr lang="en-US" sz="1300" dirty="0"/>
          </a:p>
        </p:txBody>
      </p:sp>
      <p:pic>
        <p:nvPicPr>
          <p:cNvPr id="33" name="Image 14" descr="preencoded.png">    </p:cNvPr>
          <p:cNvPicPr>
            <a:picLocks noChangeAspect="1"/>
          </p:cNvPicPr>
          <p:nvPr/>
        </p:nvPicPr>
        <p:blipFill>
          <a:blip r:embed="rId15"/>
          <a:srcRect l="-33" r="-33" t="0" b="0"/>
          <a:stretch/>
        </p:blipFill>
        <p:spPr>
          <a:xfrm>
            <a:off x="8064094" y="4729277"/>
            <a:ext cx="171907" cy="152705"/>
          </a:xfrm>
          <a:prstGeom prst="rect">
            <a:avLst/>
          </a:prstGeom>
        </p:spPr>
      </p:pic>
      <p:sp>
        <p:nvSpPr>
          <p:cNvPr id="34" name="Text 17"/>
          <p:cNvSpPr txBox="1"/>
          <p:nvPr/>
        </p:nvSpPr>
        <p:spPr>
          <a:xfrm>
            <a:off x="8311896" y="4690872"/>
            <a:ext cx="8860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33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中長期対策</a:t>
            </a:r>
            <a:endParaRPr lang="en-US" sz="1200" dirty="0"/>
          </a:p>
        </p:txBody>
      </p:sp>
      <p:pic>
        <p:nvPicPr>
          <p:cNvPr id="35" name="Image 15" descr="preencoded.png">    </p:cNvPr>
          <p:cNvPicPr>
            <a:picLocks noChangeAspect="1"/>
          </p:cNvPicPr>
          <p:nvPr/>
        </p:nvPicPr>
        <p:blipFill>
          <a:blip r:embed="rId16"/>
          <a:srcRect l="-33" r="-33" t="0" b="0"/>
          <a:stretch/>
        </p:blipFill>
        <p:spPr>
          <a:xfrm>
            <a:off x="8093354" y="5014570"/>
            <a:ext cx="171907" cy="152705"/>
          </a:xfrm>
          <a:prstGeom prst="rect">
            <a:avLst/>
          </a:prstGeom>
        </p:spPr>
      </p:pic>
      <p:sp>
        <p:nvSpPr>
          <p:cNvPr id="36" name="Text 18"/>
          <p:cNvSpPr txBox="1"/>
          <p:nvPr/>
        </p:nvSpPr>
        <p:spPr>
          <a:xfrm>
            <a:off x="8436254" y="5014570"/>
            <a:ext cx="16724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段階的学習パス提示</a:t>
            </a:r>
            <a:endParaRPr lang="en-US" sz="1300" dirty="0"/>
          </a:p>
        </p:txBody>
      </p:sp>
      <p:pic>
        <p:nvPicPr>
          <p:cNvPr id="37" name="Image 16" descr="preencoded.png">    </p:cNvPr>
          <p:cNvPicPr>
            <a:picLocks noChangeAspect="1"/>
          </p:cNvPicPr>
          <p:nvPr/>
        </p:nvPicPr>
        <p:blipFill>
          <a:blip r:embed="rId17"/>
          <a:srcRect l="-33" r="-33" t="0" b="0"/>
          <a:stretch/>
        </p:blipFill>
        <p:spPr>
          <a:xfrm>
            <a:off x="8093354" y="5405018"/>
            <a:ext cx="171907" cy="152705"/>
          </a:xfrm>
          <a:prstGeom prst="rect">
            <a:avLst/>
          </a:prstGeom>
        </p:spPr>
      </p:pic>
      <p:sp>
        <p:nvSpPr>
          <p:cNvPr id="38" name="Text 19"/>
          <p:cNvSpPr txBox="1"/>
          <p:nvPr/>
        </p:nvSpPr>
        <p:spPr>
          <a:xfrm>
            <a:off x="8436254" y="5405018"/>
            <a:ext cx="287213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「権利」としての活用フレーミング</a:t>
            </a:r>
            <a:endParaRPr lang="en-US" sz="1300" dirty="0"/>
          </a:p>
        </p:txBody>
      </p:sp>
      <p:pic>
        <p:nvPicPr>
          <p:cNvPr id="39" name="Image 17" descr="preencoded.png">    </p:cNvPr>
          <p:cNvPicPr>
            <a:picLocks noChangeAspect="1"/>
          </p:cNvPicPr>
          <p:nvPr/>
        </p:nvPicPr>
        <p:blipFill>
          <a:blip r:embed="rId18"/>
          <a:srcRect l="-33" r="-33" t="0" b="0"/>
          <a:stretch/>
        </p:blipFill>
        <p:spPr>
          <a:xfrm>
            <a:off x="8093354" y="5796382"/>
            <a:ext cx="171907" cy="152705"/>
          </a:xfrm>
          <a:prstGeom prst="rect">
            <a:avLst/>
          </a:prstGeom>
        </p:spPr>
      </p:pic>
      <p:sp>
        <p:nvSpPr>
          <p:cNvPr id="40" name="Text 20"/>
          <p:cNvSpPr txBox="1"/>
          <p:nvPr/>
        </p:nvSpPr>
        <p:spPr>
          <a:xfrm>
            <a:off x="8436254" y="5796382"/>
            <a:ext cx="184343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成功ストーリーの共有</a:t>
            </a:r>
            <a:endParaRPr lang="en-US" sz="1300" dirty="0"/>
          </a:p>
        </p:txBody>
      </p:sp>
      <p:sp>
        <p:nvSpPr>
          <p:cNvPr id="41" name="Text 21"/>
          <p:cNvSpPr txBox="1"/>
          <p:nvPr/>
        </p:nvSpPr>
        <p:spPr>
          <a:xfrm>
            <a:off x="10264140" y="6439205"/>
            <a:ext cx="14767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AI推進プロジェクト</a:t>
            </a:r>
            <a:endParaRPr lang="en-US" sz="1200" dirty="0"/>
          </a:p>
        </p:txBody>
      </p:sp>
      <p:sp>
        <p:nvSpPr>
          <p:cNvPr id="42" name="Shape 22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43" name="Shape 23"/>
          <p:cNvSpPr/>
          <p:nvPr/>
        </p:nvSpPr>
        <p:spPr>
          <a:xfrm>
            <a:off x="10763402" y="-476402"/>
            <a:ext cx="1904695" cy="1904695"/>
          </a:xfrm>
          <a:prstGeom prst="ellipse">
            <a:avLst/>
          </a:prstGeom>
          <a:noFill/>
          <a:ln w="254000">
            <a:solidFill>
              <a:srgbClr val="0066CC">
                <a:alpha val="1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-107" r="-107" t="0" b="0"/>
          <a:stretch/>
        </p:blipFill>
        <p:spPr>
          <a:xfrm>
            <a:off x="571500" y="1047902"/>
            <a:ext cx="267005" cy="30449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71500" y="1552651"/>
            <a:ext cx="2958084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33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課題1 - 短期対策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71500" y="1986991"/>
            <a:ext cx="3900830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33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（即効性のある施策）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4508906" y="1143000"/>
            <a:ext cx="7114946" cy="418795"/>
          </a:xfrm>
          <a:prstGeom prst="roundRect">
            <a:avLst>
              <a:gd name="adj" fmla="val 24811"/>
            </a:avLst>
          </a:prstGeom>
          <a:solidFill>
            <a:srgbClr val="0066CC">
              <a:alpha val="10000"/>
            </a:srgbClr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4651553" y="1238098"/>
            <a:ext cx="3810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目的:初週で「使える」を体感し、行動転換を引き出す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4508906" y="1752905"/>
            <a:ext cx="723016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クイックウィン体験の提供⭐ ・5分課題例: 議事録要約、定型メール下書き、コードリファクタ ・スターターキット: 推奨プロンプト、操作手順、アウトプット見本 ・KPI: 初回成功率≥80%、平均所要時間≤10分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4508906" y="2628900"/>
            <a:ext cx="72301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業務直結型デモンストレーション⭐💰 ・営業: 提案書章立て/要望要約、開発: コードレビュー/テスト生成 ・運用: 15分ランチデモ、週2回、デモ台本+サンプル配布 ・KPI: 参加後1週間の実務活用率≥50%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4508906" y="3276295"/>
            <a:ext cx="72301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ペアAI活用制度（積極層×慎重層）⭐⏰ ・週1回30分の共同作業、標準チェックリスト活用 ・メンター同席（初回のみ）で躓き解消 ・KPI: 対象者の活用頻度2倍、躓き解消率≥70%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4508906" y="3924605"/>
            <a:ext cx="72301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成功体験の即時共有（Slack #ai-wins） ・テンプレ: Before/After、所要時間、再現プロンプト、注意点 ・月間ベスト投稿の表彰（小額インセンティブ） ・KPI: 月間投稿数≥50件、再利用率≥30%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4508906" y="4572000"/>
            <a:ext cx="72301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障壁除去の即応⭐💰 ・よくある失敗FAQ、ヘルプデスクSLA短縮（3→1営業日） ・PC標準イメージに必要ツール事前インストール ・KPI: 初期離脱率&lt;20%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508906" y="5362956"/>
            <a:ext cx="7114946" cy="352044"/>
          </a:xfrm>
          <a:prstGeom prst="roundRect">
            <a:avLst>
              <a:gd name="adj" fmla="val 28080"/>
            </a:avLst>
          </a:prstGeom>
          <a:solidFill>
            <a:srgbClr val="F8F9F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584802" y="5438851"/>
            <a:ext cx="9674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⭐ 効果が高い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5590642" y="5438851"/>
            <a:ext cx="11009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💰 経費がかかる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6729984" y="5438851"/>
            <a:ext cx="11009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⏰ 時間がかかる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10264140" y="6439205"/>
            <a:ext cx="14767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AI推進プロジェクト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19" name="Shape 16"/>
          <p:cNvSpPr/>
          <p:nvPr/>
        </p:nvSpPr>
        <p:spPr>
          <a:xfrm>
            <a:off x="10763402" y="-476402"/>
            <a:ext cx="1904695" cy="1904695"/>
          </a:xfrm>
          <a:prstGeom prst="ellipse">
            <a:avLst/>
          </a:prstGeom>
          <a:noFill/>
          <a:ln w="254000">
            <a:solidFill>
              <a:srgbClr val="0066CC">
                <a:alpha val="1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71500" y="1047902"/>
            <a:ext cx="304495" cy="30449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71500" y="1552651"/>
            <a:ext cx="3320186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33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課題1 - 中長期対策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71500" y="1986991"/>
            <a:ext cx="3176626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33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（持続的な施策）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4508906" y="714146"/>
            <a:ext cx="7114946" cy="418795"/>
          </a:xfrm>
          <a:prstGeom prst="rect">
            <a:avLst/>
          </a:prstGeom>
          <a:solidFill>
            <a:srgbClr val="0066CC">
              <a:alpha val="10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4508906" y="714146"/>
            <a:ext cx="38405" cy="418795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4689043" y="809244"/>
            <a:ext cx="36868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33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目的: 自律的・継続的なAI活用を組織文化として定着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4508906" y="1419149"/>
            <a:ext cx="2715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⭐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5532120" y="1419149"/>
            <a:ext cx="2715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💰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6688836" y="1419149"/>
            <a:ext cx="2715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⏰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4722876" y="1419149"/>
            <a:ext cx="7671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効果が高い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5746090" y="1419149"/>
            <a:ext cx="9006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経費がかかる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6902806" y="1419149"/>
            <a:ext cx="9006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時間がかかる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4508906" y="1762049"/>
            <a:ext cx="723016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段階的学習パスの提示⭐ 💰 ⏰ ・入門→基礎→実践→応用→エキスパートの到達基準/必須課題/チェックテスト ・学習時間の公式確保（週4時間）とオンデマンド教材 KPI: 6ヶ月で基礎修了率≥70%、12ヶ月で実践修了率≥50%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4508906" y="2638044"/>
            <a:ext cx="723016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「義務」ではなく「権利」としてのフレーミング⭐ ⏰ ・ポリシー明文化: AI活用は生産性向上の権利/支援の提供 ・評価項目に「試行回数」「学び共有」「改善提案」追加 KPI: 活用自己申告率+30%、上長承認不要の試行件数増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4508906" y="3514954"/>
            <a:ext cx="723016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成功者の可視化とストーリーテリング⭐ 💰 ・ビフォーアフター（時間/品質/顧客満足）を数値と物語で提示 ・社内ポータル特集、タウンホール登壇、動画化 KPI: ケースライブラリ100件、閲覧→実践転換率≥40%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4508906" y="4390949"/>
            <a:ext cx="723016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内発的動機の育成（ゲーミフィケーション/コミュニティ）⭐ 💰 ⏰ ・バッジ/ポイント、月次テーマチャレンジ、横断もくもく会 ・アイデアコンテストの定例化（半期）と実装支援 KPI: 自主投稿比率≥60%、継続参加率≥70%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4508906" y="5266944"/>
            <a:ext cx="723016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人材・制度の整備⭐ 💰💰 ⏰ ・社内認定（Gold/Platinum）と役割（メンター/講師/レビューア）付与 ・学習支援費/外部イベント補助、昇進要件にAI活用指標を連動 KPI: 認定者50名、メンタリング満足度≥4.2/5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10264140" y="6439205"/>
            <a:ext cx="14767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AI推進プロジェクト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22" name="Shape 19"/>
          <p:cNvSpPr/>
          <p:nvPr/>
        </p:nvSpPr>
        <p:spPr>
          <a:xfrm>
            <a:off x="10763402" y="-476402"/>
            <a:ext cx="1904695" cy="1904695"/>
          </a:xfrm>
          <a:prstGeom prst="ellipse">
            <a:avLst/>
          </a:prstGeom>
          <a:noFill/>
          <a:ln w="254000">
            <a:solidFill>
              <a:srgbClr val="0066CC">
                <a:alpha val="1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-90" r="-90" t="0" b="0"/>
          <a:stretch/>
        </p:blipFill>
        <p:spPr>
          <a:xfrm>
            <a:off x="571500" y="1047902"/>
            <a:ext cx="381305" cy="30449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71500" y="1571854"/>
            <a:ext cx="125730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33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課題2:</a:t>
            </a:r>
            <a:endParaRPr lang="en-US" sz="2700" dirty="0"/>
          </a:p>
        </p:txBody>
      </p:sp>
      <p:sp>
        <p:nvSpPr>
          <p:cNvPr id="5" name="Text 2"/>
          <p:cNvSpPr txBox="1"/>
          <p:nvPr/>
        </p:nvSpPr>
        <p:spPr>
          <a:xfrm>
            <a:off x="571500" y="2017166"/>
            <a:ext cx="3353105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33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世代間・スキル間の</a:t>
            </a:r>
            <a:endParaRPr lang="en-US" sz="2700" dirty="0"/>
          </a:p>
        </p:txBody>
      </p:sp>
      <p:sp>
        <p:nvSpPr>
          <p:cNvPr id="6" name="Text 3"/>
          <p:cNvSpPr txBox="1"/>
          <p:nvPr/>
        </p:nvSpPr>
        <p:spPr>
          <a:xfrm>
            <a:off x="571500" y="2463394"/>
            <a:ext cx="3001061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33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デジタルデバイド</a:t>
            </a:r>
            <a:endParaRPr lang="en-US" sz="27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508906" y="905256"/>
            <a:ext cx="209398" cy="20939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813402" y="852221"/>
            <a:ext cx="100492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66C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現状認識</a:t>
            </a:r>
            <a:endParaRPr lang="en-US" sz="16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180" b="-180"/>
          <a:stretch/>
        </p:blipFill>
        <p:spPr>
          <a:xfrm>
            <a:off x="4574743" y="1309421"/>
            <a:ext cx="95098" cy="152705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4765853" y="4548226"/>
            <a:ext cx="1634033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66C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対策アプローチ</a:t>
            </a:r>
            <a:endParaRPr lang="en-US" sz="1600" dirty="0"/>
          </a:p>
        </p:txBody>
      </p:sp>
      <p:sp>
        <p:nvSpPr>
          <p:cNvPr id="11" name="Text 6"/>
          <p:cNvSpPr txBox="1"/>
          <p:nvPr/>
        </p:nvSpPr>
        <p:spPr>
          <a:xfrm>
            <a:off x="4880153" y="1309421"/>
            <a:ext cx="6863486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デジタルネイティブ世代（20～30代）と比較し、ベテラン層（40代以上）は新ツールへの適応に時間がかかる</a:t>
            </a:r>
            <a:endParaRPr lang="en-US" sz="13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180" b="-180"/>
          <a:stretch/>
        </p:blipFill>
        <p:spPr>
          <a:xfrm>
            <a:off x="4574743" y="1976018"/>
            <a:ext cx="95098" cy="152705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4813402" y="2624328"/>
            <a:ext cx="100492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66C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根本原因</a:t>
            </a:r>
            <a:endParaRPr lang="en-US" sz="1600" dirty="0"/>
          </a:p>
        </p:txBody>
      </p:sp>
      <p:sp>
        <p:nvSpPr>
          <p:cNvPr id="14" name="Text 8"/>
          <p:cNvSpPr txBox="1"/>
          <p:nvPr/>
        </p:nvSpPr>
        <p:spPr>
          <a:xfrm>
            <a:off x="4880153" y="1976018"/>
            <a:ext cx="678667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技術職と非技術職でITリテラシーに大きな差があり、同じ研修でも理解度に開きが出る</a:t>
            </a:r>
            <a:endParaRPr lang="en-US" sz="13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508906" y="2676449"/>
            <a:ext cx="209398" cy="209398"/>
          </a:xfrm>
          <a:prstGeom prst="rect">
            <a:avLst/>
          </a:prstGeom>
        </p:spPr>
      </p:pic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180" b="-180"/>
          <a:stretch/>
        </p:blipFill>
        <p:spPr>
          <a:xfrm>
            <a:off x="4574743" y="3081528"/>
            <a:ext cx="95098" cy="152705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4880153" y="3081528"/>
            <a:ext cx="40727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過去の「ツール導入失敗体験」による学習性無力感</a:t>
            </a:r>
            <a:endParaRPr lang="en-US" sz="1300" dirty="0"/>
          </a:p>
        </p:txBody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-180" b="-180"/>
          <a:stretch/>
        </p:blipFill>
        <p:spPr>
          <a:xfrm>
            <a:off x="4574743" y="3491179"/>
            <a:ext cx="95098" cy="152705"/>
          </a:xfrm>
          <a:prstGeom prst="rect">
            <a:avLst/>
          </a:prstGeom>
        </p:spPr>
      </p:pic>
      <p:sp>
        <p:nvSpPr>
          <p:cNvPr id="19" name="Text 10"/>
          <p:cNvSpPr txBox="1"/>
          <p:nvPr/>
        </p:nvSpPr>
        <p:spPr>
          <a:xfrm>
            <a:off x="4880153" y="3491179"/>
            <a:ext cx="491032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「年齢的に今さら新しいことを学ぶのは...」という心理的抵抗</a:t>
            </a:r>
            <a:endParaRPr lang="en-US" sz="1300" dirty="0"/>
          </a:p>
        </p:txBody>
      </p:sp>
      <p:pic>
        <p:nvPicPr>
          <p:cNvPr id="20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-180" b="-180"/>
          <a:stretch/>
        </p:blipFill>
        <p:spPr>
          <a:xfrm>
            <a:off x="4574743" y="3900830"/>
            <a:ext cx="95098" cy="152705"/>
          </a:xfrm>
          <a:prstGeom prst="rect">
            <a:avLst/>
          </a:prstGeom>
        </p:spPr>
      </p:pic>
      <p:sp>
        <p:nvSpPr>
          <p:cNvPr id="21" name="Text 11"/>
          <p:cNvSpPr txBox="1"/>
          <p:nvPr/>
        </p:nvSpPr>
        <p:spPr>
          <a:xfrm>
            <a:off x="4880153" y="3900830"/>
            <a:ext cx="458663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「自分の経験やスキルが不要になるのでは」という脅威感</a:t>
            </a:r>
            <a:endParaRPr lang="en-US" sz="1300" dirty="0"/>
          </a:p>
        </p:txBody>
      </p:sp>
      <p:pic>
        <p:nvPicPr>
          <p:cNvPr id="22" name="Image 8" descr="preencoded.png">    </p:cNvPr>
          <p:cNvPicPr>
            <a:picLocks noChangeAspect="1"/>
          </p:cNvPicPr>
          <p:nvPr/>
        </p:nvPicPr>
        <p:blipFill>
          <a:blip r:embed="rId9"/>
          <a:srcRect l="-1528" r="-1528" t="0" b="0"/>
          <a:stretch/>
        </p:blipFill>
        <p:spPr>
          <a:xfrm>
            <a:off x="4508906" y="4600346"/>
            <a:ext cx="161849" cy="209398"/>
          </a:xfrm>
          <a:prstGeom prst="rect">
            <a:avLst/>
          </a:prstGeom>
        </p:spPr>
      </p:pic>
      <p:sp>
        <p:nvSpPr>
          <p:cNvPr id="23" name="Text 12"/>
          <p:cNvSpPr txBox="1"/>
          <p:nvPr/>
        </p:nvSpPr>
        <p:spPr>
          <a:xfrm>
            <a:off x="4508906" y="5005426"/>
            <a:ext cx="47530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短期: レベル別・ペース別研修の設計、非技術職向け特化プログラム</a:t>
            </a:r>
            <a:endParaRPr lang="en-US" sz="1200" dirty="0"/>
          </a:p>
        </p:txBody>
      </p:sp>
      <p:sp>
        <p:nvSpPr>
          <p:cNvPr id="24" name="Text 13"/>
          <p:cNvSpPr txBox="1"/>
          <p:nvPr/>
        </p:nvSpPr>
        <p:spPr>
          <a:xfrm>
            <a:off x="4508906" y="5386730"/>
            <a:ext cx="47439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中長期: 年齢・経験を強みに変えるアプローチ、シニアメンター制度</a:t>
            </a:r>
            <a:endParaRPr lang="en-US" sz="1200" dirty="0"/>
          </a:p>
        </p:txBody>
      </p:sp>
      <p:sp>
        <p:nvSpPr>
          <p:cNvPr id="25" name="Text 14"/>
          <p:cNvSpPr txBox="1"/>
          <p:nvPr/>
        </p:nvSpPr>
        <p:spPr>
          <a:xfrm>
            <a:off x="10264140" y="6439205"/>
            <a:ext cx="14767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AI推進プロジェクト</a:t>
            </a:r>
            <a:endParaRPr lang="en-US" sz="1200" dirty="0"/>
          </a:p>
        </p:txBody>
      </p:sp>
      <p:sp>
        <p:nvSpPr>
          <p:cNvPr id="26" name="Shape 15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27" name="Shape 16"/>
          <p:cNvSpPr/>
          <p:nvPr/>
        </p:nvSpPr>
        <p:spPr>
          <a:xfrm>
            <a:off x="10763402" y="-476402"/>
            <a:ext cx="1904695" cy="1904695"/>
          </a:xfrm>
          <a:prstGeom prst="ellipse">
            <a:avLst/>
          </a:prstGeom>
          <a:noFill/>
          <a:ln w="254000">
            <a:solidFill>
              <a:srgbClr val="0066CC">
                <a:alpha val="1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-90" r="-90" t="0" b="0"/>
          <a:stretch/>
        </p:blipFill>
        <p:spPr>
          <a:xfrm>
            <a:off x="571500" y="1047902"/>
            <a:ext cx="381305" cy="30449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71500" y="1552651"/>
            <a:ext cx="2800807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33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課題2 - 短期対策</a:t>
            </a:r>
            <a:endParaRPr lang="en-US" sz="2700" dirty="0"/>
          </a:p>
        </p:txBody>
      </p:sp>
      <p:sp>
        <p:nvSpPr>
          <p:cNvPr id="5" name="Text 2"/>
          <p:cNvSpPr txBox="1"/>
          <p:nvPr/>
        </p:nvSpPr>
        <p:spPr>
          <a:xfrm>
            <a:off x="571500" y="1964131"/>
            <a:ext cx="3686861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33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（デジタルデバイド）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71500" y="2804465"/>
            <a:ext cx="3314700" cy="295351"/>
          </a:xfrm>
          <a:prstGeom prst="roundRect">
            <a:avLst>
              <a:gd name="adj" fmla="val 39948"/>
            </a:avLst>
          </a:prstGeom>
          <a:solidFill>
            <a:srgbClr val="0066CC">
              <a:alpha val="5000"/>
            </a:srgbClr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66598" y="2852014"/>
            <a:ext cx="32250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⭐ 効果が高い　💰 経費がかかる　⏰ 時間がかかる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508906" y="780898"/>
            <a:ext cx="7114946" cy="485546"/>
          </a:xfrm>
          <a:prstGeom prst="rect">
            <a:avLst/>
          </a:prstGeom>
          <a:solidFill>
            <a:srgbClr val="0066CC">
              <a:alpha val="10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4508906" y="780898"/>
            <a:ext cx="38405" cy="485546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689043" y="895198"/>
            <a:ext cx="518647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33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目的: 世代・職種間の抵抗を下げ、短期での実務適用を開始させる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4508906" y="1505102"/>
            <a:ext cx="723016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レベル別・ペース別研修の即時提供⭐ 💰 ⏰ ・丁寧コース（1回60分×週2回・4週間）：基本操作の反復練習、個別フォローアップ ・標準コース（1回90分×週2回・2週間）：ユースケース中心の実践演習 ・速習コース（1日集中×2日間）：自己学習リソース提供とQ&amp;Aセッション ・職種別カスタム教材：開発者向け/営業向け/管理部門向けに実務例を差し替え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4508906" y="2609698"/>
            <a:ext cx="723016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シニアメンター伴走（同世代/同職種を割当）⭐ 💰 ⏰ ・週1回30分の実務同席：実際の業務画面を使ったハンズオン指導 ・専用チャットチャネル：即時質問対応（SLA：営業時間内2時間以内回答） ・成功事例共有会：メンターが発見した活用例を全社で共有（月2回）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4508906" y="3486607"/>
            <a:ext cx="723016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即使える簡易ツールキット⭐ 💰 ・プロンプトライブラリ：50種類の業務別テンプレート（コピペ可能） ・AIアシスタント設定ガイド：各種ツールの初期設定から応用まで図解 ・ショートカットカード：デスク設置型の操作早見表（個人に郵送）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4508906" y="4362602"/>
            <a:ext cx="723016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ペア学習制度⭐ ⏰ ・バディ制：異なる習熟度のペアを組み、週1回の相互学習機会を設定 ・15分チャレンジ：短時間で達成可能な課題を日替わりで提供 ・相互評価ボーナス：ペアでの目標達成に応じたインセンティブ付与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4508906" y="5238598"/>
            <a:ext cx="55248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KPI ・研修完了率≥80%、実務適用率≥50%（研修後2週間）、自己効力感+20%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4508906" y="5658307"/>
            <a:ext cx="69631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リスク/対応 ・"できないレッテル化"回避→コース名の工夫（経験別/希望別）と匿名フィードバック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10264140" y="6439205"/>
            <a:ext cx="14767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AI推進プロジェクト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19" name="Shape 16"/>
          <p:cNvSpPr/>
          <p:nvPr/>
        </p:nvSpPr>
        <p:spPr>
          <a:xfrm>
            <a:off x="10763402" y="-476402"/>
            <a:ext cx="1904695" cy="1904695"/>
          </a:xfrm>
          <a:prstGeom prst="ellipse">
            <a:avLst/>
          </a:prstGeom>
          <a:noFill/>
          <a:ln w="254000">
            <a:solidFill>
              <a:srgbClr val="0066CC">
                <a:alpha val="1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-90" r="-90" t="0" b="0"/>
          <a:stretch/>
        </p:blipFill>
        <p:spPr>
          <a:xfrm>
            <a:off x="571500" y="1047902"/>
            <a:ext cx="381305" cy="30449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71500" y="1552651"/>
            <a:ext cx="3891686" cy="9628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33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課題2 - 中長期対策（デジタルデバイド）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4508906" y="1257300"/>
            <a:ext cx="47722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目的: 経験を強みに変換し、世代・職種を越えた継続学習基盤を構築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08906" y="1714500"/>
            <a:ext cx="723016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リバースメンター制度の制度化 ⭐⏰ 実施方法：隔週1時間の固定ペアセッション（3ヶ月単位で再編成） ツール：専用マッチングシステム、振り返りテンプレート、成果物共有プラットフォーム 成果物：スキル習得記録・業務知識データベース（四半期ごと表彰制度）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508906" y="2628900"/>
            <a:ext cx="723016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ロール再定義と活躍機会の設計 ⭐💰⏰ 新設職種：AI活用品質管理者、プロンプトエンジニア、ナレッジキュレーター（昇格要件に明記） 評価連動：人材評価システムにAI+業務知識の融合スキルを追加（年2回査定）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4508906" y="3543300"/>
            <a:ext cx="723016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継続学習の仕組み ⭐💰⏰ 定期研修：四半期ごとのスキルアップデート（最新AI技術×業務応用）、月次事例共有会 自己学習：パーソナライズド・ラーニングパス（技術と業務知識のブレンド）、毎月の学習目標設定 インセンティブ：学習進捗に連動したポイント制度、部門横断学習交流会の開催（年2回）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4508906" y="4457700"/>
            <a:ext cx="57342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KPI 世代/職種別の活用率格差▲50%、継続参加率≥70%、新設ロール配置率100%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4508906" y="4914900"/>
            <a:ext cx="72301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リスク/対応 形骸化→四半期ごとの成果報告会実施、定量評価を人事査定に反映（10%配分） 時間確保難→業務時間内の公式活動として位置づけ（週4時間を確保）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571500" y="6467551"/>
            <a:ext cx="2715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⭐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1585570" y="6467551"/>
            <a:ext cx="2715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💰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2733142" y="6467551"/>
            <a:ext cx="2715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⏰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776326" y="6467551"/>
            <a:ext cx="7671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効果が高い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1790395" y="6467551"/>
            <a:ext cx="9006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経費がかかる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2937967" y="6467551"/>
            <a:ext cx="9006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時間がかかる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10264140" y="6439205"/>
            <a:ext cx="14767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AI推進プロジェクト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19" name="Shape 16"/>
          <p:cNvSpPr/>
          <p:nvPr/>
        </p:nvSpPr>
        <p:spPr>
          <a:xfrm>
            <a:off x="10763402" y="-476402"/>
            <a:ext cx="1904695" cy="1904695"/>
          </a:xfrm>
          <a:prstGeom prst="ellipse">
            <a:avLst/>
          </a:prstGeom>
          <a:noFill/>
          <a:ln w="254000">
            <a:solidFill>
              <a:srgbClr val="0066CC">
                <a:alpha val="1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-50" r="-50" t="0" b="0"/>
          <a:stretch/>
        </p:blipFill>
        <p:spPr>
          <a:xfrm>
            <a:off x="571500" y="1047902"/>
            <a:ext cx="228600" cy="30449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71500" y="1552651"/>
            <a:ext cx="1329538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33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課題3: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71500" y="1986991"/>
            <a:ext cx="2815438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33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効果発現の遅延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571500" y="2421331"/>
            <a:ext cx="2300630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33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- 現状・原因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4508906" y="2514600"/>
            <a:ext cx="57817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現状:AI導入後の効果が可視化されるまで時間がかかり、現場の熱量が低下しやすい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4508906" y="2971800"/>
            <a:ext cx="53245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主因:目標/KPI未定義、データ前提の未整備、スコープ過大、意思決定の遅さ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4508906" y="34290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影響:投資対効果の疑念、パイロット離脱、推進チームの信頼低下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4508906" y="3886200"/>
            <a:ext cx="44010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代表事例:価値仮説不明のPoC長期化、現場の実運用移行が停滞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0264140" y="6439205"/>
            <a:ext cx="14767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AI推進プロジェクト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13" name="Shape 10"/>
          <p:cNvSpPr/>
          <p:nvPr/>
        </p:nvSpPr>
        <p:spPr>
          <a:xfrm>
            <a:off x="10763402" y="-476402"/>
            <a:ext cx="1904695" cy="1904695"/>
          </a:xfrm>
          <a:prstGeom prst="ellipse">
            <a:avLst/>
          </a:prstGeom>
          <a:noFill/>
          <a:ln w="254000">
            <a:solidFill>
              <a:srgbClr val="0066CC">
                <a:alpha val="1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-107" r="-107" t="0" b="0"/>
          <a:stretch/>
        </p:blipFill>
        <p:spPr>
          <a:xfrm>
            <a:off x="571500" y="1047902"/>
            <a:ext cx="267005" cy="30449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71500" y="1552651"/>
            <a:ext cx="3834079" cy="9628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33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課題3 効果発現の遅延 - 短期対策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4508906" y="1714500"/>
            <a:ext cx="42007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目的:Time-to-Valueを最短化し、現場の納得感を早期に醸成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08906" y="2171700"/>
            <a:ext cx="7230161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具体策: 2週間スプリントのマイクロPoC ⭐💰：スコープを単一業務に限定、成功基準を事前設定、3-5名の横断チーム編成、成果を毎週金曜レビュー、予算上限20万円 可視化ダッシュボード即日構築 ⭐💰：3種類のテンプレート（業務効率/品質指標/コスト削減）を用意、Power BIまたはTableau、データ連携は半自動（CSV+スクリプト）、日次更新、経営層と現場で同一画面共有 既存テンプレ・プロンプト流用 ⭐：社内Wikiに200種類のプロンプト集を整備、ユースケース別タグ付け、カスタマイズガイド添付、週次更新、貢献者表彰制度、入門者向け「今日のプロンプト」メール配信 灯台案件の横展開 ⭐⏰：部門代表による成功事例5分共有（毎週MTG）、実装手順書テンプレート化、部門間ペア支援制度（先行部門→後続部門）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508906" y="4229100"/>
            <a:ext cx="51727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KPI:初期価値創出までの日数＜30日／PoC→運用移行率／現場満足度CSAT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4508906" y="4686300"/>
            <a:ext cx="70015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リスク・対応:質の低いユースケース選定→事前チェックリスト／期待過剰→成果の定義を数値で合意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952805" y="6057900"/>
            <a:ext cx="3054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⭐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2095805" y="6057900"/>
            <a:ext cx="3054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💰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3390595" y="6057900"/>
            <a:ext cx="3054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⏰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1190549" y="6057900"/>
            <a:ext cx="8860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効果が高い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2333549" y="6057900"/>
            <a:ext cx="10387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経費がかかる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3628339" y="6057900"/>
            <a:ext cx="10387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時間がかかる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10264140" y="6439205"/>
            <a:ext cx="14767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AI推進プロジェクト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17" name="Shape 14"/>
          <p:cNvSpPr/>
          <p:nvPr/>
        </p:nvSpPr>
        <p:spPr>
          <a:xfrm>
            <a:off x="10763402" y="-476402"/>
            <a:ext cx="1904695" cy="1904695"/>
          </a:xfrm>
          <a:prstGeom prst="ellipse">
            <a:avLst/>
          </a:prstGeom>
          <a:noFill/>
          <a:ln w="254000">
            <a:solidFill>
              <a:srgbClr val="0066CC">
                <a:alpha val="1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-90" r="-90" t="0" b="0"/>
          <a:stretch/>
        </p:blipFill>
        <p:spPr>
          <a:xfrm>
            <a:off x="571500" y="1047902"/>
            <a:ext cx="381305" cy="30449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71500" y="1552651"/>
            <a:ext cx="3834079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33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課題3 効果発現の遅延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71500" y="1986991"/>
            <a:ext cx="2300630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33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- 中長期対策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4508906" y="1485900"/>
            <a:ext cx="29059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目的:効果創出を継続可能にする仕組み化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508906" y="1943100"/>
            <a:ext cx="7230161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具体策: MLOps/LLMOps基盤整備⭐💰⏰: CI/CDパイプライン構築（Azure DevOpsで自動デプロイ）、モデルバージョン管理（DVC/MLflow）、モニタリング基盤（Prometheus/Grafana）、Feature Store導入（半年で全社共通基盤化） 評価指標標準化⭐⏰: 部門横断指標定義委員会設立（四半期毎に指標更新）、共通品質メトリクス（精度/Recall/F値/推論時間）、生産性KPI（開発工数削減率/コード再利用率/自動化率）の全社統一 データ基盤共通化⭐💰⏰: データカタログ整備（DataHub）、ETLパイプライン標準化（Airflow）、前処理コンポーネント（テキスト/画像/時系列）のライブラリ化と社内OSS公開、データ品質自動チェック（Great Expectations） 継続改善ループ⭐⏰: 月次効果測定会の制度化、四半期ごとの改善サイクル（計測→分析→施策→実装）、データフィードバックループ自動化（月次でモデル再学習）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4508906" y="4229100"/>
            <a:ext cx="6762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KPI:機能提供リードタイム30日以内／モデル再利用率50%以上／継続運用案件比率80%／NPS+40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4508906" y="4686300"/>
            <a:ext cx="72301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リスク・対応:基盤先行で現場離れ→各部門代表を基盤開発に参加させ現場ニーズを反映／ガバナンス過多→検証環境は制約最小化、本番環境は段階的に統制強化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10264140" y="6439205"/>
            <a:ext cx="14767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AI推進プロジェクト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12" name="Shape 9"/>
          <p:cNvSpPr/>
          <p:nvPr/>
        </p:nvSpPr>
        <p:spPr>
          <a:xfrm>
            <a:off x="10763402" y="-476402"/>
            <a:ext cx="1904695" cy="1904695"/>
          </a:xfrm>
          <a:prstGeom prst="ellipse">
            <a:avLst/>
          </a:prstGeom>
          <a:noFill/>
          <a:ln w="254000">
            <a:solidFill>
              <a:srgbClr val="0066CC">
                <a:alpha val="1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71500" y="1047902"/>
            <a:ext cx="304495" cy="30449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71500" y="1552651"/>
            <a:ext cx="3396082" cy="9628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33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課題4 AI脅威論 - 現状・原因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4508906" y="2514600"/>
            <a:ext cx="51060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現状:「仕事が奪われる」「ブラックボックスで危険」等の不安で利用回避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08906" y="2971800"/>
            <a:ext cx="45436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主因:役割再設計の不在/リスクと対策の情報不足/誤解・噂の蔓延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508906" y="3429000"/>
            <a:ext cx="36292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影響:参加率低下/抵抗勢力の増加/導入スピード鈍化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4508906" y="3886200"/>
            <a:ext cx="5248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代表事例:説明責任が曖昧で承認が止まる/現場がサンドボックス利用を拒否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10264140" y="6439205"/>
            <a:ext cx="14767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AI推進プロジェクト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11" name="Shape 8"/>
          <p:cNvSpPr/>
          <p:nvPr/>
        </p:nvSpPr>
        <p:spPr>
          <a:xfrm>
            <a:off x="10763402" y="-476402"/>
            <a:ext cx="1904695" cy="1904695"/>
          </a:xfrm>
          <a:prstGeom prst="ellipse">
            <a:avLst/>
          </a:prstGeom>
          <a:noFill/>
          <a:ln w="254000">
            <a:solidFill>
              <a:srgbClr val="0066CC">
                <a:alpha val="1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71500" y="1047902"/>
            <a:ext cx="304495" cy="30449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71500" y="1552651"/>
            <a:ext cx="3758184" cy="9628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33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課題4 AI脅威論 - 短期対策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4508906" y="1619402"/>
            <a:ext cx="44293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目的:誤解の解消と安心材料の提示で参加の心理的障壁を下げる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08906" y="2076602"/>
            <a:ext cx="7230161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具体策: リスクと対策のFAQ ⭐ ⏰：部門別の懸念トップ5を現場から収集。実データに基づく回答を専門家監修。月1回更新し社内ポータルで公開。特に雇用影響・データ安全性・意思決定責任の3テーマを重点解説 神話崩しセッション ⭐ ⏰：各部15名程度の少人数対話型で月2回実施。実機デモとファクトチェック資料を併用。過去の技術革新事例（RPA等）との比較で不安軽減。質疑は匿名ツールで集約し回答を全社公開 人×AIの協働デモ ⭐ 💰 ⏰：「AI単独」と「人間×AI協働」の成果物を比較展示。各部門の実務サンプル3〜5種を選定。作業時間短縮率・品質向上率を数値で可視化。全拠点を巡回するデモイベントを四半期に1回開催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508906" y="3905402"/>
            <a:ext cx="40105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KPI:情緒スコア(サーベイ)/参加率/FAQ閲覧数/質問解消率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4508906" y="4362602"/>
            <a:ext cx="58201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リスク・対応:懐疑的反応→第三者/顧客事例提示/一方通行化→双方向QAと記録公開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353958" y="5009998"/>
            <a:ext cx="3054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⭐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9401861" y="5009998"/>
            <a:ext cx="3054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💰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0582351" y="5009998"/>
            <a:ext cx="3054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⏰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8591702" y="5024628"/>
            <a:ext cx="7671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効果が高い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9639605" y="5024628"/>
            <a:ext cx="9006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経費が掛かる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10820095" y="5024628"/>
            <a:ext cx="9006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時間がかかる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10264140" y="6439205"/>
            <a:ext cx="14767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AI推進プロジェクト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17" name="Shape 14"/>
          <p:cNvSpPr/>
          <p:nvPr/>
        </p:nvSpPr>
        <p:spPr>
          <a:xfrm>
            <a:off x="10763402" y="-476402"/>
            <a:ext cx="1904695" cy="1904695"/>
          </a:xfrm>
          <a:prstGeom prst="ellipse">
            <a:avLst/>
          </a:prstGeom>
          <a:noFill/>
          <a:ln w="254000">
            <a:solidFill>
              <a:srgbClr val="0066CC">
                <a:alpha val="1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71500" y="1047902"/>
            <a:ext cx="304495" cy="30449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71500" y="1552651"/>
            <a:ext cx="2729484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33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課題4 AI脅威論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71500" y="1986991"/>
            <a:ext cx="2300630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33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- 中長期対策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4508906" y="21717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目的:安心して使える制度と役割再設計の定着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508906" y="2628900"/>
            <a:ext cx="723016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具体策: ⭐💰⏰ ジョブリデザイン: 全職種AI連携モデル作成→スキルマップ再定義→新キャリアパス設計→半期ごとの移行計画 💰⏰ AI倫理・行動規範: IEEE/EUガイドライン参照→倫理委員会設置→業種別判断基準策定→四半期レビュー ⭐⏰ 労使合意形成: 雇用影響の透明開示→共同検討委員会→段階的導入合意→キャリア保障制度化 ⭐ 効果が高い 💰 経費がかかる ⏰ 時間がかかる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4508906" y="3771900"/>
            <a:ext cx="55824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KPI:新職務プロファイル数／リスキリング修了率／ポリシー遵守率／離職率低下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4508906" y="4229100"/>
            <a:ext cx="67062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リスク・対応:過度な規制→リスクベース運用／形骸化→経営レビューと現場定期フィードバック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10264140" y="6439205"/>
            <a:ext cx="14767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AI推進プロジェクト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12" name="Shape 9"/>
          <p:cNvSpPr/>
          <p:nvPr/>
        </p:nvSpPr>
        <p:spPr>
          <a:xfrm>
            <a:off x="10763402" y="-476402"/>
            <a:ext cx="1904695" cy="1904695"/>
          </a:xfrm>
          <a:prstGeom prst="ellipse">
            <a:avLst/>
          </a:prstGeom>
          <a:noFill/>
          <a:ln w="254000">
            <a:solidFill>
              <a:srgbClr val="0066CC">
                <a:alpha val="1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-90" r="-90" t="0" b="0"/>
          <a:stretch/>
        </p:blipFill>
        <p:spPr>
          <a:xfrm>
            <a:off x="571500" y="1047902"/>
            <a:ext cx="381305" cy="30449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71500" y="1552651"/>
            <a:ext cx="3834079" cy="9628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33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課題5 ピアプレッシャー - 現状・原因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4508906" y="2514600"/>
            <a:ext cx="4334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現状:「使えないと恥ずかしい/聞きにくい」雰囲気が学習阻害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08906" y="2971800"/>
            <a:ext cx="46963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主因:心理的安全性の不足/支援チャネル不在/学習格差の可視化不足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508906" y="3429000"/>
            <a:ext cx="46963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影響:サイレント・リタイア/自己流の誤用/チーム生産性のばらつき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4508906" y="3886200"/>
            <a:ext cx="4334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代表事例:質問が社内チャットで無反応/上級者のみ活用が進む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10264140" y="6439205"/>
            <a:ext cx="14767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AI推進プロジェクト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11" name="Shape 8"/>
          <p:cNvSpPr/>
          <p:nvPr/>
        </p:nvSpPr>
        <p:spPr>
          <a:xfrm>
            <a:off x="10763402" y="-476402"/>
            <a:ext cx="1904695" cy="1904695"/>
          </a:xfrm>
          <a:prstGeom prst="ellipse">
            <a:avLst/>
          </a:prstGeom>
          <a:noFill/>
          <a:ln w="254000">
            <a:solidFill>
              <a:srgbClr val="0066CC">
                <a:alpha val="1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-90" r="-90" t="0" b="0"/>
          <a:stretch/>
        </p:blipFill>
        <p:spPr>
          <a:xfrm>
            <a:off x="571500" y="1047902"/>
            <a:ext cx="381305" cy="30449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71500" y="1552651"/>
            <a:ext cx="3834079" cy="9628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33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課題5 ピアプレッシャー - 短期対策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4508906" y="1943100"/>
            <a:ext cx="24387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目的:安心して学べる場を即時提供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08906" y="2400300"/>
            <a:ext cx="723016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具体策: ⭐⏰No-judgementクリニック: 週1回90分、指定会議室にてAI専門家が常駐。「質問は全て価値がある」方針を明示。事前予約不要、途中入退室可能。 ⭐匿名質問箱: Slackチャンネルと社内ポータルの両方に設置。24時間以内回答保証。Q&amp;Aはナレッジベースに集約・検索可能化。 ⭐⏰ペアバディ制度: 部署横断でAI習熟度別にペア組成。週2回30分のチェックイン。専用テンプレートでペア活動を記録・共有。 💰スターターキット配布: 全社員に基本プロンプト集、タスク別チートシート、自己学習計画テンプレートを提供。電子版・印刷版両方用意。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508906" y="4000500"/>
            <a:ext cx="3877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KPI:参加人数/質問数と回答率/スターターキット活用率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4508906" y="4457700"/>
            <a:ext cx="64492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リスク・対応:スティグマ化→名称を中立化/常連偏在→ローテーションとファシリテーション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71500" y="6467551"/>
            <a:ext cx="2715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⭐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1594714" y="6467551"/>
            <a:ext cx="2715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💰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2752344" y="6467551"/>
            <a:ext cx="2715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⏰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785470" y="6467551"/>
            <a:ext cx="7671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効果が高い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1809598" y="6467551"/>
            <a:ext cx="9006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経費がかかる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2966314" y="6467551"/>
            <a:ext cx="9006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時間がかかる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10264140" y="6439205"/>
            <a:ext cx="14767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AI推進プロジェクト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17" name="Shape 14"/>
          <p:cNvSpPr/>
          <p:nvPr/>
        </p:nvSpPr>
        <p:spPr>
          <a:xfrm>
            <a:off x="10763402" y="-476402"/>
            <a:ext cx="1904695" cy="1904695"/>
          </a:xfrm>
          <a:prstGeom prst="ellipse">
            <a:avLst/>
          </a:prstGeom>
          <a:noFill/>
          <a:ln w="254000">
            <a:solidFill>
              <a:srgbClr val="0066CC">
                <a:alpha val="1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-90" r="-90" t="0" b="0"/>
          <a:stretch/>
        </p:blipFill>
        <p:spPr>
          <a:xfrm>
            <a:off x="571500" y="1047902"/>
            <a:ext cx="381305" cy="30449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71500" y="1552651"/>
            <a:ext cx="3834079" cy="9628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33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課題5 ピアプレッシャー - 中長期対策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4508906" y="1943100"/>
            <a:ext cx="35058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目的:学習コミュニティの恒常化と健全な同調圧力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08906" y="2400300"/>
            <a:ext cx="7230161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具体策: CoP設立⭐ ⏰：四半期ごとのテーマ設定、月次定例会、輪番制リード、成果物共有リポジトリ、部門横断参加制度 メンタリング⭐ 💰 ⏰：資格認定メンター制、1:3のグループ制、週次15分面談、スキルマッピングに基づくマッチング、オフィスアワー制度 認定・表彰⭐ 💰💰：3段階認定（初級・中級・上級）、半年ごと審査、昇給・昇格要件との連動、年次表彰式での特別枠設定 評価制度連動⭐⭐ 💰 ⏰⏰：目標設定に学習項目必須化、四半期レビューでの進捗確認、成果発表機会の評価組入れ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508906" y="3771900"/>
            <a:ext cx="65535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KPI:CoP継続率90%以上/メンター-メンティ比1:5/認定取得率40%/学習行動の評価反映率100%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4508906" y="4229100"/>
            <a:ext cx="72301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リスク・対応:形式化→四半期ごとの成果物公開義務化/一極集中→3-5名からなる小規模コミュニティ並行支援/モチベーション低下→段階的な達成目標と可視化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71500" y="6467551"/>
            <a:ext cx="2715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⭐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1328623" y="6467551"/>
            <a:ext cx="2715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💰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2218334" y="6467551"/>
            <a:ext cx="2715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⏰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785470" y="6467551"/>
            <a:ext cx="5001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効果大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1542593" y="6467551"/>
            <a:ext cx="6336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経費発生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2432304" y="6467551"/>
            <a:ext cx="6336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時間必要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10264140" y="6439205"/>
            <a:ext cx="14767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AI推進プロジェクト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17" name="Shape 14"/>
          <p:cNvSpPr/>
          <p:nvPr/>
        </p:nvSpPr>
        <p:spPr>
          <a:xfrm>
            <a:off x="10763402" y="-476402"/>
            <a:ext cx="1904695" cy="1904695"/>
          </a:xfrm>
          <a:prstGeom prst="ellipse">
            <a:avLst/>
          </a:prstGeom>
          <a:noFill/>
          <a:ln w="254000">
            <a:solidFill>
              <a:srgbClr val="0066CC">
                <a:alpha val="1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71500" y="1047902"/>
            <a:ext cx="304495" cy="30449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71500" y="1552651"/>
            <a:ext cx="3586277" cy="9628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33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課題6: 測定と評価の難しさ - 現状・原因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4508906" y="2514600"/>
            <a:ext cx="29059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現状:成果が数値で語れず意思決定が停滞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08906" y="2971800"/>
            <a:ext cx="43918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主因:KPI未統一/計測の手間/前後比較の欠落/価値配分の曖昧さ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508906" y="3429000"/>
            <a:ext cx="39346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影響:予算獲得困難/優先順位付け不能/現場の納得感低下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4508906" y="3886200"/>
            <a:ext cx="40297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代表事例:時間削減の推定のみ/品質指標が部門でバラバラ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10264140" y="6439205"/>
            <a:ext cx="14767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AI推進プロジェクト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11" name="Shape 8"/>
          <p:cNvSpPr/>
          <p:nvPr/>
        </p:nvSpPr>
        <p:spPr>
          <a:xfrm>
            <a:off x="10763402" y="-476402"/>
            <a:ext cx="1904695" cy="1904695"/>
          </a:xfrm>
          <a:prstGeom prst="ellipse">
            <a:avLst/>
          </a:prstGeom>
          <a:noFill/>
          <a:ln w="254000">
            <a:solidFill>
              <a:srgbClr val="0066CC">
                <a:alpha val="1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71500" y="1047902"/>
            <a:ext cx="304495" cy="30449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71500" y="1552651"/>
            <a:ext cx="2958084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33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課題6 - 短期対策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71500" y="1986991"/>
            <a:ext cx="3538728" cy="9628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33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（測定と評価の難しさ）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4508906" y="1485900"/>
            <a:ext cx="27724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目的: 軽量でもいいから"測る"を即開始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508906" y="1943100"/>
            <a:ext cx="7230161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具体策: 最小KPIセット定義 ⭐: 3〜5つの核となる指標を設定（作業時間30%削減、品質向上15%、採用率60%）。各部門の代表者との60分ワークショップでコンセンサスを形成。1枚の指標定義シートを作成（指標名・計算方法・収集頻度・目標値） 手動ログ記録 ⏰: Googleフォームやエクセルテンプレートによる簡易記録（1日5分）。週次サマリーを自動生成。各チームに「測定チャンピオン」を1名指名し、データ収集を担保。15分間の記録説明会を実施 Before-After簡易A/B ⭐⏰: 現行プロセスの基準値を文書化（時間・品質・コスト）。サンプルタスクでAIあり/なしの並行処理を実施。標準指標で結果を比較し、シンプルな棒グラフで可視化。比較テンプレートを全チームに配布 パイロットスコアカード ⭐💰: 各パイロットに1枚のビジュアルスコアカードを作成。ベースライン・現状・目標を記載し、週次で更新。赤黄緑の色分けで状況を一目で把握。朝会や週次ミーティングでの共有を義務化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4508906" y="4229100"/>
            <a:ext cx="6620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KPI: ベースライン保有案件比率80%／効果数値化案件70%／スコアカード閲覧率週1回以上90%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4508906" y="4686300"/>
            <a:ext cx="72301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リスク・対応: 指標の"作為"→定義と収集方法の公開・第三者レビュー／現場負荷→自動取得へ3ヶ月以内の移行計画を提示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619049" y="6409944"/>
            <a:ext cx="34838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⭐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690726" y="6409944"/>
            <a:ext cx="34838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💰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2894990" y="6409944"/>
            <a:ext cx="34838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⏰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833018" y="6458407"/>
            <a:ext cx="7671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効果が高い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1904695" y="6458407"/>
            <a:ext cx="9006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経費がかかる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3108960" y="6458407"/>
            <a:ext cx="9006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時間がかかる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10264140" y="6439205"/>
            <a:ext cx="14767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AI推進プロジェクト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18" name="Shape 15"/>
          <p:cNvSpPr/>
          <p:nvPr/>
        </p:nvSpPr>
        <p:spPr>
          <a:xfrm>
            <a:off x="10763402" y="-476402"/>
            <a:ext cx="1904695" cy="1904695"/>
          </a:xfrm>
          <a:prstGeom prst="ellipse">
            <a:avLst/>
          </a:prstGeom>
          <a:noFill/>
          <a:ln w="254000">
            <a:solidFill>
              <a:srgbClr val="0066CC">
                <a:alpha val="1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71500" y="1047902"/>
            <a:ext cx="304495" cy="30449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71500" y="1552651"/>
            <a:ext cx="3834079" cy="9628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33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課題6 測定と評価の難しさ - 中長期対策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4508906" y="1600200"/>
            <a:ext cx="24862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目的: 全社的な価値計測の仕組み化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08906" y="2057400"/>
            <a:ext cx="7230161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具体策: テレメトリ標準化⭐⏰：全AIツールに共通計測SDK実装（利用時間/コマンド頻度/エラー率）、イベントスキーマ統一（JSON形式）、プライバシー設定を含む自動収集の仕組み 分析基盤一元化⭐💰⏰：部門横断データレイク構築（四半期で段階拡張）、リアルタイムETLパイプライン整備、役割別アクセス権管理、マルチテナント分析環境 全社ダッシュボード⭐💰：3階層（経営/部門/現場）の視点別画面、ドリルダウン機能搭載、アラート自動通知、カスタムレポート生成機能、モバイル対応 データ辞書整備⏰：指標定義の標準化文書、部門間で統一された用語集、メタデータ管理システム、バージョン管理と更新プロセス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508906" y="3886200"/>
            <a:ext cx="72301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KPI: 自動計測率（目標90%）/ ダッシュボードMAU（部門責任者100%利用）/ 意思決定までのリードタイム短縮（30日→7日）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4508906" y="4572000"/>
            <a:ext cx="72301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リスク・対応: KPIの形骸化→四半期ごとの見直し会議と現場ヒアリング実施 / 過度な監視懸念→収集目的と利用範囲の明文化、個人特定不能な集計処理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10264140" y="6439205"/>
            <a:ext cx="14767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AI推進プロジェクト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71500" y="6467551"/>
            <a:ext cx="2715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⭐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1594714" y="6467551"/>
            <a:ext cx="2715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💰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2752344" y="6467551"/>
            <a:ext cx="2715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⏰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785470" y="6467551"/>
            <a:ext cx="7671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効果が高い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1809598" y="6467551"/>
            <a:ext cx="9006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経費がかかる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2966314" y="6467551"/>
            <a:ext cx="9006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時間がかかる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17" name="Shape 14"/>
          <p:cNvSpPr/>
          <p:nvPr/>
        </p:nvSpPr>
        <p:spPr>
          <a:xfrm>
            <a:off x="10763402" y="-476402"/>
            <a:ext cx="1904695" cy="1904695"/>
          </a:xfrm>
          <a:prstGeom prst="ellipse">
            <a:avLst/>
          </a:prstGeom>
          <a:noFill/>
          <a:ln w="254000">
            <a:solidFill>
              <a:srgbClr val="0066CC">
                <a:alpha val="1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-90" r="-90" t="0" b="0"/>
          <a:stretch/>
        </p:blipFill>
        <p:spPr>
          <a:xfrm>
            <a:off x="571500" y="1047902"/>
            <a:ext cx="381305" cy="30449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71500" y="1552651"/>
            <a:ext cx="3586277" cy="9628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33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課題7: スキル格差固定化 - 現状・原因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4508906" y="2514600"/>
            <a:ext cx="32104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現状:先行者と後続の差が拡大し固定化の兆候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08906" y="2971800"/>
            <a:ext cx="39346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主因:学習機会の偏在/自己学習依存/マネジャー支援不足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508906" y="3429000"/>
            <a:ext cx="33247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影響:配置の硬直化/若手の停滞/離職意向の上昇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4508906" y="38862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代表事例:同一職種で生産性2倍差/学習時間確保の差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10264140" y="6439205"/>
            <a:ext cx="14767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AI推進プロジェクト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11" name="Shape 8"/>
          <p:cNvSpPr/>
          <p:nvPr/>
        </p:nvSpPr>
        <p:spPr>
          <a:xfrm>
            <a:off x="10763402" y="-476402"/>
            <a:ext cx="1904695" cy="1904695"/>
          </a:xfrm>
          <a:prstGeom prst="ellipse">
            <a:avLst/>
          </a:prstGeom>
          <a:noFill/>
          <a:ln w="254000">
            <a:solidFill>
              <a:srgbClr val="0066CC">
                <a:alpha val="1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-107" r="-107" t="0" b="0"/>
          <a:stretch/>
        </p:blipFill>
        <p:spPr>
          <a:xfrm>
            <a:off x="571500" y="1047902"/>
            <a:ext cx="267005" cy="30449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71500" y="1552651"/>
            <a:ext cx="3834079" cy="9628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33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課題7 スキル格差固定化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71500" y="2421331"/>
            <a:ext cx="1938528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33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- 短期対策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4508906" y="1485900"/>
            <a:ext cx="26005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目的:すばやく最低限の底上げを実現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508906" y="1943100"/>
            <a:ext cx="7230161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具体策: ⭐💰全社スキルアセスメント：四半期ごと30分のオンラインテスト、基礎・応用・実践の3領域で理解度を測定。結果は個人ダッシュボードで可視化し、適切な学習内容を自動推奨 ⭐⭐💰💰⏰レベル別ラーニングパス：初級（基礎概念・簡易操作）、中級（応用技術・業務適用）、上級（最適化・教育者向け）の3段階で構成。各15時間の体系的コンテンツと、5時間の職種別特化モジュール ⭐💰マイクロラーニング：1回5〜15分の動画・クイズ・演習をモバイル対応アプリで配信。朝会前の「朝学」時間を設定し、週3回の短時間学習を習慣化。進捗に応じてポイント付与 ⭐Just-in-timeヒント：社内チャットボットで「#aihelp」タグを付けると即時回答。よくある質問とプロンプト例をチートシート化し、デスクトップ常駐ツールとして提供 ⭐⭐⏰週次オフィスアワー：毎週水曜12-13時に熟練者が質問対応。リモート参加可。録画は検索可能な形で社内ポータルに保管し、FAQ自動更新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4508906" y="4229100"/>
            <a:ext cx="59152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KPI:受講完了率80%以上/初級→中級移行率45%以上/質問対応SLA（4時間以内90%）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4508906" y="4686300"/>
            <a:ext cx="72301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リスク・対応:学習過多→15分単位の細分化/必修は最小限（月2時間）に厳選/現場離れ→実務データと課題を活用した演習設計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10264140" y="6439205"/>
            <a:ext cx="14767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AI推進プロジェクト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12" name="Shape 9"/>
          <p:cNvSpPr/>
          <p:nvPr/>
        </p:nvSpPr>
        <p:spPr>
          <a:xfrm>
            <a:off x="10763402" y="-476402"/>
            <a:ext cx="1904695" cy="1904695"/>
          </a:xfrm>
          <a:prstGeom prst="ellipse">
            <a:avLst/>
          </a:prstGeom>
          <a:noFill/>
          <a:ln w="254000">
            <a:solidFill>
              <a:srgbClr val="0066CC">
                <a:alpha val="1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-50" r="-50" t="0" b="0"/>
          <a:stretch/>
        </p:blipFill>
        <p:spPr>
          <a:xfrm>
            <a:off x="571500" y="1047902"/>
            <a:ext cx="342900" cy="30449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71500" y="1552651"/>
            <a:ext cx="1215238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33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課題7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71500" y="1986991"/>
            <a:ext cx="3176626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33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スキル格差固定化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571500" y="2421331"/>
            <a:ext cx="2300630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33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- 中長期対策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4508906" y="1943100"/>
            <a:ext cx="36676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目的:役割に紐づく能力モデルで格差の持続化を防ぐ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4508906" y="2400300"/>
            <a:ext cx="7230161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具体策: 職種別コンピテンシー体系⭐⏰：役割・等級別に必要なAIスキルを定義（開発・設計・PMなど6職種×4レベル）、年1回見直し 社内認定制度⭐💰：実務課題解決型の認定試験（理論30%・実践70%）、昇格要件に組込み、年4回実施、有効期間2年 計画的ローテーション⭐⏰💰：AI高度活用部門と未活用部門間の半年間の相互交流プログラム、年間30名規模、知見共有会義務化 キャリアラダー整備⭐⏰：AI活用スキルを反映した新キャリアパス（専門軸・マネジメント軸）の明確化と移行支援制度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4508906" y="3771900"/>
            <a:ext cx="55632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KPI:認定保有率70%以上/ローテーション参加率15%/昇格時のスキル適合率90%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4508906" y="4229100"/>
            <a:ext cx="72301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リスク・対応:形式主義→実務課題で評価/不公平感→可視化と申請ルート整備/部門間格差→経営層KPIに組込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0264140" y="6439205"/>
            <a:ext cx="14767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AI推進プロジェクト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13" name="Shape 10"/>
          <p:cNvSpPr/>
          <p:nvPr/>
        </p:nvSpPr>
        <p:spPr>
          <a:xfrm>
            <a:off x="10763402" y="-476402"/>
            <a:ext cx="1904695" cy="1904695"/>
          </a:xfrm>
          <a:prstGeom prst="ellipse">
            <a:avLst/>
          </a:prstGeom>
          <a:noFill/>
          <a:ln w="254000">
            <a:solidFill>
              <a:srgbClr val="0066CC">
                <a:alpha val="1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-50" r="-50" t="0" b="0"/>
          <a:stretch/>
        </p:blipFill>
        <p:spPr>
          <a:xfrm>
            <a:off x="571500" y="1047902"/>
            <a:ext cx="342900" cy="30449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71500" y="1552651"/>
            <a:ext cx="1329538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33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課題8: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71500" y="1986991"/>
            <a:ext cx="3834079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33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変化疲れ - 現状・原因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4508906" y="2514600"/>
            <a:ext cx="34957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現状:同時多発の変革で疲弊しAIに割く余力が不足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508906" y="2971800"/>
            <a:ext cx="4000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主因:施策乱立/周知過多/優先順位の混乱/容量計画の欠如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4508906" y="3429000"/>
            <a:ext cx="22576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影響:参加率低下/離脱/品質低下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4508906" y="3886200"/>
            <a:ext cx="35725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代表事例:研修・ツール導入が重複/現場日程が逼迫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10264140" y="6439205"/>
            <a:ext cx="14767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AI推進プロジェクト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12" name="Shape 9"/>
          <p:cNvSpPr/>
          <p:nvPr/>
        </p:nvSpPr>
        <p:spPr>
          <a:xfrm>
            <a:off x="10763402" y="-476402"/>
            <a:ext cx="1904695" cy="1904695"/>
          </a:xfrm>
          <a:prstGeom prst="ellipse">
            <a:avLst/>
          </a:prstGeom>
          <a:noFill/>
          <a:ln w="254000">
            <a:solidFill>
              <a:srgbClr val="0066CC">
                <a:alpha val="1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-50" r="-50" t="0" b="0"/>
          <a:stretch/>
        </p:blipFill>
        <p:spPr>
          <a:xfrm>
            <a:off x="571500" y="1047902"/>
            <a:ext cx="342900" cy="30449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71500" y="1552651"/>
            <a:ext cx="2748686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33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課題8 変化疲れ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71500" y="1986991"/>
            <a:ext cx="1938528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33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- 短期対策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4508906" y="1485900"/>
            <a:ext cx="22960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目的:変化の負荷を即時に下げる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508906" y="1943100"/>
            <a:ext cx="7230161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具体策: 90日変化カレンダー ⭐ ⏰：全社で3ヶ月先までの施策・研修・ツール導入をカレンダー可視化。部門ごとに色分け。週1回更新、SharePointで全社共有。重複イベント自動検知でアラート通知。 変更凍結ウィンドウ ⭐ 💰：月に1週間を「AI学習週間」として他の変革施策を停止。四半期に1回「AI集中実装週間」として日常業務を最小限に。承認済み「緊急優先事項」のみ例外として許可。 施策のバッチ化 ⏰：同様の目的を持つ施策を月1回にまとめて実施。小さな施策は「AIイノベーションデー」として一括実施。導入計画は最小2週間前に共有。評価・フィードバックも同時に収集。 周知の簡素化：全通知をA4一枚のテンプレートに統一（目的・対象者・必要行動・期限・問合先）。社内ポータルでの一元管理と検索機能。「アクション不要」の明示で安心感提供。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4508906" y="4000500"/>
            <a:ext cx="72301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KPI:参加率（前四半期比+10%）／サーベイ疲労スコア（30%減）／会議・研修時間の削減（月あたり3時間減）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4508906" y="4686300"/>
            <a:ext cx="72301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リスク・対応:速度低下→最重要な灯台案件は優先指定枠確保／周知不足→週次リマインダの自動化と部門リーダーへの事前共有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71500" y="6467551"/>
            <a:ext cx="10716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⭐：効果が高い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1680667" y="6467551"/>
            <a:ext cx="12051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💰：経費がかかる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2923337" y="6467551"/>
            <a:ext cx="12051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⏰：時間がかかる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10264140" y="6439205"/>
            <a:ext cx="14767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AI推進プロジェクト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15" name="Shape 12"/>
          <p:cNvSpPr/>
          <p:nvPr/>
        </p:nvSpPr>
        <p:spPr>
          <a:xfrm>
            <a:off x="10763402" y="-476402"/>
            <a:ext cx="1904695" cy="1904695"/>
          </a:xfrm>
          <a:prstGeom prst="ellipse">
            <a:avLst/>
          </a:prstGeom>
          <a:noFill/>
          <a:ln w="254000">
            <a:solidFill>
              <a:srgbClr val="0066CC">
                <a:alpha val="1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-90" r="-90" t="0" b="0"/>
          <a:stretch/>
        </p:blipFill>
        <p:spPr>
          <a:xfrm>
            <a:off x="571500" y="1047902"/>
            <a:ext cx="381305" cy="30449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71500" y="1552651"/>
            <a:ext cx="3767328" cy="9628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33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課題8 変化疲れ - 中長期対策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4508906" y="1943100"/>
            <a:ext cx="33531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目的:変化の"ポートフォリオ管理"で持続可能に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08906" y="2400300"/>
            <a:ext cx="723016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具体策: 変革ガバナンス会議 ⭐ ⏰：月次開催＋四半期役員レビュー、各部門代表参加、変革施策の優先度判定と進捗監視、決定事項を全社公開 年間ロードマップ ⭐⭐ ⏰：全社施策の可視化、四半期ごと更新、影響度/労力の色分け、施策間依存関係のマッピング、共有スペースに電子掲示 キャパシティ計画 ⭐ 💰 ⏰：部門別「変革予算」（工数）の割当、月次実績対比、主要施策間の休息期間の確保、標準工数モデルの整備 カド番検知 ⭐⭐ 💰 ⏰：早期警告指標ダッシュボード、月次パルスサーベイ、チーム健全性指標の追跡、閾値超過時のエスカレーションパス確立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508906" y="4000500"/>
            <a:ext cx="4791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KPI:同時進行施策数の上限遵守/優先度見直し回数/燃え尽き指標改善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4508906" y="4457700"/>
            <a:ext cx="5705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リスク・対応:形式化→意思決定データの定期公開/現場乖離→各部門リードの参加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71500" y="6439205"/>
            <a:ext cx="3054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⭐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1714500" y="6439205"/>
            <a:ext cx="3054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💰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3009290" y="6439205"/>
            <a:ext cx="3054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⏰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809244" y="6439205"/>
            <a:ext cx="8860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効果が高い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1952244" y="6439205"/>
            <a:ext cx="10387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経費がかかる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3247034" y="6439205"/>
            <a:ext cx="10387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時間がかかる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10264140" y="6439205"/>
            <a:ext cx="14767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AI推進プロジェクト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17" name="Shape 14"/>
          <p:cNvSpPr/>
          <p:nvPr/>
        </p:nvSpPr>
        <p:spPr>
          <a:xfrm>
            <a:off x="10763402" y="-476402"/>
            <a:ext cx="1904695" cy="1904695"/>
          </a:xfrm>
          <a:prstGeom prst="ellipse">
            <a:avLst/>
          </a:prstGeom>
          <a:noFill/>
          <a:ln w="254000">
            <a:solidFill>
              <a:srgbClr val="0066CC">
                <a:alpha val="1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-90" r="-90" t="0" b="0"/>
          <a:stretch/>
        </p:blipFill>
        <p:spPr>
          <a:xfrm>
            <a:off x="571500" y="1047902"/>
            <a:ext cx="381305" cy="30449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71500" y="1552651"/>
            <a:ext cx="3586277" cy="9628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33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課題9: 過度依存と思考停止 - 現状・原因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4508906" y="2514600"/>
            <a:ext cx="33439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現状:AI出力に盲従し思考停止や品質事故が発生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08906" y="2971800"/>
            <a:ext cx="4686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主因:クリティカルシンキング不足/レビュー省略/説明可能性の欠如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508906" y="3429000"/>
            <a:ext cx="33247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影響:誤情報の拡散/顧客信頼低下/事故コスト増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4508906" y="3886200"/>
            <a:ext cx="28675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代表事例:コード/文書の丸呑み/引用不備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10264140" y="6439205"/>
            <a:ext cx="14767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AI推進プロジェクト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11" name="Shape 8"/>
          <p:cNvSpPr/>
          <p:nvPr/>
        </p:nvSpPr>
        <p:spPr>
          <a:xfrm>
            <a:off x="10763402" y="-476402"/>
            <a:ext cx="1904695" cy="1904695"/>
          </a:xfrm>
          <a:prstGeom prst="ellipse">
            <a:avLst/>
          </a:prstGeom>
          <a:noFill/>
          <a:ln w="254000">
            <a:solidFill>
              <a:srgbClr val="0066CC">
                <a:alpha val="1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71500" y="1047902"/>
            <a:ext cx="304495" cy="30449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71500" y="1552651"/>
            <a:ext cx="3834079" cy="9628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33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課題9 過度依存と思考停止 - 短期対策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4508906" y="1828800"/>
            <a:ext cx="45436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目的:使い方の"守り"を即導入して、AIへの盲目的依存を防止する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08906" y="2286000"/>
            <a:ext cx="723016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具体策: ⭐⏰AI-offデー: 月2回の「AI検証日」を設定。AI生成物を人間の視点で検証（9:30-10:30全社一斉実施） ⭐⏰二重化レビュー: コードレビュー時に人間+AIの両方でチェック（CodeWhisperer/ChatGPTでコード脆弱性診断）、成果物提出前24h前までに義務化 ⭐チェックリスト: 5項目の批判的思考確認シート（論理矛盾/事実確認/極端例/代替案/リスク）をイントラに設置、使用前に必須確認 ⭐💰⏰レッドチーム: 全プロジェクトに「異論提示担当」を1名配置、AI出力の盲点や欠陥を意図的に指摘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508906" y="3886200"/>
            <a:ext cx="69156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KPI:AI起因不具合件数50%減/二重レビュー実施率90%/チェックリスト利用率75%/出典明記率100%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4508906" y="4343400"/>
            <a:ext cx="72301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リスク・対応:業務停滞→高リスク領域（契約書/設計書/顧客提案）のみ対象化/形骸化→月次ランダム監査（10%抽出）で実効性確保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71500" y="5572354"/>
            <a:ext cx="2715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⭐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571500" y="5810098"/>
            <a:ext cx="2715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💰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571500" y="6048756"/>
            <a:ext cx="2715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⏰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813816" y="5572354"/>
            <a:ext cx="10341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効果が高い施策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813816" y="5810098"/>
            <a:ext cx="11676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経費がかかる施策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813816" y="6048756"/>
            <a:ext cx="11676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時間がかかる施策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10264140" y="6439205"/>
            <a:ext cx="14767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AI推進プロジェクト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17" name="Shape 14"/>
          <p:cNvSpPr/>
          <p:nvPr/>
        </p:nvSpPr>
        <p:spPr>
          <a:xfrm>
            <a:off x="10763402" y="-476402"/>
            <a:ext cx="1904695" cy="1904695"/>
          </a:xfrm>
          <a:prstGeom prst="ellipse">
            <a:avLst/>
          </a:prstGeom>
          <a:noFill/>
          <a:ln w="254000">
            <a:solidFill>
              <a:srgbClr val="0066CC">
                <a:alpha val="1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71500" y="1047902"/>
            <a:ext cx="304495" cy="30449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71500" y="1552651"/>
            <a:ext cx="3834079" cy="9628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33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課題9 過度依存と思考停止 - 中長期対策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4508906" y="1943100"/>
            <a:ext cx="27532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目的:人間中心の判断プロセスを制度化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08906" y="2400300"/>
            <a:ext cx="723016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具体策: Human-in-the-loop方針 ⭐⏰: 全部門での意思決定ワークフロー変更（四半期で実施）、高リスク案件は必ず人間による最終承認を組み込み、判断基準書を作成・公開 推論力トレーニング 💰⏰: 半年に1回の全社研修、事例ベース学習教材の提供、クリティカルシンキングワークショップ（月1回）、AI出力分析演習 説明性ツール導入 ⭐💰⏰: AI判断プロセス可視化ダッシュボードの全社展開、重要意思決定の根拠トレース機能の実装、根拠ソース検証システムの開発 監査・教育ループ ⭐⏰: 四半期ごとのサンプリング監査（5%抽出）、結果に基づく教育内容の改善、再発防止策のデータベース化と水平展開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508906" y="4000500"/>
            <a:ext cx="40297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KPI:重大事故ゼロ/監査適合率/説明可能性レポート提出率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4508906" y="4457700"/>
            <a:ext cx="50868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リスク・対応:過規制→リスクベース適用/コスト増→自動化と優先度設計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10264140" y="6439205"/>
            <a:ext cx="14767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AI推進プロジェクト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71500" y="6467551"/>
            <a:ext cx="2715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⭐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1594714" y="6467551"/>
            <a:ext cx="2715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💰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2752344" y="6467551"/>
            <a:ext cx="2715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⏰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785470" y="6467551"/>
            <a:ext cx="7671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効果が高い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1809598" y="6467551"/>
            <a:ext cx="9006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経費が掛かる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2966314" y="6467551"/>
            <a:ext cx="9006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時間がかかる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17" name="Shape 14"/>
          <p:cNvSpPr/>
          <p:nvPr/>
        </p:nvSpPr>
        <p:spPr>
          <a:xfrm>
            <a:off x="10763402" y="-476402"/>
            <a:ext cx="1904695" cy="1904695"/>
          </a:xfrm>
          <a:prstGeom prst="ellipse">
            <a:avLst/>
          </a:prstGeom>
          <a:noFill/>
          <a:ln w="254000">
            <a:solidFill>
              <a:srgbClr val="0066CC">
                <a:alpha val="1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71500" y="1047902"/>
            <a:ext cx="304495" cy="30449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71500" y="1552651"/>
            <a:ext cx="1548079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33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課題10: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71500" y="1986991"/>
            <a:ext cx="3167482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33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プライバシー不安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571500" y="2421331"/>
            <a:ext cx="2300630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33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- 現状・原因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4508906" y="2514600"/>
            <a:ext cx="32104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現状:データ持ち出しや漏洩懸念で利用が停滞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4508906" y="2971800"/>
            <a:ext cx="46963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主因:取扱いルールの不明瞭/学習への二次利用懸念/ツール設定不安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4508906" y="3429000"/>
            <a:ext cx="50959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影響:個人・顧客データの扱いがボトルネック/現場がサンドボックス回避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4508906" y="3886200"/>
            <a:ext cx="44869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代表事例:提示データのマスキング不徹底/持出し禁止で検証不能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0264140" y="6439205"/>
            <a:ext cx="14767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AI推進プロジェクト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13" name="Shape 10"/>
          <p:cNvSpPr/>
          <p:nvPr/>
        </p:nvSpPr>
        <p:spPr>
          <a:xfrm>
            <a:off x="10763402" y="-476402"/>
            <a:ext cx="1904695" cy="1904695"/>
          </a:xfrm>
          <a:prstGeom prst="ellipse">
            <a:avLst/>
          </a:prstGeom>
          <a:noFill/>
          <a:ln w="254000">
            <a:solidFill>
              <a:srgbClr val="0066CC">
                <a:alpha val="1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71500" y="1047902"/>
            <a:ext cx="304495" cy="30449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71500" y="1552651"/>
            <a:ext cx="3672230" cy="9628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33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課題10 プライバシー不安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71500" y="2421331"/>
            <a:ext cx="1938528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33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- 短期対策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4508906" y="1790395"/>
            <a:ext cx="21433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目的:すぐに安全・安心を確保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508906" y="2210105"/>
            <a:ext cx="7230161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具体策: セーフモード既定値 ⭐：全AIツールを安全優先モードにプリセット、部門別リスクレベル設定（週次更新）、社外送信禁止フラグをデフォルト化 ローカル推論環境 ⭐💰⏰：エアギャップ環境でのLLM実行環境整備（4週間以内）、機密データ用社内専用モデル提供、個人PCでのオフライン推論キット配布 マスキング済データ ⭐💰：自動PII検出ツール即時展開（翌営業日対応）、テスト用匿名化データセット（10業種分）提供、マスキング専門チームへの即時支援要請ルート 簡易DPIA ⭐：5分で完了する影響評価シート（エクセル・Web両対応）、法務部ホットライン（2時間以内回答）、リスクレベル自動判定機能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4508906" y="4000500"/>
            <a:ext cx="69247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KPI:事故件数ゼロ/安心度サーベイ（80%以上）/安全設定の適用率（100%）/ホットライン対応時間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4508906" y="4419295"/>
            <a:ext cx="72301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リスク・対応:過信→隔週のリスク教育（15分×全社必須）/利便性低下→ユースケース別の設定プリセット（初期20種類）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10264140" y="6439205"/>
            <a:ext cx="14767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AI推進プロジェクト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571500" y="6467551"/>
            <a:ext cx="9674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⭐ 効果が高い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1577340" y="6467551"/>
            <a:ext cx="11009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💰 経費がかかる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2716682" y="6467551"/>
            <a:ext cx="11009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⏰ 時間がかかる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15" name="Shape 12"/>
          <p:cNvSpPr/>
          <p:nvPr/>
        </p:nvSpPr>
        <p:spPr>
          <a:xfrm>
            <a:off x="10763402" y="-476402"/>
            <a:ext cx="1904695" cy="1904695"/>
          </a:xfrm>
          <a:prstGeom prst="ellipse">
            <a:avLst/>
          </a:prstGeom>
          <a:noFill/>
          <a:ln w="254000">
            <a:solidFill>
              <a:srgbClr val="0066CC">
                <a:alpha val="1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71500" y="1047902"/>
            <a:ext cx="304495" cy="30449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71500" y="1552651"/>
            <a:ext cx="1424635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33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課題10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71500" y="1986991"/>
            <a:ext cx="3167482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33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プライバシー不安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571500" y="2421331"/>
            <a:ext cx="2300630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33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- 中長期対策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4508906" y="1943100"/>
            <a:ext cx="30577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目的:プライバシー・バイ・デザインの定着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4508906" y="2400300"/>
            <a:ext cx="7230161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具体策: ⭐⏰データ分類体系：4段階（機密/社内限定/公開可/匿名）の分類基準を策定・全社データに適用・メタデータタグ付与 💰⏰同意管理システム：データ用途別の同意取得・管理・撤回フロー整備・追跡可能なデータ系譜管理・顧客向けポータル ⭐💰権限管理基盤：ロールベースアクセス制御・Just-In-Time権限付与・定期棚卸しプロセス・異常検知アラート ⭐💰プライバシー強化技術：自動マスキング・データローカライゼーション・プライバシー影響評価自動化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4508906" y="3771900"/>
            <a:ext cx="57817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KPI:分類済みデータ比率 90%以上/権限逸脱インシデントゼロ/監査適合率 95%以上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4508906" y="4229100"/>
            <a:ext cx="72301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リスク・対応:手続き過多→段階的自動化とワンクリックテンプレート化/現場回避→専任サポート窓口と日次伴走支援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0264140" y="6439205"/>
            <a:ext cx="14767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AI推進プロジェクト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13" name="Shape 10"/>
          <p:cNvSpPr/>
          <p:nvPr/>
        </p:nvSpPr>
        <p:spPr>
          <a:xfrm>
            <a:off x="10763402" y="-476402"/>
            <a:ext cx="1904695" cy="1904695"/>
          </a:xfrm>
          <a:prstGeom prst="ellipse">
            <a:avLst/>
          </a:prstGeom>
          <a:noFill/>
          <a:ln w="254000">
            <a:solidFill>
              <a:srgbClr val="0066CC">
                <a:alpha val="1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-50" r="-50" t="0" b="0"/>
          <a:stretch/>
        </p:blipFill>
        <p:spPr>
          <a:xfrm>
            <a:off x="571500" y="1047902"/>
            <a:ext cx="342900" cy="30449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71500" y="1552651"/>
            <a:ext cx="3653028" cy="9628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33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課題11: ROI疑念 - 現状・原因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4508906" y="2514600"/>
            <a:ext cx="35149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現状:費用先行で効果が不透明、投資承認が止まる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08906" y="2971800"/>
            <a:ext cx="43918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主因:事前価値仮説不明/便益の算定法不統一/コスト過少見積り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508906" y="3429000"/>
            <a:ext cx="31720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影響:予算化遅延/優先順位の錯誤/経営の懐疑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4508906" y="3886200"/>
            <a:ext cx="34006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代表事例:PoC止まり/全社横展開に踏み出せない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10264140" y="6439205"/>
            <a:ext cx="14767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AI推進プロジェクト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11" name="Shape 8"/>
          <p:cNvSpPr/>
          <p:nvPr/>
        </p:nvSpPr>
        <p:spPr>
          <a:xfrm>
            <a:off x="10763402" y="-476402"/>
            <a:ext cx="1904695" cy="1904695"/>
          </a:xfrm>
          <a:prstGeom prst="ellipse">
            <a:avLst/>
          </a:prstGeom>
          <a:noFill/>
          <a:ln w="254000">
            <a:solidFill>
              <a:srgbClr val="0066CC">
                <a:alpha val="1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-50" r="-50" t="0" b="0"/>
          <a:stretch/>
        </p:blipFill>
        <p:spPr>
          <a:xfrm>
            <a:off x="571500" y="1047902"/>
            <a:ext cx="342900" cy="30449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71500" y="1552651"/>
            <a:ext cx="1424635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33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課題11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71500" y="1986991"/>
            <a:ext cx="1643177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33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ROI疑念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571500" y="2421331"/>
            <a:ext cx="1938528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33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- 短期対策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4508906" y="1714500"/>
            <a:ext cx="19915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目的:小さく早く価値を証明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4508906" y="2171700"/>
            <a:ext cx="7230161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具体策: 1ページビジネスケース ⭐：「課題→解決策→コスト→効果」の4象限テンプレート、30分で作成可能な事前計算式搭載、具体的数値目標（例：30%時間削減）を明記、イントラネットからダウンロード可 価値仮説テンプレート ⭐：「もし〜ならば〜になる」形式で成果を予測、AI活用ケース別のドロップダウン選択式、検証期間（2-4週間）と検証方法を明示、仮説の成功基準を数値で設定 即時可視化スコアボード ⭐ 💰 ⏰：Power BI/Tableauによるリアルタイム指標、部門・プロジェクト別の進捗状況を色分け表示、全社ポータルからアクセス可能、プロジェクト管理ツールと連携自動更新 週次便益積み上げ：金曜15分の実績報告セッション、簡易Webフォームで時間・コスト削減を報告、部門・全社レベルに自動集計、月曜全社メールで先週の成果共有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4508906" y="4229100"/>
            <a:ext cx="41632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KPI:実現便益(円/時間)/承認リードタイム/PoC→本番転換率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4508906" y="4686300"/>
            <a:ext cx="41815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リスク・対応:過大評価→第三者レビュー/算定根拠の標準化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571500" y="6467551"/>
            <a:ext cx="9674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⭐ 効果が高い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1577340" y="6467551"/>
            <a:ext cx="11009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💰 経費がかかる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2716682" y="6467551"/>
            <a:ext cx="11009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⏰ 時間がかかる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10264140" y="6439205"/>
            <a:ext cx="14767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AI推進プロジェクト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16" name="Shape 13"/>
          <p:cNvSpPr/>
          <p:nvPr/>
        </p:nvSpPr>
        <p:spPr>
          <a:xfrm>
            <a:off x="10763402" y="-476402"/>
            <a:ext cx="1904695" cy="1904695"/>
          </a:xfrm>
          <a:prstGeom prst="ellipse">
            <a:avLst/>
          </a:prstGeom>
          <a:noFill/>
          <a:ln w="254000">
            <a:solidFill>
              <a:srgbClr val="0066CC">
                <a:alpha val="1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-50" r="-50" t="0" b="0"/>
          <a:stretch/>
        </p:blipFill>
        <p:spPr>
          <a:xfrm>
            <a:off x="571500" y="1047902"/>
            <a:ext cx="342900" cy="30449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71500" y="1552651"/>
            <a:ext cx="1424635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33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課題11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71500" y="1986991"/>
            <a:ext cx="3758184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33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ROI疑念 - 中長期対策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4508906" y="1600200"/>
            <a:ext cx="24487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目的:企業全体で一貫した価値管理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508906" y="2057400"/>
            <a:ext cx="7230161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具体策: ポートフォリオ管理 ⭐ ⏰: 四半期ごとのAI案件評価会議（リスク/効果マトリクス）、部門横断投資配分比率設定、全社統一の評価プロセス導入、投資効果モニタリングダッシュボード 標準ROIモデル ⭐ 💰 ⏰: 直接効果（工数削減/品質向上）と間接効果（社員満足度/新規収益）の定量化手法統一、3年間のROI算定テンプレート、効果発現タイムライン可視化、感度分析ツール TCO算定 💰 ⏰: 初期開発費/運用保守費/ライセンス費/トレーニング費/インフラ費用を含む5年間TCO計算ツール、部門間コスト分担モデル、ベンダー比較評価フレームワーク 効果レビュー・投資基準 ⭐ ⏰: 経営会議での年次効果レビュー制度、継続投資判断基準（利用率/ROI/戦略適合性）、改善サイクル確立（KGI/KPI達成度に基づく予算配分見直し）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4508906" y="4114800"/>
            <a:ext cx="65343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KPI:ポートフォリオROI 120%以上/予実差±15%以内/継続採択率80%以上/TCO可視化率100%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4508906" y="4572000"/>
            <a:ext cx="72301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リスク・対応:数字至上主義→定性価値も併記/短期偏重→長期KPI（顧客満足度/社員定着率など）を経営評価に組込み/分析過多→シンプルな意思決定プロセスの確立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10264140" y="6439205"/>
            <a:ext cx="14767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AI推進プロジェクト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571500" y="6467551"/>
            <a:ext cx="2715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⭐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1452067" y="6467551"/>
            <a:ext cx="2715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💰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2332634" y="6467551"/>
            <a:ext cx="2715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⏰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776326" y="6467551"/>
            <a:ext cx="6336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高い効果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1656893" y="6467551"/>
            <a:ext cx="6336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コスト大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2537460" y="6467551"/>
            <a:ext cx="9006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時間を要する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18" name="Shape 15"/>
          <p:cNvSpPr/>
          <p:nvPr/>
        </p:nvSpPr>
        <p:spPr>
          <a:xfrm>
            <a:off x="10763402" y="-476402"/>
            <a:ext cx="1904695" cy="1904695"/>
          </a:xfrm>
          <a:prstGeom prst="ellipse">
            <a:avLst/>
          </a:prstGeom>
          <a:noFill/>
          <a:ln w="254000">
            <a:solidFill>
              <a:srgbClr val="0066CC">
                <a:alpha val="1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-50" r="-50" t="0" b="0"/>
          <a:stretch/>
        </p:blipFill>
        <p:spPr>
          <a:xfrm>
            <a:off x="571500" y="1047902"/>
            <a:ext cx="228600" cy="30449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71500" y="1552651"/>
            <a:ext cx="3682289" cy="9628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33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課題12 暗黙知の形式知化 - 現状・原因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4508906" y="2514600"/>
            <a:ext cx="29059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現状:ベテランのコツが属人化し再現困難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08906" y="2971800"/>
            <a:ext cx="42391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主因:記録文化の不足/ツール・型の未整備/時間確保の難しさ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508906" y="3429000"/>
            <a:ext cx="33247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影響:品質ばらつき/教育コスト増/スケール不能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4508906" y="3886200"/>
            <a:ext cx="41440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代表事例:神Excel/口伝のみ/成功プロンプトが共有されない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10264140" y="6439205"/>
            <a:ext cx="14767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AI推進プロジェクト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11" name="Shape 8"/>
          <p:cNvSpPr/>
          <p:nvPr/>
        </p:nvSpPr>
        <p:spPr>
          <a:xfrm>
            <a:off x="10763402" y="-476402"/>
            <a:ext cx="1904695" cy="1904695"/>
          </a:xfrm>
          <a:prstGeom prst="ellipse">
            <a:avLst/>
          </a:prstGeom>
          <a:noFill/>
          <a:ln w="254000">
            <a:solidFill>
              <a:srgbClr val="0066CC">
                <a:alpha val="1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71500" y="1047902"/>
            <a:ext cx="304495" cy="30449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71500" y="1552651"/>
            <a:ext cx="3682289" cy="9628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33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課題12 暗黙知の形式知化 - 短期対策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4508906" y="2057400"/>
            <a:ext cx="21342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目的:知を素早く"掬い上げる"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08906" y="2514600"/>
            <a:ext cx="7230161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具体策: • ライトニングトーク ⭐ - 週1回15分、各部署で成功事例/プロンプト共有セッション実施 - 毎回3名が5分ずつ発表、質疑応答含む • ペア作業録画 ⭐ ⏰ - ベテランAI活用シーンを月2回、30分ずつ録画保存 - 解説音声付きでSharePointに格納、索引化 • プロンプト・スニペット集 ⭐ - 標準テンプレートと成功例を社内GitHubにコミット - 分野・目的別にタグ付け、コメント機能で改善提案 • 意思決定ログ化 💰 - チャットツール内の重要判断をBotが自動抽出 - 理由・根拠・考慮点を含めて構造化保存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508906" y="3886200"/>
            <a:ext cx="35625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KPI:生成アセット数/再利用率/検索ヒット→活用率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4508906" y="4343400"/>
            <a:ext cx="55531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リスク・対応:低品質集積→レビュー担当配置/過負荷→収集フォーマット簡素化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10264140" y="6439205"/>
            <a:ext cx="14767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AI推進プロジェクト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11" name="Shape 8"/>
          <p:cNvSpPr/>
          <p:nvPr/>
        </p:nvSpPr>
        <p:spPr>
          <a:xfrm>
            <a:off x="10763402" y="-476402"/>
            <a:ext cx="1904695" cy="1904695"/>
          </a:xfrm>
          <a:prstGeom prst="ellipse">
            <a:avLst/>
          </a:prstGeom>
          <a:noFill/>
          <a:ln w="254000">
            <a:solidFill>
              <a:srgbClr val="0066CC">
                <a:alpha val="1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71500" y="1047902"/>
            <a:ext cx="304495" cy="30449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71500" y="1552651"/>
            <a:ext cx="3682289" cy="9628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33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課題12 暗黙知の形式知化 - 中長期対策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4508906" y="1714500"/>
            <a:ext cx="24487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目的:知識資産を循環させる仕組み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08906" y="2171700"/>
            <a:ext cx="7230161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具体策: ⭐ 💰 ⏰ ナレッジグラフ: 概念間の関係性をノード・エッジで可視化。専門家インタビュー（5回/四半期）→関係抽出→オントロジー設計→Neo4jでグラフDB構築 ⭐ 💰 ⏰ 社内Wiki×検索: Confluenceベース構築。全文検索エンジン（Elasticsearch）連携。月次コンテンツ監査と貢献者表彰（MVP選出）。アクセス解析でナレッジギャップを特定 ⭐ ⏰ 分類体系(タクソノミ): 3層構造（大分類15項目・中分類50項目・小分類150項目）。四半期毎に検索ログ分析による改善。全コンテンツに統一タグ付与を義務化 ⭐ 💰 ナレッジスチュワード: 各部門から1名任命（業務時間10%割当）。月次レビュー会議で品質管理。専門知識領域のキュレーションと更新促進を担当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508906" y="4000500"/>
            <a:ext cx="55348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KPI:ナレッジMAU(月80%達成)/貢献件数(四半期100件)/検索→解決率(70%以上)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4508906" y="4457700"/>
            <a:ext cx="72301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リスク・対応:陳腐化→6ヶ月未更新コンテンツ自動フラグ/更新SLA(48時間)/分散→中央管理のタグ付与ガイドライン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10264140" y="6439205"/>
            <a:ext cx="14767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AI推進プロジェクト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11" name="Shape 8"/>
          <p:cNvSpPr/>
          <p:nvPr/>
        </p:nvSpPr>
        <p:spPr>
          <a:xfrm>
            <a:off x="10763402" y="-476402"/>
            <a:ext cx="1904695" cy="1904695"/>
          </a:xfrm>
          <a:prstGeom prst="ellipse">
            <a:avLst/>
          </a:prstGeom>
          <a:noFill/>
          <a:ln w="254000">
            <a:solidFill>
              <a:srgbClr val="0066CC">
                <a:alpha val="1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-50" r="-50" t="0" b="0"/>
          <a:stretch/>
        </p:blipFill>
        <p:spPr>
          <a:xfrm>
            <a:off x="571500" y="1047902"/>
            <a:ext cx="342900" cy="30449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71500" y="1552651"/>
            <a:ext cx="3796589" cy="9628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33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課題13: 組織の慣性力 - 現状・原因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4508906" y="2514600"/>
            <a:ext cx="30577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現状:前例踏襲や承認階層の厚さで進まない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08906" y="2971800"/>
            <a:ext cx="34774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主因:権限移譲不足/責任の曖昧さ/ガバナンス硬直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508906" y="3429000"/>
            <a:ext cx="27148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影響:スピード低下/機会損失/士気低下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4508906" y="3886200"/>
            <a:ext cx="35725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代表事例:稟議が多段/小規模実験も規程に阻まれる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10264140" y="6439205"/>
            <a:ext cx="14767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AI推進プロジェクト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11" name="Shape 8"/>
          <p:cNvSpPr/>
          <p:nvPr/>
        </p:nvSpPr>
        <p:spPr>
          <a:xfrm>
            <a:off x="10763402" y="-476402"/>
            <a:ext cx="1904695" cy="1904695"/>
          </a:xfrm>
          <a:prstGeom prst="ellipse">
            <a:avLst/>
          </a:prstGeom>
          <a:noFill/>
          <a:ln w="254000">
            <a:solidFill>
              <a:srgbClr val="0066CC">
                <a:alpha val="1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-50" r="-50" t="0" b="0"/>
          <a:stretch/>
        </p:blipFill>
        <p:spPr>
          <a:xfrm>
            <a:off x="571500" y="1047902"/>
            <a:ext cx="228600" cy="30449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71500" y="1552651"/>
            <a:ext cx="3682289" cy="9628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33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課題13 組織の慣性力 - 短期対策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4508906" y="1943100"/>
            <a:ext cx="28959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目的:進めるための"抜け道"を正式に作る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08906" y="2400300"/>
            <a:ext cx="723016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具体策: • 経営コミット文書の発行 ⭐ 　- 様式：全社向け1ページ宣言文、課題と施策一覧 　- 内容：「リーダーシップ &gt; ルール」の行動原則の明示 • アンブロッカーSWATチーム設置 ⭐ 💰 　- 構成：役員1名＋権限委譲された現場メンバー5名 　- 機能：1営業日以内のブロッカー解消を権限付与 • 30-60-90日短期パイロット ⭐ ⏰ 　- 期間限定実験権限付与（規定一時適用除外） 　- 毎月レビューでGo/No-Go判断の迅速化 • 軽量例外プロセスの整備 💰 ⏰ 　- AI案件特例申請フォーム（1ページ） 　- エスカレーションパスの明確化（24h対応）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508906" y="4000500"/>
            <a:ext cx="4325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KPI:承認リードタイム/ブロッカー解消件数/パイロット完了率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4508906" y="4457700"/>
            <a:ext cx="46296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リスク・対応:コンプラ逸脱→リスク許容範囲の明文化/透明な記録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10264140" y="6439205"/>
            <a:ext cx="14767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AI推進プロジェクト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11" name="Shape 8"/>
          <p:cNvSpPr/>
          <p:nvPr/>
        </p:nvSpPr>
        <p:spPr>
          <a:xfrm>
            <a:off x="10763402" y="-476402"/>
            <a:ext cx="1904695" cy="1904695"/>
          </a:xfrm>
          <a:prstGeom prst="ellipse">
            <a:avLst/>
          </a:prstGeom>
          <a:noFill/>
          <a:ln w="254000">
            <a:solidFill>
              <a:srgbClr val="0066CC">
                <a:alpha val="1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-90" r="-90" t="0" b="0"/>
          <a:stretch/>
        </p:blipFill>
        <p:spPr>
          <a:xfrm>
            <a:off x="571500" y="1047902"/>
            <a:ext cx="381305" cy="30449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71500" y="1552651"/>
            <a:ext cx="1424635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33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課題13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71500" y="1986991"/>
            <a:ext cx="2453335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33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組織の慣性力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571500" y="2421331"/>
            <a:ext cx="2300630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33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- 中長期対策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4508906" y="1600200"/>
            <a:ext cx="26005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目的:俊敏に動ける運営モデルに転換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4508906" y="2057400"/>
            <a:ext cx="7230161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具体策: RACI責任マトリクス整備 ⭐：AI関連意思決定の責任者(R)・承認者(A)・相談先(C)・情報共有先(I)を明確化。各部門から担当者を選定し四半期ごとに更新。迅速な決裁ルートを図示化し社内ポータルに掲載。 AIガバナンス評議会 ⭐⏰：経営層1名、事業部門代表3名、IT部門1名、法務・リスク管理1名で構成。月次開催で戦略見直し、隔週でAI案件の承認実施。事前審査は2営業日内完了の迅速審査を実現。 恒常資金の確保 ⭐💰：年間予算の3%をAI推進枠として確保。部門横断の「イノベーション基金」創設。ROI実績に応じた追加資金自動配分の仕組み導入。四半期ごとの成果確認と資源再配分。 部門OKRとの連動 ⭐⏰：全部門の四半期OKRにAI活用KRを最低1つ設定必須化。部門間のAI活用連携目標を共有OKRとして設定。月次の進捗確認会と全社共有。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4508906" y="4114800"/>
            <a:ext cx="66586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KPI:意思決定リードタイム50%削減／横断コラボ案件年間15件以上／AI関連OKR達成率80%以上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4508906" y="4572000"/>
            <a:ext cx="72301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リスク・対応:ガバナンス肥大化→「5ページ以内」の軽量文書原則／半年ごとの無用ルール廃止レビュー実施／利用者フィードバックによる継続改善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0264140" y="6439205"/>
            <a:ext cx="14767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AI推進プロジェクト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13" name="Shape 10"/>
          <p:cNvSpPr/>
          <p:nvPr/>
        </p:nvSpPr>
        <p:spPr>
          <a:xfrm>
            <a:off x="10763402" y="-476402"/>
            <a:ext cx="1904695" cy="1904695"/>
          </a:xfrm>
          <a:prstGeom prst="ellipse">
            <a:avLst/>
          </a:prstGeom>
          <a:noFill/>
          <a:ln w="254000">
            <a:solidFill>
              <a:srgbClr val="0066CC">
                <a:alpha val="1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-90" r="-90" t="0" b="0"/>
          <a:stretch/>
        </p:blipFill>
        <p:spPr>
          <a:xfrm>
            <a:off x="571500" y="1047902"/>
            <a:ext cx="381305" cy="30449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71500" y="1552651"/>
            <a:ext cx="1424635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33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課題14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71500" y="1986991"/>
            <a:ext cx="3834079" cy="9628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33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顧客認識ギャップ - 現状・原因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4508906" y="2514600"/>
            <a:ext cx="38578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現状: 顧客の期待と提供価値が噛み合わず採用伸び悩み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508906" y="2971800"/>
            <a:ext cx="4562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主因: 価値訴求の抽象度/リスク説明不足/ユースケース適合性の差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4508906" y="3429000"/>
            <a:ext cx="33631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影響: 失注/拡張利用が進まない/サポート負荷増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4508906" y="3886200"/>
            <a:ext cx="34582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代表事例: デモと本番の差/価格と価値の整合不全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10264140" y="6439205"/>
            <a:ext cx="14767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AI推進プロジェクト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12" name="Shape 9"/>
          <p:cNvSpPr/>
          <p:nvPr/>
        </p:nvSpPr>
        <p:spPr>
          <a:xfrm>
            <a:off x="10763402" y="-476402"/>
            <a:ext cx="1904695" cy="1904695"/>
          </a:xfrm>
          <a:prstGeom prst="ellipse">
            <a:avLst/>
          </a:prstGeom>
          <a:noFill/>
          <a:ln w="254000">
            <a:solidFill>
              <a:srgbClr val="0066CC">
                <a:alpha val="1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-90" r="-90" t="0" b="0"/>
          <a:stretch/>
        </p:blipFill>
        <p:spPr>
          <a:xfrm>
            <a:off x="571500" y="1047902"/>
            <a:ext cx="381305" cy="30449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71500" y="1552651"/>
            <a:ext cx="3176626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33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課題14 - 短期対策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71500" y="1986991"/>
            <a:ext cx="3900830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33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（顧客認識ギャップ）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4508906" y="1714500"/>
            <a:ext cx="38487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目的: 顧客の"今の課題"に刺さる共通理解を素早く形成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508906" y="2171700"/>
            <a:ext cx="723016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具体策: ⭐⏰顧客同席ユースケースWS: 2時間×2回の合同ワークショップ、ミロ活用、課題→ユースケース→優先度のフロー、導入3週間以内に実施 ⭐💰⏰業界別デモ: 顧客業界データを使用した45分ライブデモ、実データサンプル準備（10-15件）、業界特化プロンプト集（営業が即日カスタマイズ可能） ⭐⏰FAQ・リスク明確化: 制約/コスト/データ要件をビジュアル化、提案時と契約前に必ず確認、実案件からの継続更新（月次）、営業必携シート化 ⭐ペルソナ別メッセージ: 経営層（ROI/差別化）、現場管理者（負荷軽減/品質）、エンドユーザー（使いやすさ）の3軸で資料を構成、1ページサマリー提供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4508906" y="3771900"/>
            <a:ext cx="72301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KPI: デモ→PoC転換率（目標40%↑）／商談サイクル短縮（現状比-30%）／拡張提案受諾率（目標25%↑）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4508906" y="4457700"/>
            <a:ext cx="72301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リスク・対応: 過剰約束→適合範囲の明記（レッド・アンバー・グリーンリスト）／差分はロードマップ提示（4半期ごと更新）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71500" y="6467551"/>
            <a:ext cx="2715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⭐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1594714" y="6467551"/>
            <a:ext cx="2715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💰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2752344" y="6467551"/>
            <a:ext cx="2715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⏰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785470" y="6467551"/>
            <a:ext cx="7671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効果が高い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1809598" y="6467551"/>
            <a:ext cx="9006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経費がかかる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2966314" y="6467551"/>
            <a:ext cx="9006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時間がかかる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10264140" y="6439205"/>
            <a:ext cx="14767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AI推進プロジェクト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18" name="Shape 15"/>
          <p:cNvSpPr/>
          <p:nvPr/>
        </p:nvSpPr>
        <p:spPr>
          <a:xfrm>
            <a:off x="10763402" y="-476402"/>
            <a:ext cx="1904695" cy="1904695"/>
          </a:xfrm>
          <a:prstGeom prst="ellipse">
            <a:avLst/>
          </a:prstGeom>
          <a:noFill/>
          <a:ln w="254000">
            <a:solidFill>
              <a:srgbClr val="0066CC">
                <a:alpha val="1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-90" r="-90" t="0" b="0"/>
          <a:stretch/>
        </p:blipFill>
        <p:spPr>
          <a:xfrm>
            <a:off x="571500" y="1047902"/>
            <a:ext cx="381305" cy="30449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71500" y="1552651"/>
            <a:ext cx="3682289" cy="9628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33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課題14 顧客認識ギャップ -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71500" y="2421331"/>
            <a:ext cx="2091233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33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中長期対策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4508906" y="1714500"/>
            <a:ext cx="35149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目的:顧客理解を起点に価値提供を継続的に最適化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508906" y="2171700"/>
            <a:ext cx="7230161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具体策: VoCループ：四半期ごとのフィードバックサイクル運用、多チャネル収集（アンケート・インタビュー・利用分析）、アクションとその効果測定の可視化 ⭐ ⏰ セグメント別ペルソナ：業種・規模・成熟度別に5-7区分のAI活用ペルソナ策定、ユーザージャーニーマップ作成、四半期更新サイクル確立 ⭐ 💰 ⏰ プロダクト分析：主要機能の利用テレメトリ実装、リアルタイムダッシュボード構築、異常検知アラート設定、使われない機能の定期棚卸 ⭐ 💰 SLAs・透明性：パフォーマンス指標の月次公開、障害時のコミュニケーションプロトコル確立、改善ロードマップの顧客共有 ⭐ ⏰ 共創プログラム：四半期ごとのデザイン思考ワークショップ開催、顧客アドバイザリーボード設置、優先顧客とのβ版共同開発体制構築 ⭐ 💰 ⏰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4508906" y="4229100"/>
            <a:ext cx="24387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KPI:機能採用率/継続率/CSAT/NPS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4508906" y="4686300"/>
            <a:ext cx="50959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リスク・対応:声の偏り→代表性確保/計測負荷→自動計測と定期レビュー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10264140" y="6439205"/>
            <a:ext cx="14767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AI推進プロジェクト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12" name="Shape 9"/>
          <p:cNvSpPr/>
          <p:nvPr/>
        </p:nvSpPr>
        <p:spPr>
          <a:xfrm>
            <a:off x="10763402" y="-476402"/>
            <a:ext cx="1904695" cy="1904695"/>
          </a:xfrm>
          <a:prstGeom prst="ellipse">
            <a:avLst/>
          </a:prstGeom>
          <a:noFill/>
          <a:ln w="254000">
            <a:solidFill>
              <a:srgbClr val="0066CC">
                <a:alpha val="1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077456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-266" r="-266" t="0" b="0"/>
          <a:stretch/>
        </p:blipFill>
        <p:spPr>
          <a:xfrm>
            <a:off x="571500" y="697687"/>
            <a:ext cx="323698" cy="28620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133856" y="580644"/>
            <a:ext cx="731520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33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AI浸透の実施体制：3つのアプローチ（概要）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71500" y="1466698"/>
            <a:ext cx="3314700" cy="3295498"/>
          </a:xfrm>
          <a:prstGeom prst="roundRect">
            <a:avLst>
              <a:gd name="adj" fmla="val 802"/>
            </a:avLst>
          </a:prstGeom>
          <a:solidFill>
            <a:srgbClr val="F8FBFF"/>
          </a:solidFill>
          <a:ln w="25400">
            <a:solidFill>
              <a:srgbClr val="0066C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265530" y="1723644"/>
            <a:ext cx="2091233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33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1) 実業務組み込み型</a:t>
            </a:r>
            <a:endParaRPr lang="en-US" sz="16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-6287" r="-6287" t="0" b="0"/>
          <a:stretch/>
        </p:blipFill>
        <p:spPr>
          <a:xfrm>
            <a:off x="780898" y="2219249"/>
            <a:ext cx="171907" cy="152705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438498" y="1466698"/>
            <a:ext cx="3314700" cy="3295498"/>
          </a:xfrm>
          <a:prstGeom prst="roundRect">
            <a:avLst>
              <a:gd name="adj" fmla="val 802"/>
            </a:avLst>
          </a:prstGeom>
          <a:solidFill>
            <a:srgbClr val="F8FBFF"/>
          </a:solidFill>
          <a:ln w="25400">
            <a:solidFill>
              <a:srgbClr val="0066CC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4727448" y="1723644"/>
            <a:ext cx="2900477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33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2) 専門チーム主導型（CoE）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1028700" y="2180844"/>
            <a:ext cx="4288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66C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特徴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4895698" y="2180844"/>
            <a:ext cx="4288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66C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特徴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780898" y="2457907"/>
            <a:ext cx="2955341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各部門が日常業務の中でAIを試行・定着。現場主導、クイックウィン重視</a:t>
            </a:r>
            <a:endParaRPr lang="en-US" sz="11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rcRect l="-6287" r="-6287" t="0" b="0"/>
          <a:stretch/>
        </p:blipFill>
        <p:spPr>
          <a:xfrm>
            <a:off x="780898" y="3010205"/>
            <a:ext cx="171907" cy="152705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028700" y="2971800"/>
            <a:ext cx="4288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66C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強み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1028700" y="3762756"/>
            <a:ext cx="5815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66C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リスク</a:t>
            </a:r>
            <a:endParaRPr lang="en-US" sz="1200" dirty="0"/>
          </a:p>
        </p:txBody>
      </p:sp>
      <p:sp>
        <p:nvSpPr>
          <p:cNvPr id="16" name="Text 11"/>
          <p:cNvSpPr txBox="1"/>
          <p:nvPr/>
        </p:nvSpPr>
        <p:spPr>
          <a:xfrm>
            <a:off x="4895698" y="2971800"/>
            <a:ext cx="4288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66C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強み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780898" y="3247949"/>
            <a:ext cx="2974543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現場の痛点に直結、スピード感、自走化が進む</a:t>
            </a:r>
            <a:endParaRPr lang="en-US" sz="11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rcRect l="-6287" r="-6287" t="0" b="0"/>
          <a:stretch/>
        </p:blipFill>
        <p:spPr>
          <a:xfrm>
            <a:off x="780898" y="3800246"/>
            <a:ext cx="171907" cy="152705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80898" y="4038905"/>
            <a:ext cx="2946197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品質・セキュリティばらつき、横展開しにくい</a:t>
            </a:r>
            <a:endParaRPr lang="en-US" sz="11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rcRect l="-6287" r="-6287" t="0" b="0"/>
          <a:stretch/>
        </p:blipFill>
        <p:spPr>
          <a:xfrm>
            <a:off x="4647895" y="2219249"/>
            <a:ext cx="171907" cy="152705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4647895" y="2457907"/>
            <a:ext cx="298460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中央のAI推進/CoEが検証・標準化・展開を主導</a:t>
            </a:r>
            <a:endParaRPr lang="en-US" sz="110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rcRect l="-6287" r="-6287" t="0" b="0"/>
          <a:stretch/>
        </p:blipFill>
        <p:spPr>
          <a:xfrm>
            <a:off x="4647895" y="3010205"/>
            <a:ext cx="171907" cy="152705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4895698" y="3762756"/>
            <a:ext cx="5815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66C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リスク</a:t>
            </a:r>
            <a:endParaRPr lang="en-US" sz="1200" dirty="0"/>
          </a:p>
        </p:txBody>
      </p:sp>
      <p:sp>
        <p:nvSpPr>
          <p:cNvPr id="24" name="Text 16"/>
          <p:cNvSpPr txBox="1"/>
          <p:nvPr/>
        </p:nvSpPr>
        <p:spPr>
          <a:xfrm>
            <a:off x="4647895" y="3247949"/>
            <a:ext cx="2965399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ガバナンス一貫、再利用性・安全性・品質が高い</a:t>
            </a:r>
            <a:endParaRPr lang="en-US" sz="1100" dirty="0"/>
          </a:p>
        </p:txBody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rcRect l="-6287" r="-6287" t="0" b="0"/>
          <a:stretch/>
        </p:blipFill>
        <p:spPr>
          <a:xfrm>
            <a:off x="4647895" y="3800246"/>
            <a:ext cx="171907" cy="152705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4647895" y="4038905"/>
            <a:ext cx="297454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現場と乖離、ボトルネック化、意思決定遅延</a:t>
            </a:r>
            <a:endParaRPr lang="en-US" sz="1100" dirty="0"/>
          </a:p>
        </p:txBody>
      </p:sp>
      <p:sp>
        <p:nvSpPr>
          <p:cNvPr id="27" name="Shape 18"/>
          <p:cNvSpPr/>
          <p:nvPr/>
        </p:nvSpPr>
        <p:spPr>
          <a:xfrm>
            <a:off x="8305495" y="1466698"/>
            <a:ext cx="3314700" cy="3295498"/>
          </a:xfrm>
          <a:prstGeom prst="roundRect">
            <a:avLst>
              <a:gd name="adj" fmla="val 802"/>
            </a:avLst>
          </a:prstGeom>
          <a:solidFill>
            <a:srgbClr val="F0FFF8"/>
          </a:solidFill>
          <a:ln w="25400">
            <a:solidFill>
              <a:srgbClr val="00AA55"/>
            </a:solidFill>
            <a:prstDash val="solid"/>
          </a:ln>
        </p:spPr>
      </p:sp>
      <p:sp>
        <p:nvSpPr>
          <p:cNvPr id="28" name="Text 19"/>
          <p:cNvSpPr txBox="1"/>
          <p:nvPr/>
        </p:nvSpPr>
        <p:spPr>
          <a:xfrm>
            <a:off x="8687714" y="1723644"/>
            <a:ext cx="271028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88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3) ハイブリッド型（推奨）</a:t>
            </a:r>
            <a:endParaRPr lang="en-US" sz="1600" dirty="0"/>
          </a:p>
        </p:txBody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rcRect l="-6287" r="-6287" t="0" b="0"/>
          <a:stretch/>
        </p:blipFill>
        <p:spPr>
          <a:xfrm>
            <a:off x="8515807" y="2219249"/>
            <a:ext cx="171907" cy="152705"/>
          </a:xfrm>
          <a:prstGeom prst="rect">
            <a:avLst/>
          </a:prstGeom>
        </p:spPr>
      </p:pic>
      <p:sp>
        <p:nvSpPr>
          <p:cNvPr id="30" name="Text 20"/>
          <p:cNvSpPr txBox="1"/>
          <p:nvPr/>
        </p:nvSpPr>
        <p:spPr>
          <a:xfrm>
            <a:off x="8762695" y="2180844"/>
            <a:ext cx="4288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AA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特徴</a:t>
            </a:r>
            <a:endParaRPr lang="en-US" sz="1200" dirty="0"/>
          </a:p>
        </p:txBody>
      </p:sp>
      <p:sp>
        <p:nvSpPr>
          <p:cNvPr id="31" name="Text 21"/>
          <p:cNvSpPr txBox="1"/>
          <p:nvPr/>
        </p:nvSpPr>
        <p:spPr>
          <a:xfrm>
            <a:off x="8515807" y="2457907"/>
            <a:ext cx="2831897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CoEが基盤・ガバナンス・テンプレを提供し、現場が実装。灯台案件で伴走→横展開</a:t>
            </a:r>
            <a:endParaRPr lang="en-US" sz="1100" dirty="0"/>
          </a:p>
        </p:txBody>
      </p:sp>
      <p:pic>
        <p:nvPicPr>
          <p:cNvPr id="32" name="Image 8" descr="preencoded.png">    </p:cNvPr>
          <p:cNvPicPr>
            <a:picLocks noChangeAspect="1"/>
          </p:cNvPicPr>
          <p:nvPr/>
        </p:nvPicPr>
        <p:blipFill>
          <a:blip r:embed="rId9"/>
          <a:srcRect l="-6287" r="-6287" t="0" b="0"/>
          <a:stretch/>
        </p:blipFill>
        <p:spPr>
          <a:xfrm>
            <a:off x="8515807" y="3010205"/>
            <a:ext cx="171907" cy="152705"/>
          </a:xfrm>
          <a:prstGeom prst="rect">
            <a:avLst/>
          </a:prstGeom>
        </p:spPr>
      </p:pic>
      <p:sp>
        <p:nvSpPr>
          <p:cNvPr id="33" name="Text 22"/>
          <p:cNvSpPr txBox="1"/>
          <p:nvPr/>
        </p:nvSpPr>
        <p:spPr>
          <a:xfrm>
            <a:off x="8762695" y="2971800"/>
            <a:ext cx="4288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AA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強み</a:t>
            </a:r>
            <a:endParaRPr lang="en-US" sz="1200" dirty="0"/>
          </a:p>
        </p:txBody>
      </p:sp>
      <p:sp>
        <p:nvSpPr>
          <p:cNvPr id="34" name="Text 23"/>
          <p:cNvSpPr txBox="1"/>
          <p:nvPr/>
        </p:nvSpPr>
        <p:spPr>
          <a:xfrm>
            <a:off x="8515807" y="3247949"/>
            <a:ext cx="2974543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スピードと標準の両立、スケール、納得感の高い浸透</a:t>
            </a:r>
            <a:endParaRPr lang="en-US" sz="1100" dirty="0"/>
          </a:p>
        </p:txBody>
      </p:sp>
      <p:pic>
        <p:nvPicPr>
          <p:cNvPr id="35" name="Image 9" descr="preencoded.png">    </p:cNvPr>
          <p:cNvPicPr>
            <a:picLocks noChangeAspect="1"/>
          </p:cNvPicPr>
          <p:nvPr/>
        </p:nvPicPr>
        <p:blipFill>
          <a:blip r:embed="rId10"/>
          <a:srcRect l="-6287" r="-6287" t="0" b="0"/>
          <a:stretch/>
        </p:blipFill>
        <p:spPr>
          <a:xfrm>
            <a:off x="8515807" y="3800246"/>
            <a:ext cx="171907" cy="152705"/>
          </a:xfrm>
          <a:prstGeom prst="rect">
            <a:avLst/>
          </a:prstGeom>
        </p:spPr>
      </p:pic>
      <p:sp>
        <p:nvSpPr>
          <p:cNvPr id="36" name="Text 24"/>
          <p:cNvSpPr txBox="1"/>
          <p:nvPr/>
        </p:nvSpPr>
        <p:spPr>
          <a:xfrm>
            <a:off x="8762695" y="3762756"/>
            <a:ext cx="5815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AA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リスク</a:t>
            </a:r>
            <a:endParaRPr lang="en-US" sz="1200" dirty="0"/>
          </a:p>
        </p:txBody>
      </p:sp>
      <p:sp>
        <p:nvSpPr>
          <p:cNvPr id="37" name="Text 25"/>
          <p:cNvSpPr txBox="1"/>
          <p:nvPr/>
        </p:nvSpPr>
        <p:spPr>
          <a:xfrm>
            <a:off x="8515807" y="4038905"/>
            <a:ext cx="254569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役割分担の明確化が必要、調整コスト</a:t>
            </a:r>
            <a:endParaRPr lang="en-US" sz="1100" dirty="0"/>
          </a:p>
        </p:txBody>
      </p:sp>
      <p:sp>
        <p:nvSpPr>
          <p:cNvPr id="38" name="Shape 26"/>
          <p:cNvSpPr/>
          <p:nvPr/>
        </p:nvSpPr>
        <p:spPr>
          <a:xfrm>
            <a:off x="571500" y="5143500"/>
            <a:ext cx="11048695" cy="1362456"/>
          </a:xfrm>
          <a:prstGeom prst="roundRect">
            <a:avLst>
              <a:gd name="adj" fmla="val 4693"/>
            </a:avLst>
          </a:prstGeom>
          <a:solidFill>
            <a:srgbClr val="EEF7FF"/>
          </a:solidFill>
          <a:ln/>
        </p:spPr>
      </p:sp>
      <p:sp>
        <p:nvSpPr>
          <p:cNvPr id="39" name="Shape 27"/>
          <p:cNvSpPr/>
          <p:nvPr/>
        </p:nvSpPr>
        <p:spPr>
          <a:xfrm>
            <a:off x="571500" y="5143500"/>
            <a:ext cx="38405" cy="1362456"/>
          </a:xfrm>
          <a:prstGeom prst="rect">
            <a:avLst/>
          </a:prstGeom>
          <a:solidFill>
            <a:srgbClr val="00AA55"/>
          </a:solidFill>
          <a:ln/>
        </p:spPr>
      </p:sp>
      <p:pic>
        <p:nvPicPr>
          <p:cNvPr id="40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800100" y="5381244"/>
            <a:ext cx="142646" cy="190195"/>
          </a:xfrm>
          <a:prstGeom prst="rect">
            <a:avLst/>
          </a:prstGeom>
        </p:spPr>
      </p:pic>
      <p:sp>
        <p:nvSpPr>
          <p:cNvPr id="41" name="Text 28"/>
          <p:cNvSpPr txBox="1"/>
          <p:nvPr/>
        </p:nvSpPr>
        <p:spPr>
          <a:xfrm>
            <a:off x="1037844" y="5333695"/>
            <a:ext cx="291510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33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推奨アプローチ: ハイブリッド型</a:t>
            </a:r>
            <a:endParaRPr lang="en-US" sz="1500" dirty="0"/>
          </a:p>
        </p:txBody>
      </p:sp>
      <p:sp>
        <p:nvSpPr>
          <p:cNvPr id="42" name="Text 29"/>
          <p:cNvSpPr txBox="1"/>
          <p:nvPr/>
        </p:nvSpPr>
        <p:spPr>
          <a:xfrm>
            <a:off x="800100" y="5762549"/>
            <a:ext cx="106966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専門チームが基盤・ガバナンス・テンプレートを整備し、現場での実装を支援するハイブリッド型が最適。「現場のスピード×専門知識の標準化」の相乗効果で全社浸透を加速。初期は現場の灯台案件に伴走し、その後横展開することで納得感の高い浸透を実現できます。</a:t>
            </a:r>
            <a:endParaRPr lang="en-US" sz="1200" dirty="0"/>
          </a:p>
        </p:txBody>
      </p:sp>
      <p:sp>
        <p:nvSpPr>
          <p:cNvPr id="43" name="Text 30"/>
          <p:cNvSpPr txBox="1"/>
          <p:nvPr/>
        </p:nvSpPr>
        <p:spPr>
          <a:xfrm>
            <a:off x="10264140" y="6657746"/>
            <a:ext cx="14767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AI推進プロジェクト</a:t>
            </a:r>
            <a:endParaRPr lang="en-US" sz="1200" dirty="0"/>
          </a:p>
        </p:txBody>
      </p:sp>
      <p:sp>
        <p:nvSpPr>
          <p:cNvPr id="44" name="Shape 31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003366"/>
          </a:solidFill>
          <a:ln/>
        </p:spPr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49660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71500" y="333756"/>
            <a:ext cx="9572854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33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実施体制の比較（メリット/デメリット/適用場面/成功要因）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71500" y="1078078"/>
            <a:ext cx="2438705" cy="448056"/>
          </a:xfrm>
          <a:prstGeom prst="roundRect">
            <a:avLst>
              <a:gd name="adj" fmla="val 21711"/>
            </a:avLst>
          </a:prstGeom>
          <a:solidFill>
            <a:srgbClr val="0066CC"/>
          </a:solidFill>
          <a:ln/>
        </p:spPr>
      </p:sp>
      <p:sp>
        <p:nvSpPr>
          <p:cNvPr id="5" name="Shape 3"/>
          <p:cNvSpPr/>
          <p:nvPr/>
        </p:nvSpPr>
        <p:spPr>
          <a:xfrm>
            <a:off x="3001975" y="1078078"/>
            <a:ext cx="2876702" cy="448056"/>
          </a:xfrm>
          <a:prstGeom prst="roundRect">
            <a:avLst>
              <a:gd name="adj" fmla="val 21711"/>
            </a:avLst>
          </a:prstGeom>
          <a:solidFill>
            <a:srgbClr val="0066CC"/>
          </a:solidFill>
          <a:ln/>
        </p:spPr>
      </p:sp>
      <p:sp>
        <p:nvSpPr>
          <p:cNvPr id="6" name="Shape 4"/>
          <p:cNvSpPr/>
          <p:nvPr/>
        </p:nvSpPr>
        <p:spPr>
          <a:xfrm>
            <a:off x="5875020" y="1078078"/>
            <a:ext cx="2876702" cy="448056"/>
          </a:xfrm>
          <a:prstGeom prst="roundRect">
            <a:avLst>
              <a:gd name="adj" fmla="val 21711"/>
            </a:avLst>
          </a:prstGeom>
          <a:solidFill>
            <a:srgbClr val="0066CC"/>
          </a:solidFill>
          <a:ln/>
        </p:spPr>
      </p:sp>
      <p:sp>
        <p:nvSpPr>
          <p:cNvPr id="7" name="Shape 5"/>
          <p:cNvSpPr/>
          <p:nvPr/>
        </p:nvSpPr>
        <p:spPr>
          <a:xfrm>
            <a:off x="8747150" y="1078078"/>
            <a:ext cx="2876702" cy="448056"/>
          </a:xfrm>
          <a:prstGeom prst="roundRect">
            <a:avLst>
              <a:gd name="adj" fmla="val 21711"/>
            </a:avLst>
          </a:prstGeom>
          <a:solidFill>
            <a:srgbClr val="0066C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357884" y="1173175"/>
            <a:ext cx="9866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アプローチ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3581705" y="1173175"/>
            <a:ext cx="184343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メリット・デメリット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968642" y="1173175"/>
            <a:ext cx="81473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適用場面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9840773" y="1173175"/>
            <a:ext cx="81473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成功要因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71500" y="1573682"/>
            <a:ext cx="2438705" cy="1819656"/>
          </a:xfrm>
          <a:prstGeom prst="rect">
            <a:avLst/>
          </a:prstGeom>
          <a:solidFill>
            <a:srgbClr val="E6F0FF"/>
          </a:solidFill>
          <a:ln/>
        </p:spPr>
      </p:sp>
      <p:sp>
        <p:nvSpPr>
          <p:cNvPr id="13" name="Shape 11"/>
          <p:cNvSpPr/>
          <p:nvPr/>
        </p:nvSpPr>
        <p:spPr>
          <a:xfrm>
            <a:off x="571500" y="3384194"/>
            <a:ext cx="2438705" cy="9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4" name="Shape 12"/>
          <p:cNvSpPr/>
          <p:nvPr/>
        </p:nvSpPr>
        <p:spPr>
          <a:xfrm>
            <a:off x="3001975" y="1573682"/>
            <a:ext cx="2876702" cy="1819656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5" name="Shape 13"/>
          <p:cNvSpPr/>
          <p:nvPr/>
        </p:nvSpPr>
        <p:spPr>
          <a:xfrm>
            <a:off x="3001975" y="3384194"/>
            <a:ext cx="2876702" cy="9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66598" y="1716329"/>
            <a:ext cx="13432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33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実業務組み込み型</a:t>
            </a:r>
            <a:endParaRPr lang="en-US" sz="12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107131" y="1716329"/>
            <a:ext cx="114300" cy="114300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3307385" y="1716329"/>
            <a:ext cx="13432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現場適合性が高い</a:t>
            </a:r>
            <a:endParaRPr lang="en-US" sz="1200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107131" y="2020824"/>
            <a:ext cx="114300" cy="114300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3307385" y="2020824"/>
            <a:ext cx="14959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クイックウィン創出</a:t>
            </a:r>
            <a:endParaRPr lang="en-US" sz="12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107131" y="2326234"/>
            <a:ext cx="114300" cy="1143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3307385" y="2326234"/>
            <a:ext cx="10387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自走化を促進</a:t>
            </a:r>
            <a:endParaRPr lang="en-US" sz="1200" dirty="0"/>
          </a:p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3107131" y="2630729"/>
            <a:ext cx="114300" cy="11430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3307385" y="2630729"/>
            <a:ext cx="22485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品質・セキュリティのばらつき</a:t>
            </a:r>
            <a:endParaRPr lang="en-US" sz="1200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3107131" y="2935224"/>
            <a:ext cx="114300" cy="114300"/>
          </a:xfrm>
          <a:prstGeom prst="rect">
            <a:avLst/>
          </a:prstGeom>
        </p:spPr>
      </p:pic>
      <p:sp>
        <p:nvSpPr>
          <p:cNvPr id="26" name="Shape 19"/>
          <p:cNvSpPr/>
          <p:nvPr/>
        </p:nvSpPr>
        <p:spPr>
          <a:xfrm>
            <a:off x="5875020" y="1573682"/>
            <a:ext cx="2876702" cy="1819656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7" name="Shape 20"/>
          <p:cNvSpPr/>
          <p:nvPr/>
        </p:nvSpPr>
        <p:spPr>
          <a:xfrm>
            <a:off x="5875020" y="3384194"/>
            <a:ext cx="2876702" cy="9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8" name="Text 21"/>
          <p:cNvSpPr txBox="1"/>
          <p:nvPr/>
        </p:nvSpPr>
        <p:spPr>
          <a:xfrm>
            <a:off x="3307385" y="2935224"/>
            <a:ext cx="13432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重複投資・属人化</a:t>
            </a:r>
            <a:endParaRPr lang="en-US" sz="1200" dirty="0"/>
          </a:p>
        </p:txBody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5979262" y="1716329"/>
            <a:ext cx="114300" cy="114300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6179515" y="1716329"/>
            <a:ext cx="11914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小規模改善案件</a:t>
            </a:r>
            <a:endParaRPr lang="en-US" sz="1200" dirty="0"/>
          </a:p>
        </p:txBody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5979262" y="2020824"/>
            <a:ext cx="114300" cy="114300"/>
          </a:xfrm>
          <a:prstGeom prst="rect">
            <a:avLst/>
          </a:prstGeom>
        </p:spPr>
      </p:pic>
      <p:sp>
        <p:nvSpPr>
          <p:cNvPr id="32" name="Shape 23"/>
          <p:cNvSpPr/>
          <p:nvPr/>
        </p:nvSpPr>
        <p:spPr>
          <a:xfrm>
            <a:off x="5875020" y="3440887"/>
            <a:ext cx="2876702" cy="1819656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33" name="Shape 24"/>
          <p:cNvSpPr/>
          <p:nvPr/>
        </p:nvSpPr>
        <p:spPr>
          <a:xfrm>
            <a:off x="5875020" y="5251399"/>
            <a:ext cx="2876702" cy="9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4" name="Text 25"/>
          <p:cNvSpPr txBox="1"/>
          <p:nvPr/>
        </p:nvSpPr>
        <p:spPr>
          <a:xfrm>
            <a:off x="6179515" y="2020824"/>
            <a:ext cx="17812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部門特有のユースケース</a:t>
            </a:r>
            <a:endParaRPr lang="en-US" sz="1200" dirty="0"/>
          </a:p>
        </p:txBody>
      </p:sp>
      <p:pic>
        <p:nvPicPr>
          <p:cNvPr id="35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5979262" y="2326234"/>
            <a:ext cx="114300" cy="114300"/>
          </a:xfrm>
          <a:prstGeom prst="rect">
            <a:avLst/>
          </a:prstGeom>
        </p:spPr>
      </p:pic>
      <p:sp>
        <p:nvSpPr>
          <p:cNvPr id="36" name="Shape 26"/>
          <p:cNvSpPr/>
          <p:nvPr/>
        </p:nvSpPr>
        <p:spPr>
          <a:xfrm>
            <a:off x="8747150" y="1573682"/>
            <a:ext cx="2876702" cy="1819656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37" name="Shape 27"/>
          <p:cNvSpPr/>
          <p:nvPr/>
        </p:nvSpPr>
        <p:spPr>
          <a:xfrm>
            <a:off x="8747150" y="3384194"/>
            <a:ext cx="2876702" cy="9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8" name="Text 28"/>
          <p:cNvSpPr txBox="1"/>
          <p:nvPr/>
        </p:nvSpPr>
        <p:spPr>
          <a:xfrm>
            <a:off x="6179515" y="2326234"/>
            <a:ext cx="1791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初期のムーブメント形成</a:t>
            </a:r>
            <a:endParaRPr lang="en-US" sz="1200" dirty="0"/>
          </a:p>
        </p:txBody>
      </p:sp>
      <p:pic>
        <p:nvPicPr>
          <p:cNvPr id="39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5979262" y="2630729"/>
            <a:ext cx="114300" cy="114300"/>
          </a:xfrm>
          <a:prstGeom prst="rect">
            <a:avLst/>
          </a:prstGeom>
        </p:spPr>
      </p:pic>
      <p:sp>
        <p:nvSpPr>
          <p:cNvPr id="40" name="Text 29"/>
          <p:cNvSpPr txBox="1"/>
          <p:nvPr/>
        </p:nvSpPr>
        <p:spPr>
          <a:xfrm>
            <a:off x="6179515" y="2630729"/>
            <a:ext cx="16486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高い自律性を持つ部門</a:t>
            </a:r>
            <a:endParaRPr lang="en-US" sz="1200" dirty="0"/>
          </a:p>
        </p:txBody>
      </p:sp>
      <p:pic>
        <p:nvPicPr>
          <p:cNvPr id="41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8852306" y="1716329"/>
            <a:ext cx="114300" cy="114300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571500" y="3440887"/>
            <a:ext cx="2438705" cy="1819656"/>
          </a:xfrm>
          <a:prstGeom prst="rect">
            <a:avLst/>
          </a:prstGeom>
          <a:solidFill>
            <a:srgbClr val="E6F0FF"/>
          </a:solidFill>
          <a:ln/>
        </p:spPr>
      </p:sp>
      <p:sp>
        <p:nvSpPr>
          <p:cNvPr id="43" name="Shape 31"/>
          <p:cNvSpPr/>
          <p:nvPr/>
        </p:nvSpPr>
        <p:spPr>
          <a:xfrm>
            <a:off x="571500" y="5251399"/>
            <a:ext cx="2438705" cy="9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44" name="Shape 32"/>
          <p:cNvSpPr/>
          <p:nvPr/>
        </p:nvSpPr>
        <p:spPr>
          <a:xfrm>
            <a:off x="3001975" y="3440887"/>
            <a:ext cx="2876702" cy="1819656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45" name="Shape 33"/>
          <p:cNvSpPr/>
          <p:nvPr/>
        </p:nvSpPr>
        <p:spPr>
          <a:xfrm>
            <a:off x="3001975" y="5251399"/>
            <a:ext cx="2876702" cy="9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46" name="Text 34"/>
          <p:cNvSpPr txBox="1"/>
          <p:nvPr/>
        </p:nvSpPr>
        <p:spPr>
          <a:xfrm>
            <a:off x="9052560" y="1716329"/>
            <a:ext cx="18004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最小限の標準ガイド提供</a:t>
            </a:r>
            <a:endParaRPr lang="en-US" sz="1200" dirty="0"/>
          </a:p>
        </p:txBody>
      </p:sp>
      <p:pic>
        <p:nvPicPr>
          <p:cNvPr id="47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8852306" y="2020824"/>
            <a:ext cx="114300" cy="114300"/>
          </a:xfrm>
          <a:prstGeom prst="rect">
            <a:avLst/>
          </a:prstGeom>
        </p:spPr>
      </p:pic>
      <p:sp>
        <p:nvSpPr>
          <p:cNvPr id="48" name="Text 35"/>
          <p:cNvSpPr txBox="1"/>
          <p:nvPr/>
        </p:nvSpPr>
        <p:spPr>
          <a:xfrm>
            <a:off x="9052560" y="2020824"/>
            <a:ext cx="17812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部門AIチャンピオン配置</a:t>
            </a:r>
            <a:endParaRPr lang="en-US" sz="1200" dirty="0"/>
          </a:p>
        </p:txBody>
      </p:sp>
      <p:pic>
        <p:nvPicPr>
          <p:cNvPr id="49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8852306" y="2326234"/>
            <a:ext cx="114300" cy="114300"/>
          </a:xfrm>
          <a:prstGeom prst="rect">
            <a:avLst/>
          </a:prstGeom>
        </p:spPr>
      </p:pic>
      <p:sp>
        <p:nvSpPr>
          <p:cNvPr id="50" name="Text 36"/>
          <p:cNvSpPr txBox="1"/>
          <p:nvPr/>
        </p:nvSpPr>
        <p:spPr>
          <a:xfrm>
            <a:off x="9052560" y="2326234"/>
            <a:ext cx="1485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週次オフィスアワー</a:t>
            </a:r>
            <a:endParaRPr lang="en-US" sz="1200" dirty="0"/>
          </a:p>
        </p:txBody>
      </p:sp>
      <p:pic>
        <p:nvPicPr>
          <p:cNvPr id="51" name="Image 12" descr="preencoded.png">    </p:cNvPr>
          <p:cNvPicPr>
            <a:picLocks noChangeAspect="1"/>
          </p:cNvPicPr>
          <p:nvPr/>
        </p:nvPicPr>
        <p:blipFill>
          <a:blip r:embed="rId13"/>
          <a:srcRect l="0" r="0" t="0" b="0"/>
          <a:stretch/>
        </p:blipFill>
        <p:spPr>
          <a:xfrm>
            <a:off x="8852306" y="2630729"/>
            <a:ext cx="114300" cy="114300"/>
          </a:xfrm>
          <a:prstGeom prst="rect">
            <a:avLst/>
          </a:prstGeom>
        </p:spPr>
      </p:pic>
      <p:sp>
        <p:nvSpPr>
          <p:cNvPr id="52" name="Text 37"/>
          <p:cNvSpPr txBox="1"/>
          <p:nvPr/>
        </p:nvSpPr>
        <p:spPr>
          <a:xfrm>
            <a:off x="666598" y="3583534"/>
            <a:ext cx="19248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33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専門チーム主導型（CoE）</a:t>
            </a:r>
            <a:endParaRPr lang="en-US" sz="1200" dirty="0"/>
          </a:p>
        </p:txBody>
      </p:sp>
      <p:sp>
        <p:nvSpPr>
          <p:cNvPr id="53" name="Text 38"/>
          <p:cNvSpPr txBox="1"/>
          <p:nvPr/>
        </p:nvSpPr>
        <p:spPr>
          <a:xfrm>
            <a:off x="9052560" y="2630729"/>
            <a:ext cx="17812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ユースケース審査ボード</a:t>
            </a:r>
            <a:endParaRPr lang="en-US" sz="1200" dirty="0"/>
          </a:p>
        </p:txBody>
      </p:sp>
      <p:pic>
        <p:nvPicPr>
          <p:cNvPr id="54" name="Image 13" descr="preencoded.png">    </p:cNvPr>
          <p:cNvPicPr>
            <a:picLocks noChangeAspect="1"/>
          </p:cNvPicPr>
          <p:nvPr/>
        </p:nvPicPr>
        <p:blipFill>
          <a:blip r:embed="rId14"/>
          <a:srcRect l="0" r="0" t="0" b="0"/>
          <a:stretch/>
        </p:blipFill>
        <p:spPr>
          <a:xfrm>
            <a:off x="3107131" y="3583534"/>
            <a:ext cx="114300" cy="114300"/>
          </a:xfrm>
          <a:prstGeom prst="rect">
            <a:avLst/>
          </a:prstGeom>
        </p:spPr>
      </p:pic>
      <p:sp>
        <p:nvSpPr>
          <p:cNvPr id="55" name="Text 39"/>
          <p:cNvSpPr txBox="1"/>
          <p:nvPr/>
        </p:nvSpPr>
        <p:spPr>
          <a:xfrm>
            <a:off x="3307385" y="3583534"/>
            <a:ext cx="16486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標準化・再利用性向上</a:t>
            </a:r>
            <a:endParaRPr lang="en-US" sz="1200" dirty="0"/>
          </a:p>
        </p:txBody>
      </p:sp>
      <p:pic>
        <p:nvPicPr>
          <p:cNvPr id="56" name="Image 14" descr="preencoded.png">    </p:cNvPr>
          <p:cNvPicPr>
            <a:picLocks noChangeAspect="1"/>
          </p:cNvPicPr>
          <p:nvPr/>
        </p:nvPicPr>
        <p:blipFill>
          <a:blip r:embed="rId15"/>
          <a:srcRect l="0" r="0" t="0" b="0"/>
          <a:stretch/>
        </p:blipFill>
        <p:spPr>
          <a:xfrm>
            <a:off x="3107131" y="3888029"/>
            <a:ext cx="114300" cy="114300"/>
          </a:xfrm>
          <a:prstGeom prst="rect">
            <a:avLst/>
          </a:prstGeom>
        </p:spPr>
      </p:pic>
      <p:sp>
        <p:nvSpPr>
          <p:cNvPr id="57" name="Text 40"/>
          <p:cNvSpPr txBox="1"/>
          <p:nvPr/>
        </p:nvSpPr>
        <p:spPr>
          <a:xfrm>
            <a:off x="3307385" y="3888029"/>
            <a:ext cx="13432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安全性・品質担保</a:t>
            </a:r>
            <a:endParaRPr lang="en-US" sz="1200" dirty="0"/>
          </a:p>
        </p:txBody>
      </p:sp>
      <p:pic>
        <p:nvPicPr>
          <p:cNvPr id="58" name="Image 15" descr="preencoded.png">    </p:cNvPr>
          <p:cNvPicPr>
            <a:picLocks noChangeAspect="1"/>
          </p:cNvPicPr>
          <p:nvPr/>
        </p:nvPicPr>
        <p:blipFill>
          <a:blip r:embed="rId16"/>
          <a:srcRect l="0" r="0" t="0" b="0"/>
          <a:stretch/>
        </p:blipFill>
        <p:spPr>
          <a:xfrm>
            <a:off x="3107131" y="4192524"/>
            <a:ext cx="114300" cy="114300"/>
          </a:xfrm>
          <a:prstGeom prst="rect">
            <a:avLst/>
          </a:prstGeom>
        </p:spPr>
      </p:pic>
      <p:sp>
        <p:nvSpPr>
          <p:cNvPr id="59" name="Text 41"/>
          <p:cNvSpPr txBox="1"/>
          <p:nvPr/>
        </p:nvSpPr>
        <p:spPr>
          <a:xfrm>
            <a:off x="3307385" y="4192524"/>
            <a:ext cx="10387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コスト最適化</a:t>
            </a:r>
            <a:endParaRPr lang="en-US" sz="1200" dirty="0"/>
          </a:p>
        </p:txBody>
      </p:sp>
      <p:pic>
        <p:nvPicPr>
          <p:cNvPr id="60" name="Image 16" descr="preencoded.png">    </p:cNvPr>
          <p:cNvPicPr>
            <a:picLocks noChangeAspect="1"/>
          </p:cNvPicPr>
          <p:nvPr/>
        </p:nvPicPr>
        <p:blipFill>
          <a:blip r:embed="rId17"/>
          <a:srcRect l="0" r="0" t="0" b="0"/>
          <a:stretch/>
        </p:blipFill>
        <p:spPr>
          <a:xfrm>
            <a:off x="3107131" y="4497934"/>
            <a:ext cx="114300" cy="114300"/>
          </a:xfrm>
          <a:prstGeom prst="rect">
            <a:avLst/>
          </a:prstGeom>
        </p:spPr>
      </p:pic>
      <p:sp>
        <p:nvSpPr>
          <p:cNvPr id="61" name="Text 42"/>
          <p:cNvSpPr txBox="1"/>
          <p:nvPr/>
        </p:nvSpPr>
        <p:spPr>
          <a:xfrm>
            <a:off x="3307385" y="4497934"/>
            <a:ext cx="1485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現場ニーズとの乖離</a:t>
            </a:r>
            <a:endParaRPr lang="en-US" sz="1200" dirty="0"/>
          </a:p>
        </p:txBody>
      </p:sp>
      <p:pic>
        <p:nvPicPr>
          <p:cNvPr id="62" name="Image 17" descr="preencoded.png">    </p:cNvPr>
          <p:cNvPicPr>
            <a:picLocks noChangeAspect="1"/>
          </p:cNvPicPr>
          <p:nvPr/>
        </p:nvPicPr>
        <p:blipFill>
          <a:blip r:embed="rId18"/>
          <a:srcRect l="0" r="0" t="0" b="0"/>
          <a:stretch/>
        </p:blipFill>
        <p:spPr>
          <a:xfrm>
            <a:off x="3107131" y="4802429"/>
            <a:ext cx="114300" cy="114300"/>
          </a:xfrm>
          <a:prstGeom prst="rect">
            <a:avLst/>
          </a:prstGeom>
        </p:spPr>
      </p:pic>
      <p:sp>
        <p:nvSpPr>
          <p:cNvPr id="63" name="Text 43"/>
          <p:cNvSpPr txBox="1"/>
          <p:nvPr/>
        </p:nvSpPr>
        <p:spPr>
          <a:xfrm>
            <a:off x="3307385" y="4802429"/>
            <a:ext cx="1485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承認待ちによる遅延</a:t>
            </a:r>
            <a:endParaRPr lang="en-US" sz="1200" dirty="0"/>
          </a:p>
        </p:txBody>
      </p:sp>
      <p:pic>
        <p:nvPicPr>
          <p:cNvPr id="64" name="Image 18" descr="preencoded.png">    </p:cNvPr>
          <p:cNvPicPr>
            <a:picLocks noChangeAspect="1"/>
          </p:cNvPicPr>
          <p:nvPr/>
        </p:nvPicPr>
        <p:blipFill>
          <a:blip r:embed="rId19"/>
          <a:srcRect l="0" r="0" t="0" b="0"/>
          <a:stretch/>
        </p:blipFill>
        <p:spPr>
          <a:xfrm>
            <a:off x="5979262" y="3583534"/>
            <a:ext cx="114300" cy="114300"/>
          </a:xfrm>
          <a:prstGeom prst="rect">
            <a:avLst/>
          </a:prstGeom>
        </p:spPr>
      </p:pic>
      <p:sp>
        <p:nvSpPr>
          <p:cNvPr id="65" name="Text 44"/>
          <p:cNvSpPr txBox="1"/>
          <p:nvPr/>
        </p:nvSpPr>
        <p:spPr>
          <a:xfrm>
            <a:off x="6179515" y="3583534"/>
            <a:ext cx="10387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共通基盤構築</a:t>
            </a:r>
            <a:endParaRPr lang="en-US" sz="1200" dirty="0"/>
          </a:p>
        </p:txBody>
      </p:sp>
      <p:pic>
        <p:nvPicPr>
          <p:cNvPr id="66" name="Image 19" descr="preencoded.png">    </p:cNvPr>
          <p:cNvPicPr>
            <a:picLocks noChangeAspect="1"/>
          </p:cNvPicPr>
          <p:nvPr/>
        </p:nvPicPr>
        <p:blipFill>
          <a:blip r:embed="rId20"/>
          <a:srcRect l="0" r="0" t="0" b="0"/>
          <a:stretch/>
        </p:blipFill>
        <p:spPr>
          <a:xfrm>
            <a:off x="5979262" y="3888029"/>
            <a:ext cx="114300" cy="114300"/>
          </a:xfrm>
          <a:prstGeom prst="rect">
            <a:avLst/>
          </a:prstGeom>
        </p:spPr>
      </p:pic>
      <p:sp>
        <p:nvSpPr>
          <p:cNvPr id="67" name="Shape 45"/>
          <p:cNvSpPr/>
          <p:nvPr/>
        </p:nvSpPr>
        <p:spPr>
          <a:xfrm>
            <a:off x="8747150" y="3440887"/>
            <a:ext cx="2876702" cy="1819656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68" name="Shape 46"/>
          <p:cNvSpPr/>
          <p:nvPr/>
        </p:nvSpPr>
        <p:spPr>
          <a:xfrm>
            <a:off x="8747150" y="5251399"/>
            <a:ext cx="2876702" cy="9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69" name="Text 47"/>
          <p:cNvSpPr txBox="1"/>
          <p:nvPr/>
        </p:nvSpPr>
        <p:spPr>
          <a:xfrm>
            <a:off x="6179515" y="3888029"/>
            <a:ext cx="16386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高リスク・高影響領域</a:t>
            </a:r>
            <a:endParaRPr lang="en-US" sz="1200" dirty="0"/>
          </a:p>
        </p:txBody>
      </p:sp>
      <p:pic>
        <p:nvPicPr>
          <p:cNvPr id="70" name="Image 20" descr="preencoded.png">    </p:cNvPr>
          <p:cNvPicPr>
            <a:picLocks noChangeAspect="1"/>
          </p:cNvPicPr>
          <p:nvPr/>
        </p:nvPicPr>
        <p:blipFill>
          <a:blip r:embed="rId21"/>
          <a:srcRect l="0" r="0" t="0" b="0"/>
          <a:stretch/>
        </p:blipFill>
        <p:spPr>
          <a:xfrm>
            <a:off x="5979262" y="4192524"/>
            <a:ext cx="114300" cy="114300"/>
          </a:xfrm>
          <a:prstGeom prst="rect">
            <a:avLst/>
          </a:prstGeom>
        </p:spPr>
      </p:pic>
      <p:sp>
        <p:nvSpPr>
          <p:cNvPr id="71" name="Text 48"/>
          <p:cNvSpPr txBox="1"/>
          <p:nvPr/>
        </p:nvSpPr>
        <p:spPr>
          <a:xfrm>
            <a:off x="666598" y="5449824"/>
            <a:ext cx="22384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33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ハイブリッド型（CoE×現場伴走）</a:t>
            </a:r>
            <a:endParaRPr lang="en-US" sz="1200" dirty="0"/>
          </a:p>
        </p:txBody>
      </p:sp>
      <p:sp>
        <p:nvSpPr>
          <p:cNvPr id="72" name="Text 49"/>
          <p:cNvSpPr txBox="1"/>
          <p:nvPr/>
        </p:nvSpPr>
        <p:spPr>
          <a:xfrm>
            <a:off x="6179515" y="4192524"/>
            <a:ext cx="16486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規制対応が必要な領域</a:t>
            </a:r>
            <a:endParaRPr lang="en-US" sz="1200" dirty="0"/>
          </a:p>
        </p:txBody>
      </p:sp>
      <p:pic>
        <p:nvPicPr>
          <p:cNvPr id="73" name="Image 21" descr="preencoded.png">    </p:cNvPr>
          <p:cNvPicPr>
            <a:picLocks noChangeAspect="1"/>
          </p:cNvPicPr>
          <p:nvPr/>
        </p:nvPicPr>
        <p:blipFill>
          <a:blip r:embed="rId22"/>
          <a:srcRect l="0" r="0" t="0" b="0"/>
          <a:stretch/>
        </p:blipFill>
        <p:spPr>
          <a:xfrm>
            <a:off x="5979262" y="4497934"/>
            <a:ext cx="114300" cy="114300"/>
          </a:xfrm>
          <a:prstGeom prst="rect">
            <a:avLst/>
          </a:prstGeom>
        </p:spPr>
      </p:pic>
      <p:sp>
        <p:nvSpPr>
          <p:cNvPr id="74" name="Text 50"/>
          <p:cNvSpPr txBox="1"/>
          <p:nvPr/>
        </p:nvSpPr>
        <p:spPr>
          <a:xfrm>
            <a:off x="6179515" y="4497934"/>
            <a:ext cx="10387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全社横断機能</a:t>
            </a:r>
            <a:endParaRPr lang="en-US" sz="1200" dirty="0"/>
          </a:p>
        </p:txBody>
      </p:sp>
      <p:pic>
        <p:nvPicPr>
          <p:cNvPr id="75" name="Image 22" descr="preencoded.png">    </p:cNvPr>
          <p:cNvPicPr>
            <a:picLocks noChangeAspect="1"/>
          </p:cNvPicPr>
          <p:nvPr/>
        </p:nvPicPr>
        <p:blipFill>
          <a:blip r:embed="rId23"/>
          <a:srcRect l="0" r="0" t="0" b="0"/>
          <a:stretch/>
        </p:blipFill>
        <p:spPr>
          <a:xfrm>
            <a:off x="8852306" y="3583534"/>
            <a:ext cx="114300" cy="114300"/>
          </a:xfrm>
          <a:prstGeom prst="rect">
            <a:avLst/>
          </a:prstGeom>
        </p:spPr>
      </p:pic>
      <p:sp>
        <p:nvSpPr>
          <p:cNvPr id="76" name="Shape 51"/>
          <p:cNvSpPr/>
          <p:nvPr/>
        </p:nvSpPr>
        <p:spPr>
          <a:xfrm>
            <a:off x="571500" y="5307178"/>
            <a:ext cx="2438705" cy="1819656"/>
          </a:xfrm>
          <a:prstGeom prst="rect">
            <a:avLst/>
          </a:prstGeom>
          <a:solidFill>
            <a:srgbClr val="E6F0FF"/>
          </a:solidFill>
          <a:ln/>
        </p:spPr>
      </p:sp>
      <p:sp>
        <p:nvSpPr>
          <p:cNvPr id="77" name="Shape 52"/>
          <p:cNvSpPr/>
          <p:nvPr/>
        </p:nvSpPr>
        <p:spPr>
          <a:xfrm>
            <a:off x="571500" y="7117690"/>
            <a:ext cx="2438705" cy="9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78" name="Text 53"/>
          <p:cNvSpPr txBox="1"/>
          <p:nvPr/>
        </p:nvSpPr>
        <p:spPr>
          <a:xfrm>
            <a:off x="9052560" y="3583534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明確なSLA設定</a:t>
            </a:r>
            <a:endParaRPr lang="en-US" sz="1200" dirty="0"/>
          </a:p>
        </p:txBody>
      </p:sp>
      <p:pic>
        <p:nvPicPr>
          <p:cNvPr id="79" name="Image 23" descr="preencoded.png">    </p:cNvPr>
          <p:cNvPicPr>
            <a:picLocks noChangeAspect="1"/>
          </p:cNvPicPr>
          <p:nvPr/>
        </p:nvPicPr>
        <p:blipFill>
          <a:blip r:embed="rId24"/>
          <a:srcRect l="0" r="0" t="0" b="0"/>
          <a:stretch/>
        </p:blipFill>
        <p:spPr>
          <a:xfrm>
            <a:off x="8852306" y="3888029"/>
            <a:ext cx="114300" cy="114300"/>
          </a:xfrm>
          <a:prstGeom prst="rect">
            <a:avLst/>
          </a:prstGeom>
        </p:spPr>
      </p:pic>
      <p:sp>
        <p:nvSpPr>
          <p:cNvPr id="80" name="Shape 54"/>
          <p:cNvSpPr/>
          <p:nvPr/>
        </p:nvSpPr>
        <p:spPr>
          <a:xfrm>
            <a:off x="3001975" y="5307178"/>
            <a:ext cx="2876702" cy="1819656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81" name="Shape 55"/>
          <p:cNvSpPr/>
          <p:nvPr/>
        </p:nvSpPr>
        <p:spPr>
          <a:xfrm>
            <a:off x="3001975" y="7117690"/>
            <a:ext cx="2876702" cy="9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82" name="Text 56"/>
          <p:cNvSpPr txBox="1"/>
          <p:nvPr/>
        </p:nvSpPr>
        <p:spPr>
          <a:xfrm>
            <a:off x="9052560" y="3888029"/>
            <a:ext cx="16386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要求定義テンプレ提供</a:t>
            </a:r>
            <a:endParaRPr lang="en-US" sz="1200" dirty="0"/>
          </a:p>
        </p:txBody>
      </p:sp>
      <p:pic>
        <p:nvPicPr>
          <p:cNvPr id="83" name="Image 24" descr="preencoded.png">    </p:cNvPr>
          <p:cNvPicPr>
            <a:picLocks noChangeAspect="1"/>
          </p:cNvPicPr>
          <p:nvPr/>
        </p:nvPicPr>
        <p:blipFill>
          <a:blip r:embed="rId25"/>
          <a:srcRect l="0" r="0" t="0" b="0"/>
          <a:stretch/>
        </p:blipFill>
        <p:spPr>
          <a:xfrm>
            <a:off x="8852306" y="4192524"/>
            <a:ext cx="114300" cy="114300"/>
          </a:xfrm>
          <a:prstGeom prst="rect">
            <a:avLst/>
          </a:prstGeom>
        </p:spPr>
      </p:pic>
      <p:sp>
        <p:nvSpPr>
          <p:cNvPr id="84" name="Text 57"/>
          <p:cNvSpPr txBox="1"/>
          <p:nvPr/>
        </p:nvSpPr>
        <p:spPr>
          <a:xfrm>
            <a:off x="9052560" y="4192524"/>
            <a:ext cx="13432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伴走型支援の強化</a:t>
            </a:r>
            <a:endParaRPr lang="en-US" sz="1200" dirty="0"/>
          </a:p>
        </p:txBody>
      </p:sp>
      <p:pic>
        <p:nvPicPr>
          <p:cNvPr id="85" name="Image 25" descr="preencoded.png">    </p:cNvPr>
          <p:cNvPicPr>
            <a:picLocks noChangeAspect="1"/>
          </p:cNvPicPr>
          <p:nvPr/>
        </p:nvPicPr>
        <p:blipFill>
          <a:blip r:embed="rId26"/>
          <a:srcRect l="0" r="0" t="0" b="0"/>
          <a:stretch/>
        </p:blipFill>
        <p:spPr>
          <a:xfrm>
            <a:off x="8852306" y="4497934"/>
            <a:ext cx="114300" cy="114300"/>
          </a:xfrm>
          <a:prstGeom prst="rect">
            <a:avLst/>
          </a:prstGeom>
        </p:spPr>
      </p:pic>
      <p:sp>
        <p:nvSpPr>
          <p:cNvPr id="86" name="Text 58"/>
          <p:cNvSpPr txBox="1"/>
          <p:nvPr/>
        </p:nvSpPr>
        <p:spPr>
          <a:xfrm>
            <a:off x="9052560" y="4497934"/>
            <a:ext cx="1581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成果KPIと予算の連動</a:t>
            </a:r>
            <a:endParaRPr lang="en-US" sz="1200" dirty="0"/>
          </a:p>
        </p:txBody>
      </p:sp>
      <p:pic>
        <p:nvPicPr>
          <p:cNvPr id="87" name="Image 26" descr="preencoded.png">    </p:cNvPr>
          <p:cNvPicPr>
            <a:picLocks noChangeAspect="1"/>
          </p:cNvPicPr>
          <p:nvPr/>
        </p:nvPicPr>
        <p:blipFill>
          <a:blip r:embed="rId27"/>
          <a:srcRect l="0" r="0" t="0" b="0"/>
          <a:stretch/>
        </p:blipFill>
        <p:spPr>
          <a:xfrm>
            <a:off x="3107131" y="5449824"/>
            <a:ext cx="114300" cy="114300"/>
          </a:xfrm>
          <a:prstGeom prst="rect">
            <a:avLst/>
          </a:prstGeom>
        </p:spPr>
      </p:pic>
      <p:sp>
        <p:nvSpPr>
          <p:cNvPr id="88" name="Text 59"/>
          <p:cNvSpPr txBox="1"/>
          <p:nvPr/>
        </p:nvSpPr>
        <p:spPr>
          <a:xfrm>
            <a:off x="3307385" y="5449824"/>
            <a:ext cx="16486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スピード×標準の両立</a:t>
            </a:r>
            <a:endParaRPr lang="en-US" sz="1200" dirty="0"/>
          </a:p>
        </p:txBody>
      </p:sp>
      <p:pic>
        <p:nvPicPr>
          <p:cNvPr id="89" name="Image 27" descr="preencoded.png">    </p:cNvPr>
          <p:cNvPicPr>
            <a:picLocks noChangeAspect="1"/>
          </p:cNvPicPr>
          <p:nvPr/>
        </p:nvPicPr>
        <p:blipFill>
          <a:blip r:embed="rId28"/>
          <a:srcRect l="0" r="0" t="0" b="0"/>
          <a:stretch/>
        </p:blipFill>
        <p:spPr>
          <a:xfrm>
            <a:off x="3107131" y="5755234"/>
            <a:ext cx="114300" cy="114300"/>
          </a:xfrm>
          <a:prstGeom prst="rect">
            <a:avLst/>
          </a:prstGeom>
        </p:spPr>
      </p:pic>
      <p:sp>
        <p:nvSpPr>
          <p:cNvPr id="90" name="Text 60"/>
          <p:cNvSpPr txBox="1"/>
          <p:nvPr/>
        </p:nvSpPr>
        <p:spPr>
          <a:xfrm>
            <a:off x="3307385" y="5755234"/>
            <a:ext cx="16386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スケーラビリティ確保</a:t>
            </a:r>
            <a:endParaRPr lang="en-US" sz="1200" dirty="0"/>
          </a:p>
        </p:txBody>
      </p:sp>
      <p:pic>
        <p:nvPicPr>
          <p:cNvPr id="91" name="Image 28" descr="preencoded.png">    </p:cNvPr>
          <p:cNvPicPr>
            <a:picLocks noChangeAspect="1"/>
          </p:cNvPicPr>
          <p:nvPr/>
        </p:nvPicPr>
        <p:blipFill>
          <a:blip r:embed="rId29"/>
          <a:srcRect l="0" r="0" t="0" b="0"/>
          <a:stretch/>
        </p:blipFill>
        <p:spPr>
          <a:xfrm>
            <a:off x="3107131" y="6059729"/>
            <a:ext cx="114300" cy="114300"/>
          </a:xfrm>
          <a:prstGeom prst="rect">
            <a:avLst/>
          </a:prstGeom>
        </p:spPr>
      </p:pic>
      <p:sp>
        <p:nvSpPr>
          <p:cNvPr id="92" name="Text 61"/>
          <p:cNvSpPr txBox="1"/>
          <p:nvPr/>
        </p:nvSpPr>
        <p:spPr>
          <a:xfrm>
            <a:off x="3307385" y="6059729"/>
            <a:ext cx="11914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知見の全社還流</a:t>
            </a:r>
            <a:endParaRPr lang="en-US" sz="1200" dirty="0"/>
          </a:p>
        </p:txBody>
      </p:sp>
      <p:pic>
        <p:nvPicPr>
          <p:cNvPr id="93" name="Image 29" descr="preencoded.png">    </p:cNvPr>
          <p:cNvPicPr>
            <a:picLocks noChangeAspect="1"/>
          </p:cNvPicPr>
          <p:nvPr/>
        </p:nvPicPr>
        <p:blipFill>
          <a:blip r:embed="rId30"/>
          <a:srcRect l="0" r="0" t="0" b="0"/>
          <a:stretch/>
        </p:blipFill>
        <p:spPr>
          <a:xfrm>
            <a:off x="3107131" y="6364224"/>
            <a:ext cx="114300" cy="114300"/>
          </a:xfrm>
          <a:prstGeom prst="rect">
            <a:avLst/>
          </a:prstGeom>
        </p:spPr>
      </p:pic>
      <p:sp>
        <p:nvSpPr>
          <p:cNvPr id="94" name="Shape 62"/>
          <p:cNvSpPr/>
          <p:nvPr/>
        </p:nvSpPr>
        <p:spPr>
          <a:xfrm>
            <a:off x="5875020" y="5307178"/>
            <a:ext cx="2876702" cy="1819656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95" name="Shape 63"/>
          <p:cNvSpPr/>
          <p:nvPr/>
        </p:nvSpPr>
        <p:spPr>
          <a:xfrm>
            <a:off x="5875020" y="7117690"/>
            <a:ext cx="2876702" cy="9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96" name="Text 64"/>
          <p:cNvSpPr txBox="1"/>
          <p:nvPr/>
        </p:nvSpPr>
        <p:spPr>
          <a:xfrm>
            <a:off x="3307385" y="6364224"/>
            <a:ext cx="18004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役割・責任の線引き調整</a:t>
            </a:r>
            <a:endParaRPr lang="en-US" sz="1200" dirty="0"/>
          </a:p>
        </p:txBody>
      </p:sp>
      <p:pic>
        <p:nvPicPr>
          <p:cNvPr id="97" name="Image 30" descr="preencoded.png">    </p:cNvPr>
          <p:cNvPicPr>
            <a:picLocks noChangeAspect="1"/>
          </p:cNvPicPr>
          <p:nvPr/>
        </p:nvPicPr>
        <p:blipFill>
          <a:blip r:embed="rId31"/>
          <a:srcRect l="0" r="0" t="0" b="0"/>
          <a:stretch/>
        </p:blipFill>
        <p:spPr>
          <a:xfrm>
            <a:off x="3107131" y="6669634"/>
            <a:ext cx="114300" cy="114300"/>
          </a:xfrm>
          <a:prstGeom prst="rect">
            <a:avLst/>
          </a:prstGeom>
        </p:spPr>
      </p:pic>
      <p:sp>
        <p:nvSpPr>
          <p:cNvPr id="98" name="Text 65"/>
          <p:cNvSpPr txBox="1"/>
          <p:nvPr/>
        </p:nvSpPr>
        <p:spPr>
          <a:xfrm>
            <a:off x="3307385" y="6669634"/>
            <a:ext cx="11914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二重管理リスク</a:t>
            </a:r>
            <a:endParaRPr lang="en-US" sz="1200" dirty="0"/>
          </a:p>
        </p:txBody>
      </p:sp>
      <p:pic>
        <p:nvPicPr>
          <p:cNvPr id="99" name="Image 31" descr="preencoded.png">    </p:cNvPr>
          <p:cNvPicPr>
            <a:picLocks noChangeAspect="1"/>
          </p:cNvPicPr>
          <p:nvPr/>
        </p:nvPicPr>
        <p:blipFill>
          <a:blip r:embed="rId32"/>
          <a:srcRect l="0" r="0" t="0" b="0"/>
          <a:stretch/>
        </p:blipFill>
        <p:spPr>
          <a:xfrm>
            <a:off x="5979262" y="5449824"/>
            <a:ext cx="114300" cy="114300"/>
          </a:xfrm>
          <a:prstGeom prst="rect">
            <a:avLst/>
          </a:prstGeom>
        </p:spPr>
      </p:pic>
      <p:sp>
        <p:nvSpPr>
          <p:cNvPr id="100" name="Text 66"/>
          <p:cNvSpPr txBox="1"/>
          <p:nvPr/>
        </p:nvSpPr>
        <p:spPr>
          <a:xfrm>
            <a:off x="6179515" y="5449824"/>
            <a:ext cx="13341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全社展開フェーズ</a:t>
            </a:r>
            <a:endParaRPr lang="en-US" sz="1200" dirty="0"/>
          </a:p>
        </p:txBody>
      </p:sp>
      <p:pic>
        <p:nvPicPr>
          <p:cNvPr id="101" name="Image 32" descr="preencoded.png">    </p:cNvPr>
          <p:cNvPicPr>
            <a:picLocks noChangeAspect="1"/>
          </p:cNvPicPr>
          <p:nvPr/>
        </p:nvPicPr>
        <p:blipFill>
          <a:blip r:embed="rId33"/>
          <a:srcRect l="0" r="0" t="0" b="0"/>
          <a:stretch/>
        </p:blipFill>
        <p:spPr>
          <a:xfrm>
            <a:off x="5979262" y="5755234"/>
            <a:ext cx="114300" cy="114300"/>
          </a:xfrm>
          <a:prstGeom prst="rect">
            <a:avLst/>
          </a:prstGeom>
        </p:spPr>
      </p:pic>
      <p:sp>
        <p:nvSpPr>
          <p:cNvPr id="102" name="Text 67"/>
          <p:cNvSpPr txBox="1"/>
          <p:nvPr/>
        </p:nvSpPr>
        <p:spPr>
          <a:xfrm>
            <a:off x="6179515" y="5755234"/>
            <a:ext cx="14959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複数部門での横展開</a:t>
            </a:r>
            <a:endParaRPr lang="en-US" sz="1200" dirty="0"/>
          </a:p>
        </p:txBody>
      </p:sp>
      <p:pic>
        <p:nvPicPr>
          <p:cNvPr id="103" name="Image 33" descr="preencoded.png">    </p:cNvPr>
          <p:cNvPicPr>
            <a:picLocks noChangeAspect="1"/>
          </p:cNvPicPr>
          <p:nvPr/>
        </p:nvPicPr>
        <p:blipFill>
          <a:blip r:embed="rId34"/>
          <a:srcRect l="0" r="0" t="0" b="0"/>
          <a:stretch/>
        </p:blipFill>
        <p:spPr>
          <a:xfrm>
            <a:off x="5979262" y="6059729"/>
            <a:ext cx="114300" cy="114300"/>
          </a:xfrm>
          <a:prstGeom prst="rect">
            <a:avLst/>
          </a:prstGeom>
        </p:spPr>
      </p:pic>
      <p:sp>
        <p:nvSpPr>
          <p:cNvPr id="104" name="Text 68"/>
          <p:cNvSpPr txBox="1"/>
          <p:nvPr/>
        </p:nvSpPr>
        <p:spPr>
          <a:xfrm>
            <a:off x="6179515" y="6059729"/>
            <a:ext cx="16486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継続改善を要する領域</a:t>
            </a:r>
            <a:endParaRPr lang="en-US" sz="1200" dirty="0"/>
          </a:p>
        </p:txBody>
      </p:sp>
      <p:pic>
        <p:nvPicPr>
          <p:cNvPr id="105" name="Image 34" descr="preencoded.png">    </p:cNvPr>
          <p:cNvPicPr>
            <a:picLocks noChangeAspect="1"/>
          </p:cNvPicPr>
          <p:nvPr/>
        </p:nvPicPr>
        <p:blipFill>
          <a:blip r:embed="rId35"/>
          <a:srcRect l="0" r="0" t="0" b="0"/>
          <a:stretch/>
        </p:blipFill>
        <p:spPr>
          <a:xfrm>
            <a:off x="5979262" y="6364224"/>
            <a:ext cx="114300" cy="114300"/>
          </a:xfrm>
          <a:prstGeom prst="rect">
            <a:avLst/>
          </a:prstGeom>
        </p:spPr>
      </p:pic>
      <p:sp>
        <p:nvSpPr>
          <p:cNvPr id="106" name="Shape 69"/>
          <p:cNvSpPr/>
          <p:nvPr/>
        </p:nvSpPr>
        <p:spPr>
          <a:xfrm>
            <a:off x="8747150" y="5307178"/>
            <a:ext cx="2876702" cy="1819656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07" name="Shape 70"/>
          <p:cNvSpPr/>
          <p:nvPr/>
        </p:nvSpPr>
        <p:spPr>
          <a:xfrm>
            <a:off x="8747150" y="7117690"/>
            <a:ext cx="2876702" cy="9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08" name="Text 71"/>
          <p:cNvSpPr txBox="1"/>
          <p:nvPr/>
        </p:nvSpPr>
        <p:spPr>
          <a:xfrm>
            <a:off x="6179515" y="6364224"/>
            <a:ext cx="21058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現場主導と統制の均衡が必要</a:t>
            </a:r>
            <a:endParaRPr lang="en-US" sz="1200" dirty="0"/>
          </a:p>
        </p:txBody>
      </p:sp>
      <p:pic>
        <p:nvPicPr>
          <p:cNvPr id="109" name="Image 35" descr="preencoded.png">    </p:cNvPr>
          <p:cNvPicPr>
            <a:picLocks noChangeAspect="1"/>
          </p:cNvPicPr>
          <p:nvPr/>
        </p:nvPicPr>
        <p:blipFill>
          <a:blip r:embed="rId36"/>
          <a:srcRect l="0" r="0" t="0" b="0"/>
          <a:stretch/>
        </p:blipFill>
        <p:spPr>
          <a:xfrm>
            <a:off x="8852306" y="5449824"/>
            <a:ext cx="114300" cy="114300"/>
          </a:xfrm>
          <a:prstGeom prst="rect">
            <a:avLst/>
          </a:prstGeom>
        </p:spPr>
      </p:pic>
      <p:sp>
        <p:nvSpPr>
          <p:cNvPr id="110" name="Text 72"/>
          <p:cNvSpPr txBox="1"/>
          <p:nvPr/>
        </p:nvSpPr>
        <p:spPr>
          <a:xfrm>
            <a:off x="9052560" y="5449824"/>
            <a:ext cx="1810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RACI責任マトリクス整備</a:t>
            </a:r>
            <a:endParaRPr lang="en-US" sz="1200" dirty="0"/>
          </a:p>
        </p:txBody>
      </p:sp>
      <p:pic>
        <p:nvPicPr>
          <p:cNvPr id="111" name="Image 36" descr="preencoded.png">    </p:cNvPr>
          <p:cNvPicPr>
            <a:picLocks noChangeAspect="1"/>
          </p:cNvPicPr>
          <p:nvPr/>
        </p:nvPicPr>
        <p:blipFill>
          <a:blip r:embed="rId37"/>
          <a:srcRect l="0" r="0" t="0" b="0"/>
          <a:stretch/>
        </p:blipFill>
        <p:spPr>
          <a:xfrm>
            <a:off x="8852306" y="5755234"/>
            <a:ext cx="114300" cy="114300"/>
          </a:xfrm>
          <a:prstGeom prst="rect">
            <a:avLst/>
          </a:prstGeom>
        </p:spPr>
      </p:pic>
      <p:sp>
        <p:nvSpPr>
          <p:cNvPr id="112" name="Text 73"/>
          <p:cNvSpPr txBox="1"/>
          <p:nvPr/>
        </p:nvSpPr>
        <p:spPr>
          <a:xfrm>
            <a:off x="9052560" y="5755234"/>
            <a:ext cx="22485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サンドボックス＋門番プロセス</a:t>
            </a:r>
            <a:endParaRPr lang="en-US" sz="1200" dirty="0"/>
          </a:p>
        </p:txBody>
      </p:sp>
      <p:pic>
        <p:nvPicPr>
          <p:cNvPr id="113" name="Image 37" descr="preencoded.png">    </p:cNvPr>
          <p:cNvPicPr>
            <a:picLocks noChangeAspect="1"/>
          </p:cNvPicPr>
          <p:nvPr/>
        </p:nvPicPr>
        <p:blipFill>
          <a:blip r:embed="rId38"/>
          <a:srcRect l="0" r="0" t="0" b="0"/>
          <a:stretch/>
        </p:blipFill>
        <p:spPr>
          <a:xfrm>
            <a:off x="8852306" y="6059729"/>
            <a:ext cx="114300" cy="114300"/>
          </a:xfrm>
          <a:prstGeom prst="rect">
            <a:avLst/>
          </a:prstGeom>
        </p:spPr>
      </p:pic>
      <p:sp>
        <p:nvSpPr>
          <p:cNvPr id="114" name="Text 74"/>
          <p:cNvSpPr txBox="1"/>
          <p:nvPr/>
        </p:nvSpPr>
        <p:spPr>
          <a:xfrm>
            <a:off x="9052560" y="6059729"/>
            <a:ext cx="16486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再利用資産レジストリ</a:t>
            </a:r>
            <a:endParaRPr lang="en-US" sz="1200" dirty="0"/>
          </a:p>
        </p:txBody>
      </p:sp>
      <p:pic>
        <p:nvPicPr>
          <p:cNvPr id="115" name="Image 38" descr="preencoded.png">    </p:cNvPr>
          <p:cNvPicPr>
            <a:picLocks noChangeAspect="1"/>
          </p:cNvPicPr>
          <p:nvPr/>
        </p:nvPicPr>
        <p:blipFill>
          <a:blip r:embed="rId39"/>
          <a:srcRect l="0" r="0" t="0" b="0"/>
          <a:stretch/>
        </p:blipFill>
        <p:spPr>
          <a:xfrm>
            <a:off x="8852306" y="6364224"/>
            <a:ext cx="114300" cy="114300"/>
          </a:xfrm>
          <a:prstGeom prst="rect">
            <a:avLst/>
          </a:prstGeom>
        </p:spPr>
      </p:pic>
      <p:sp>
        <p:nvSpPr>
          <p:cNvPr id="116" name="Text 75"/>
          <p:cNvSpPr txBox="1"/>
          <p:nvPr/>
        </p:nvSpPr>
        <p:spPr>
          <a:xfrm>
            <a:off x="9052560" y="6364224"/>
            <a:ext cx="19815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部門KPIとCoE KPIの両建て</a:t>
            </a:r>
            <a:endParaRPr lang="en-US" sz="1200" dirty="0"/>
          </a:p>
        </p:txBody>
      </p:sp>
      <p:sp>
        <p:nvSpPr>
          <p:cNvPr id="117" name="Shape 76"/>
          <p:cNvSpPr/>
          <p:nvPr/>
        </p:nvSpPr>
        <p:spPr>
          <a:xfrm>
            <a:off x="571500" y="7364578"/>
            <a:ext cx="11048695" cy="743407"/>
          </a:xfrm>
          <a:prstGeom prst="roundRect">
            <a:avLst>
              <a:gd name="adj" fmla="val 7885"/>
            </a:avLst>
          </a:prstGeom>
          <a:solidFill>
            <a:srgbClr val="E6F0FF"/>
          </a:solidFill>
          <a:ln/>
        </p:spPr>
      </p:sp>
      <p:sp>
        <p:nvSpPr>
          <p:cNvPr id="118" name="Text 77"/>
          <p:cNvSpPr txBox="1"/>
          <p:nvPr/>
        </p:nvSpPr>
        <p:spPr>
          <a:xfrm>
            <a:off x="685800" y="7478878"/>
            <a:ext cx="10816438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33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結論: 全社浸透の観点ではハイブリッド型が最も効果的。CoEがガバナンス・基盤・テンプレを整備し、現場は灯台案件で価値実証→横展開の流れを形成。成熟度に応じて組織体制も進化させることが重要。</a:t>
            </a:r>
            <a:endParaRPr lang="en-US" sz="1300" dirty="0"/>
          </a:p>
        </p:txBody>
      </p:sp>
      <p:sp>
        <p:nvSpPr>
          <p:cNvPr id="119" name="Text 78"/>
          <p:cNvSpPr txBox="1"/>
          <p:nvPr/>
        </p:nvSpPr>
        <p:spPr>
          <a:xfrm>
            <a:off x="10264140" y="8069580"/>
            <a:ext cx="14767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AI推進プロジェクト</a:t>
            </a:r>
            <a:endParaRPr lang="en-US" sz="1200" dirty="0"/>
          </a:p>
        </p:txBody>
      </p:sp>
      <p:sp>
        <p:nvSpPr>
          <p:cNvPr id="120" name="Shape 79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121" name="Shape 80"/>
          <p:cNvSpPr/>
          <p:nvPr/>
        </p:nvSpPr>
        <p:spPr>
          <a:xfrm>
            <a:off x="10763402" y="-476402"/>
            <a:ext cx="1904695" cy="1904695"/>
          </a:xfrm>
          <a:prstGeom prst="ellipse">
            <a:avLst/>
          </a:prstGeom>
          <a:noFill/>
          <a:ln w="254000">
            <a:solidFill>
              <a:srgbClr val="0066CC">
                <a:alpha val="1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8011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71500" y="533095"/>
            <a:ext cx="745876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33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課題と実施体制の関連性マトリクス（1/3）課題1〜5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76072" y="1418234"/>
            <a:ext cx="2762402" cy="657454"/>
          </a:xfrm>
          <a:prstGeom prst="rect">
            <a:avLst/>
          </a:prstGeom>
          <a:solidFill>
            <a:srgbClr val="E6F0FA"/>
          </a:solidFill>
          <a:ln w="12700">
            <a:solidFill>
              <a:srgbClr val="CCD9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335731" y="1418234"/>
            <a:ext cx="1657807" cy="657454"/>
          </a:xfrm>
          <a:prstGeom prst="rect">
            <a:avLst/>
          </a:prstGeom>
          <a:solidFill>
            <a:srgbClr val="E6F0FA"/>
          </a:solidFill>
          <a:ln w="12700">
            <a:solidFill>
              <a:srgbClr val="CCD9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991710" y="1418234"/>
            <a:ext cx="1657807" cy="657454"/>
          </a:xfrm>
          <a:prstGeom prst="rect">
            <a:avLst/>
          </a:prstGeom>
          <a:solidFill>
            <a:srgbClr val="E6F0FA"/>
          </a:solidFill>
          <a:ln w="12700">
            <a:solidFill>
              <a:srgbClr val="CCD9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647688" y="1418234"/>
            <a:ext cx="1657807" cy="657454"/>
          </a:xfrm>
          <a:prstGeom prst="rect">
            <a:avLst/>
          </a:prstGeom>
          <a:solidFill>
            <a:srgbClr val="E6F0FA"/>
          </a:solidFill>
          <a:ln w="12700">
            <a:solidFill>
              <a:srgbClr val="CCD9E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03666" y="1418234"/>
            <a:ext cx="3314700" cy="657454"/>
          </a:xfrm>
          <a:prstGeom prst="rect">
            <a:avLst/>
          </a:prstGeom>
          <a:solidFill>
            <a:srgbClr val="E6F0FA"/>
          </a:solidFill>
          <a:ln w="12700">
            <a:solidFill>
              <a:srgbClr val="CCD9E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803197" y="1632204"/>
            <a:ext cx="4288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33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課題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554273" y="1632204"/>
            <a:ext cx="13432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33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実業務組み込み型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212994" y="1517904"/>
            <a:ext cx="13341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33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専門チーム主導型（CoE）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799478" y="1517904"/>
            <a:ext cx="14767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33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ハイブリッド型（CoE×現場伴走）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9426550" y="1632204"/>
            <a:ext cx="11914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33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推奨アプローチ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76072" y="2075688"/>
            <a:ext cx="2762402" cy="1343254"/>
          </a:xfrm>
          <a:prstGeom prst="rect">
            <a:avLst/>
          </a:prstGeom>
          <a:noFill/>
          <a:ln w="12700">
            <a:solidFill>
              <a:srgbClr val="CCD9E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03666" y="2075688"/>
            <a:ext cx="3314700" cy="1343254"/>
          </a:xfrm>
          <a:prstGeom prst="rect">
            <a:avLst/>
          </a:prstGeom>
          <a:noFill/>
          <a:ln w="12700">
            <a:solidFill>
              <a:srgbClr val="CCD9E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3418942"/>
            <a:ext cx="2762402" cy="1114654"/>
          </a:xfrm>
          <a:prstGeom prst="rect">
            <a:avLst/>
          </a:prstGeom>
          <a:noFill/>
          <a:ln w="12700">
            <a:solidFill>
              <a:srgbClr val="CCD9E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03666" y="3418942"/>
            <a:ext cx="3314700" cy="1114654"/>
          </a:xfrm>
          <a:prstGeom prst="rect">
            <a:avLst/>
          </a:prstGeom>
          <a:noFill/>
          <a:ln w="12700">
            <a:solidFill>
              <a:srgbClr val="CCD9E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76072" y="4532681"/>
            <a:ext cx="2762402" cy="1114654"/>
          </a:xfrm>
          <a:prstGeom prst="rect">
            <a:avLst/>
          </a:prstGeom>
          <a:noFill/>
          <a:ln w="12700">
            <a:solidFill>
              <a:srgbClr val="CCD9E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03666" y="4532681"/>
            <a:ext cx="3314700" cy="1114654"/>
          </a:xfrm>
          <a:prstGeom prst="rect">
            <a:avLst/>
          </a:prstGeom>
          <a:noFill/>
          <a:ln w="12700">
            <a:solidFill>
              <a:srgbClr val="CCD9E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76072" y="5647334"/>
            <a:ext cx="2762402" cy="1114654"/>
          </a:xfrm>
          <a:prstGeom prst="rect">
            <a:avLst/>
          </a:prstGeom>
          <a:noFill/>
          <a:ln w="12700">
            <a:solidFill>
              <a:srgbClr val="CCD9E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303666" y="5647334"/>
            <a:ext cx="3314700" cy="1114654"/>
          </a:xfrm>
          <a:prstGeom prst="rect">
            <a:avLst/>
          </a:prstGeom>
          <a:noFill/>
          <a:ln w="12700">
            <a:solidFill>
              <a:srgbClr val="CCD9E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76072" y="6761988"/>
            <a:ext cx="2762402" cy="1114654"/>
          </a:xfrm>
          <a:prstGeom prst="rect">
            <a:avLst/>
          </a:prstGeom>
          <a:noFill/>
          <a:ln w="12700">
            <a:solidFill>
              <a:srgbClr val="CCD9E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303666" y="6761988"/>
            <a:ext cx="3314700" cy="1114654"/>
          </a:xfrm>
          <a:prstGeom prst="rect">
            <a:avLst/>
          </a:prstGeom>
          <a:noFill/>
          <a:ln w="12700">
            <a:solidFill>
              <a:srgbClr val="CCD9E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76656" y="2194560"/>
            <a:ext cx="1819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33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課題1: 学習意欲ギャップ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76656" y="2470709"/>
            <a:ext cx="25530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個人による意欲差で活用度にばらつき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76656" y="3537814"/>
            <a:ext cx="1810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33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課題2: デジタルデバイド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76656" y="3813962"/>
            <a:ext cx="20866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世代・職種間のAIスキル格差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76656" y="4652467"/>
            <a:ext cx="16669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33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課題3: 効果発現の遅延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676656" y="4928616"/>
            <a:ext cx="25530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導入効果が見えるまで時間がかかる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676656" y="5766206"/>
            <a:ext cx="12006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33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課題4: AI脅威論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76656" y="6042355"/>
            <a:ext cx="22485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「仕事が奪われる」などの不安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676656" y="6880860"/>
            <a:ext cx="1819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33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課題5: ピアプレッシャー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676656" y="7157009"/>
            <a:ext cx="18004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「質問できない」雰囲気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335731" y="2075688"/>
            <a:ext cx="1657807" cy="1343254"/>
          </a:xfrm>
          <a:prstGeom prst="rect">
            <a:avLst/>
          </a:prstGeom>
          <a:noFill/>
          <a:ln w="12700">
            <a:solidFill>
              <a:srgbClr val="CCD9E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335731" y="3418942"/>
            <a:ext cx="1657807" cy="1114654"/>
          </a:xfrm>
          <a:prstGeom prst="rect">
            <a:avLst/>
          </a:prstGeom>
          <a:noFill/>
          <a:ln w="12700">
            <a:solidFill>
              <a:srgbClr val="CCD9E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991710" y="3418942"/>
            <a:ext cx="1657807" cy="1114654"/>
          </a:xfrm>
          <a:prstGeom prst="rect">
            <a:avLst/>
          </a:prstGeom>
          <a:noFill/>
          <a:ln w="12700">
            <a:solidFill>
              <a:srgbClr val="CCD9E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647688" y="4532681"/>
            <a:ext cx="1657807" cy="1114654"/>
          </a:xfrm>
          <a:prstGeom prst="rect">
            <a:avLst/>
          </a:prstGeom>
          <a:noFill/>
          <a:ln w="12700">
            <a:solidFill>
              <a:srgbClr val="CCD9E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647688" y="5647334"/>
            <a:ext cx="1657807" cy="1114654"/>
          </a:xfrm>
          <a:prstGeom prst="rect">
            <a:avLst/>
          </a:prstGeom>
          <a:noFill/>
          <a:ln w="12700">
            <a:solidFill>
              <a:srgbClr val="CCD9E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647688" y="6761988"/>
            <a:ext cx="1657807" cy="1114654"/>
          </a:xfrm>
          <a:prstGeom prst="rect">
            <a:avLst/>
          </a:prstGeom>
          <a:noFill/>
          <a:ln w="12700">
            <a:solidFill>
              <a:srgbClr val="CCD9E6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049878" y="2194560"/>
            <a:ext cx="4005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8A7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○</a:t>
            </a:r>
            <a:endParaRPr lang="en-US" sz="1800" dirty="0"/>
          </a:p>
        </p:txBody>
      </p:sp>
      <p:sp>
        <p:nvSpPr>
          <p:cNvPr id="41" name="Text 39"/>
          <p:cNvSpPr txBox="1"/>
          <p:nvPr/>
        </p:nvSpPr>
        <p:spPr>
          <a:xfrm>
            <a:off x="4049878" y="3537814"/>
            <a:ext cx="4005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8A7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○</a:t>
            </a:r>
            <a:endParaRPr lang="en-US" sz="1800" dirty="0"/>
          </a:p>
        </p:txBody>
      </p:sp>
      <p:sp>
        <p:nvSpPr>
          <p:cNvPr id="42" name="Text 40"/>
          <p:cNvSpPr txBox="1"/>
          <p:nvPr/>
        </p:nvSpPr>
        <p:spPr>
          <a:xfrm>
            <a:off x="5705856" y="3537814"/>
            <a:ext cx="4005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8A7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○</a:t>
            </a:r>
            <a:endParaRPr lang="en-US" sz="1800" dirty="0"/>
          </a:p>
        </p:txBody>
      </p:sp>
      <p:sp>
        <p:nvSpPr>
          <p:cNvPr id="43" name="Text 41"/>
          <p:cNvSpPr txBox="1"/>
          <p:nvPr/>
        </p:nvSpPr>
        <p:spPr>
          <a:xfrm>
            <a:off x="7361834" y="4652467"/>
            <a:ext cx="4005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8A7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○</a:t>
            </a:r>
            <a:endParaRPr lang="en-US" sz="1800" dirty="0"/>
          </a:p>
        </p:txBody>
      </p:sp>
      <p:sp>
        <p:nvSpPr>
          <p:cNvPr id="44" name="Text 42"/>
          <p:cNvSpPr txBox="1"/>
          <p:nvPr/>
        </p:nvSpPr>
        <p:spPr>
          <a:xfrm>
            <a:off x="7361834" y="5766206"/>
            <a:ext cx="4005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8A7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○</a:t>
            </a:r>
            <a:endParaRPr lang="en-US" sz="1800" dirty="0"/>
          </a:p>
        </p:txBody>
      </p:sp>
      <p:sp>
        <p:nvSpPr>
          <p:cNvPr id="45" name="Text 43"/>
          <p:cNvSpPr txBox="1"/>
          <p:nvPr/>
        </p:nvSpPr>
        <p:spPr>
          <a:xfrm>
            <a:off x="7361834" y="6880860"/>
            <a:ext cx="4005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8A7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○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4991710" y="2075688"/>
            <a:ext cx="1657807" cy="1343254"/>
          </a:xfrm>
          <a:prstGeom prst="rect">
            <a:avLst/>
          </a:prstGeom>
          <a:noFill/>
          <a:ln w="12700">
            <a:solidFill>
              <a:srgbClr val="CCD9E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991710" y="4532681"/>
            <a:ext cx="1657807" cy="1114654"/>
          </a:xfrm>
          <a:prstGeom prst="rect">
            <a:avLst/>
          </a:prstGeom>
          <a:noFill/>
          <a:ln w="12700">
            <a:solidFill>
              <a:srgbClr val="CCD9E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335731" y="5647334"/>
            <a:ext cx="1657807" cy="1114654"/>
          </a:xfrm>
          <a:prstGeom prst="rect">
            <a:avLst/>
          </a:prstGeom>
          <a:noFill/>
          <a:ln w="12700">
            <a:solidFill>
              <a:srgbClr val="CCD9E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991710" y="6761988"/>
            <a:ext cx="1657807" cy="1114654"/>
          </a:xfrm>
          <a:prstGeom prst="rect">
            <a:avLst/>
          </a:prstGeom>
          <a:noFill/>
          <a:ln w="12700">
            <a:solidFill>
              <a:srgbClr val="CCD9E6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5705856" y="2194560"/>
            <a:ext cx="4005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AAAA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△</a:t>
            </a:r>
            <a:endParaRPr lang="en-US" sz="1800" dirty="0"/>
          </a:p>
        </p:txBody>
      </p:sp>
      <p:sp>
        <p:nvSpPr>
          <p:cNvPr id="51" name="Text 49"/>
          <p:cNvSpPr txBox="1"/>
          <p:nvPr/>
        </p:nvSpPr>
        <p:spPr>
          <a:xfrm>
            <a:off x="5705856" y="4652467"/>
            <a:ext cx="4005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AAAA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△</a:t>
            </a:r>
            <a:endParaRPr lang="en-US" sz="1800" dirty="0"/>
          </a:p>
        </p:txBody>
      </p:sp>
      <p:sp>
        <p:nvSpPr>
          <p:cNvPr id="52" name="Text 50"/>
          <p:cNvSpPr txBox="1"/>
          <p:nvPr/>
        </p:nvSpPr>
        <p:spPr>
          <a:xfrm>
            <a:off x="4049878" y="5766206"/>
            <a:ext cx="4005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AAAA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△</a:t>
            </a:r>
            <a:endParaRPr lang="en-US" sz="1800" dirty="0"/>
          </a:p>
        </p:txBody>
      </p:sp>
      <p:sp>
        <p:nvSpPr>
          <p:cNvPr id="53" name="Text 51"/>
          <p:cNvSpPr txBox="1"/>
          <p:nvPr/>
        </p:nvSpPr>
        <p:spPr>
          <a:xfrm>
            <a:off x="5705856" y="6880860"/>
            <a:ext cx="4005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AAAA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△</a:t>
            </a:r>
            <a:endParaRPr lang="en-US" sz="1800" dirty="0"/>
          </a:p>
        </p:txBody>
      </p:sp>
      <p:sp>
        <p:nvSpPr>
          <p:cNvPr id="54" name="Shape 52"/>
          <p:cNvSpPr/>
          <p:nvPr/>
        </p:nvSpPr>
        <p:spPr>
          <a:xfrm>
            <a:off x="6647688" y="2075688"/>
            <a:ext cx="1657807" cy="1343254"/>
          </a:xfrm>
          <a:prstGeom prst="rect">
            <a:avLst/>
          </a:prstGeom>
          <a:noFill/>
          <a:ln w="12700">
            <a:solidFill>
              <a:srgbClr val="CCD9E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647688" y="3418942"/>
            <a:ext cx="1657807" cy="1114654"/>
          </a:xfrm>
          <a:prstGeom prst="rect">
            <a:avLst/>
          </a:prstGeom>
          <a:noFill/>
          <a:ln w="12700">
            <a:solidFill>
              <a:srgbClr val="CCD9E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335731" y="4532681"/>
            <a:ext cx="1657807" cy="1114654"/>
          </a:xfrm>
          <a:prstGeom prst="rect">
            <a:avLst/>
          </a:prstGeom>
          <a:noFill/>
          <a:ln w="12700">
            <a:solidFill>
              <a:srgbClr val="CCD9E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991710" y="5647334"/>
            <a:ext cx="1657807" cy="1114654"/>
          </a:xfrm>
          <a:prstGeom prst="rect">
            <a:avLst/>
          </a:prstGeom>
          <a:noFill/>
          <a:ln w="12700">
            <a:solidFill>
              <a:srgbClr val="CCD9E6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335731" y="6761988"/>
            <a:ext cx="1657807" cy="1114654"/>
          </a:xfrm>
          <a:prstGeom prst="rect">
            <a:avLst/>
          </a:prstGeom>
          <a:noFill/>
          <a:ln w="12700">
            <a:solidFill>
              <a:srgbClr val="CCD9E6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7361834" y="2194560"/>
            <a:ext cx="4005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7B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◎</a:t>
            </a:r>
            <a:endParaRPr lang="en-US" sz="1800" dirty="0"/>
          </a:p>
        </p:txBody>
      </p:sp>
      <p:sp>
        <p:nvSpPr>
          <p:cNvPr id="60" name="Text 58"/>
          <p:cNvSpPr txBox="1"/>
          <p:nvPr/>
        </p:nvSpPr>
        <p:spPr>
          <a:xfrm>
            <a:off x="7361834" y="3537814"/>
            <a:ext cx="4005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7B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◎</a:t>
            </a:r>
            <a:endParaRPr lang="en-US" sz="1800" dirty="0"/>
          </a:p>
        </p:txBody>
      </p:sp>
      <p:sp>
        <p:nvSpPr>
          <p:cNvPr id="61" name="Text 59"/>
          <p:cNvSpPr txBox="1"/>
          <p:nvPr/>
        </p:nvSpPr>
        <p:spPr>
          <a:xfrm>
            <a:off x="4049878" y="4652467"/>
            <a:ext cx="4005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7B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◎</a:t>
            </a:r>
            <a:endParaRPr lang="en-US" sz="1800" dirty="0"/>
          </a:p>
        </p:txBody>
      </p:sp>
      <p:sp>
        <p:nvSpPr>
          <p:cNvPr id="62" name="Text 60"/>
          <p:cNvSpPr txBox="1"/>
          <p:nvPr/>
        </p:nvSpPr>
        <p:spPr>
          <a:xfrm>
            <a:off x="5705856" y="5766206"/>
            <a:ext cx="4005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7B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◎</a:t>
            </a:r>
            <a:endParaRPr lang="en-US" sz="1800" dirty="0"/>
          </a:p>
        </p:txBody>
      </p:sp>
      <p:sp>
        <p:nvSpPr>
          <p:cNvPr id="63" name="Text 61"/>
          <p:cNvSpPr txBox="1"/>
          <p:nvPr/>
        </p:nvSpPr>
        <p:spPr>
          <a:xfrm>
            <a:off x="4049878" y="6880860"/>
            <a:ext cx="4005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7B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◎</a:t>
            </a:r>
            <a:endParaRPr lang="en-US" sz="1800" dirty="0"/>
          </a:p>
        </p:txBody>
      </p:sp>
      <p:sp>
        <p:nvSpPr>
          <p:cNvPr id="64" name="Shape 62"/>
          <p:cNvSpPr/>
          <p:nvPr/>
        </p:nvSpPr>
        <p:spPr>
          <a:xfrm>
            <a:off x="8403336" y="2194560"/>
            <a:ext cx="3114446" cy="1104595"/>
          </a:xfrm>
          <a:prstGeom prst="rect">
            <a:avLst/>
          </a:prstGeom>
          <a:solidFill>
            <a:srgbClr val="F5F9FF"/>
          </a:solidFill>
          <a:ln/>
        </p:spPr>
      </p:sp>
      <p:sp>
        <p:nvSpPr>
          <p:cNvPr id="65" name="Shape 63"/>
          <p:cNvSpPr/>
          <p:nvPr/>
        </p:nvSpPr>
        <p:spPr>
          <a:xfrm>
            <a:off x="8403336" y="2194560"/>
            <a:ext cx="38405" cy="1104595"/>
          </a:xfrm>
          <a:prstGeom prst="rect">
            <a:avLst/>
          </a:prstGeom>
          <a:solidFill>
            <a:srgbClr val="007BFF"/>
          </a:solidFill>
          <a:ln/>
        </p:spPr>
      </p:sp>
      <p:sp>
        <p:nvSpPr>
          <p:cNvPr id="66" name="Shape 64"/>
          <p:cNvSpPr/>
          <p:nvPr/>
        </p:nvSpPr>
        <p:spPr>
          <a:xfrm>
            <a:off x="8403336" y="3537814"/>
            <a:ext cx="3114446" cy="875995"/>
          </a:xfrm>
          <a:prstGeom prst="rect">
            <a:avLst/>
          </a:prstGeom>
          <a:solidFill>
            <a:srgbClr val="F5F9FF"/>
          </a:solidFill>
          <a:ln/>
        </p:spPr>
      </p:sp>
      <p:sp>
        <p:nvSpPr>
          <p:cNvPr id="67" name="Shape 65"/>
          <p:cNvSpPr/>
          <p:nvPr/>
        </p:nvSpPr>
        <p:spPr>
          <a:xfrm>
            <a:off x="8403336" y="3537814"/>
            <a:ext cx="38405" cy="875995"/>
          </a:xfrm>
          <a:prstGeom prst="rect">
            <a:avLst/>
          </a:prstGeom>
          <a:solidFill>
            <a:srgbClr val="007BFF"/>
          </a:solidFill>
          <a:ln/>
        </p:spPr>
      </p:sp>
      <p:sp>
        <p:nvSpPr>
          <p:cNvPr id="68" name="Shape 66"/>
          <p:cNvSpPr/>
          <p:nvPr/>
        </p:nvSpPr>
        <p:spPr>
          <a:xfrm>
            <a:off x="8403336" y="4652467"/>
            <a:ext cx="3114446" cy="875995"/>
          </a:xfrm>
          <a:prstGeom prst="rect">
            <a:avLst/>
          </a:prstGeom>
          <a:solidFill>
            <a:srgbClr val="F5F9FF"/>
          </a:solidFill>
          <a:ln/>
        </p:spPr>
      </p:sp>
      <p:sp>
        <p:nvSpPr>
          <p:cNvPr id="69" name="Shape 67"/>
          <p:cNvSpPr/>
          <p:nvPr/>
        </p:nvSpPr>
        <p:spPr>
          <a:xfrm>
            <a:off x="8403336" y="4652467"/>
            <a:ext cx="38405" cy="875995"/>
          </a:xfrm>
          <a:prstGeom prst="rect">
            <a:avLst/>
          </a:prstGeom>
          <a:solidFill>
            <a:srgbClr val="007BFF"/>
          </a:solidFill>
          <a:ln/>
        </p:spPr>
      </p:sp>
      <p:sp>
        <p:nvSpPr>
          <p:cNvPr id="70" name="Shape 68"/>
          <p:cNvSpPr/>
          <p:nvPr/>
        </p:nvSpPr>
        <p:spPr>
          <a:xfrm>
            <a:off x="8403336" y="5766206"/>
            <a:ext cx="3114446" cy="875995"/>
          </a:xfrm>
          <a:prstGeom prst="rect">
            <a:avLst/>
          </a:prstGeom>
          <a:solidFill>
            <a:srgbClr val="F5F9FF"/>
          </a:solidFill>
          <a:ln/>
        </p:spPr>
      </p:sp>
      <p:sp>
        <p:nvSpPr>
          <p:cNvPr id="71" name="Shape 69"/>
          <p:cNvSpPr/>
          <p:nvPr/>
        </p:nvSpPr>
        <p:spPr>
          <a:xfrm>
            <a:off x="8403336" y="5766206"/>
            <a:ext cx="38405" cy="875995"/>
          </a:xfrm>
          <a:prstGeom prst="rect">
            <a:avLst/>
          </a:prstGeom>
          <a:solidFill>
            <a:srgbClr val="007BFF"/>
          </a:solidFill>
          <a:ln/>
        </p:spPr>
      </p:sp>
      <p:sp>
        <p:nvSpPr>
          <p:cNvPr id="72" name="Shape 70"/>
          <p:cNvSpPr/>
          <p:nvPr/>
        </p:nvSpPr>
        <p:spPr>
          <a:xfrm>
            <a:off x="8403336" y="6880860"/>
            <a:ext cx="3114446" cy="875995"/>
          </a:xfrm>
          <a:prstGeom prst="rect">
            <a:avLst/>
          </a:prstGeom>
          <a:solidFill>
            <a:srgbClr val="F5F9FF"/>
          </a:solidFill>
          <a:ln/>
        </p:spPr>
      </p:sp>
      <p:sp>
        <p:nvSpPr>
          <p:cNvPr id="73" name="Shape 71"/>
          <p:cNvSpPr/>
          <p:nvPr/>
        </p:nvSpPr>
        <p:spPr>
          <a:xfrm>
            <a:off x="8403336" y="6880860"/>
            <a:ext cx="38405" cy="875995"/>
          </a:xfrm>
          <a:prstGeom prst="rect">
            <a:avLst/>
          </a:prstGeom>
          <a:solidFill>
            <a:srgbClr val="007BFF"/>
          </a:solidFill>
          <a:ln/>
        </p:spPr>
      </p:sp>
      <p:sp>
        <p:nvSpPr>
          <p:cNvPr id="74" name="Text 72"/>
          <p:cNvSpPr txBox="1"/>
          <p:nvPr/>
        </p:nvSpPr>
        <p:spPr>
          <a:xfrm>
            <a:off x="8556041" y="2270455"/>
            <a:ext cx="11814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7B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ハイブリッド型</a:t>
            </a:r>
            <a:endParaRPr lang="en-US" sz="1200" dirty="0"/>
          </a:p>
        </p:txBody>
      </p:sp>
      <p:sp>
        <p:nvSpPr>
          <p:cNvPr id="75" name="Text 73"/>
          <p:cNvSpPr txBox="1"/>
          <p:nvPr/>
        </p:nvSpPr>
        <p:spPr>
          <a:xfrm>
            <a:off x="8556041" y="2537460"/>
            <a:ext cx="2857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標準×現場コーチングで層別支援が可能。モチベーション層に応じた体系的アプローチを実現</a:t>
            </a:r>
            <a:endParaRPr lang="en-US" sz="1200" dirty="0"/>
          </a:p>
        </p:txBody>
      </p:sp>
      <p:sp>
        <p:nvSpPr>
          <p:cNvPr id="76" name="Text 74"/>
          <p:cNvSpPr txBox="1"/>
          <p:nvPr/>
        </p:nvSpPr>
        <p:spPr>
          <a:xfrm>
            <a:off x="8556041" y="3613709"/>
            <a:ext cx="11814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7B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ハイブリッド型</a:t>
            </a:r>
            <a:endParaRPr lang="en-US" sz="1200" dirty="0"/>
          </a:p>
        </p:txBody>
      </p:sp>
      <p:sp>
        <p:nvSpPr>
          <p:cNvPr id="77" name="Text 75"/>
          <p:cNvSpPr txBox="1"/>
          <p:nvPr/>
        </p:nvSpPr>
        <p:spPr>
          <a:xfrm>
            <a:off x="8556041" y="3880714"/>
            <a:ext cx="27148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共通研修＋現場ペア支援でギャップ急減。体系と実践の両輪で底上げ</a:t>
            </a:r>
            <a:endParaRPr lang="en-US" sz="1200" dirty="0"/>
          </a:p>
        </p:txBody>
      </p:sp>
      <p:sp>
        <p:nvSpPr>
          <p:cNvPr id="78" name="Text 76"/>
          <p:cNvSpPr txBox="1"/>
          <p:nvPr/>
        </p:nvSpPr>
        <p:spPr>
          <a:xfrm>
            <a:off x="8556041" y="4728362"/>
            <a:ext cx="13432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7B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実業務組み込み型</a:t>
            </a:r>
            <a:endParaRPr lang="en-US" sz="1200" dirty="0"/>
          </a:p>
        </p:txBody>
      </p:sp>
      <p:sp>
        <p:nvSpPr>
          <p:cNvPr id="79" name="Text 77"/>
          <p:cNvSpPr txBox="1"/>
          <p:nvPr/>
        </p:nvSpPr>
        <p:spPr>
          <a:xfrm>
            <a:off x="8556041" y="4995367"/>
            <a:ext cx="28291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小さなPoCで即クイックウィン。現場の実業務で即効性のある改善を実現</a:t>
            </a:r>
            <a:endParaRPr lang="en-US" sz="1200" dirty="0"/>
          </a:p>
        </p:txBody>
      </p:sp>
      <p:sp>
        <p:nvSpPr>
          <p:cNvPr id="80" name="Text 78"/>
          <p:cNvSpPr txBox="1"/>
          <p:nvPr/>
        </p:nvSpPr>
        <p:spPr>
          <a:xfrm>
            <a:off x="8556041" y="5843016"/>
            <a:ext cx="19248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7B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専門チーム主導型（CoE）</a:t>
            </a:r>
            <a:endParaRPr lang="en-US" sz="1200" dirty="0"/>
          </a:p>
        </p:txBody>
      </p:sp>
      <p:sp>
        <p:nvSpPr>
          <p:cNvPr id="81" name="Text 79"/>
          <p:cNvSpPr txBox="1"/>
          <p:nvPr/>
        </p:nvSpPr>
        <p:spPr>
          <a:xfrm>
            <a:off x="8556041" y="6109106"/>
            <a:ext cx="2857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一貫ガバナンスと説明責任で不安解消。全社統一のメッセージングと倫理方針</a:t>
            </a:r>
            <a:endParaRPr lang="en-US" sz="1200" dirty="0"/>
          </a:p>
        </p:txBody>
      </p:sp>
      <p:sp>
        <p:nvSpPr>
          <p:cNvPr id="82" name="Text 80"/>
          <p:cNvSpPr txBox="1"/>
          <p:nvPr/>
        </p:nvSpPr>
        <p:spPr>
          <a:xfrm>
            <a:off x="8556041" y="6956755"/>
            <a:ext cx="13432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7B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実業務組み込み型</a:t>
            </a:r>
            <a:endParaRPr lang="en-US" sz="1200" dirty="0"/>
          </a:p>
        </p:txBody>
      </p:sp>
      <p:sp>
        <p:nvSpPr>
          <p:cNvPr id="83" name="Text 81"/>
          <p:cNvSpPr txBox="1"/>
          <p:nvPr/>
        </p:nvSpPr>
        <p:spPr>
          <a:xfrm>
            <a:off x="8556041" y="7223760"/>
            <a:ext cx="28483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現場コミュニティで安心して学べる文化形成。部門内での相互支援の仕組み</a:t>
            </a:r>
            <a:endParaRPr lang="en-US" sz="1200" dirty="0"/>
          </a:p>
        </p:txBody>
      </p:sp>
      <p:sp>
        <p:nvSpPr>
          <p:cNvPr id="84" name="Text 82"/>
          <p:cNvSpPr txBox="1"/>
          <p:nvPr/>
        </p:nvSpPr>
        <p:spPr>
          <a:xfrm>
            <a:off x="571500" y="8023860"/>
            <a:ext cx="28437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【評価基準】◎: 最適　○: 適切　△: やや不足</a:t>
            </a:r>
            <a:endParaRPr lang="en-US" sz="1000" dirty="0"/>
          </a:p>
        </p:txBody>
      </p:sp>
      <p:sp>
        <p:nvSpPr>
          <p:cNvPr id="85" name="Text 83"/>
          <p:cNvSpPr txBox="1"/>
          <p:nvPr/>
        </p:nvSpPr>
        <p:spPr>
          <a:xfrm>
            <a:off x="10264140" y="8375904"/>
            <a:ext cx="14767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AI推進プロジェクト</a:t>
            </a:r>
            <a:endParaRPr lang="en-US" sz="1200" dirty="0"/>
          </a:p>
        </p:txBody>
      </p:sp>
      <p:sp>
        <p:nvSpPr>
          <p:cNvPr id="86" name="Shape 84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87" name="Shape 85"/>
          <p:cNvSpPr/>
          <p:nvPr/>
        </p:nvSpPr>
        <p:spPr>
          <a:xfrm>
            <a:off x="10763402" y="-476402"/>
            <a:ext cx="1904695" cy="1904695"/>
          </a:xfrm>
          <a:prstGeom prst="ellipse">
            <a:avLst/>
          </a:prstGeom>
          <a:noFill/>
          <a:ln w="254000">
            <a:solidFill>
              <a:srgbClr val="0066CC">
                <a:alpha val="1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71500" y="571500"/>
            <a:ext cx="304495" cy="30449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71500" y="1086307"/>
            <a:ext cx="76398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33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課題と実施体制の関連性マトリクス（2/3）課題6〜10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571500" y="1680667"/>
            <a:ext cx="2340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◎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62202" y="1680667"/>
            <a:ext cx="2340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○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752905" y="1680667"/>
            <a:ext cx="2340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△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752551" y="1680667"/>
            <a:ext cx="3675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最適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343254" y="1680667"/>
            <a:ext cx="3675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適切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1933956" y="1680667"/>
            <a:ext cx="6336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やや不足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76072" y="2123237"/>
            <a:ext cx="2933395" cy="1343254"/>
          </a:xfrm>
          <a:prstGeom prst="rect">
            <a:avLst/>
          </a:prstGeom>
          <a:solidFill>
            <a:srgbClr val="F0F5FF"/>
          </a:solidFill>
          <a:ln w="12700">
            <a:solidFill>
              <a:srgbClr val="CCDC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503981" y="2123237"/>
            <a:ext cx="571500" cy="1343254"/>
          </a:xfrm>
          <a:prstGeom prst="rect">
            <a:avLst/>
          </a:prstGeom>
          <a:solidFill>
            <a:srgbClr val="F0F5FF"/>
          </a:solidFill>
          <a:ln w="12700">
            <a:solidFill>
              <a:srgbClr val="CCDCF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075481" y="2123237"/>
            <a:ext cx="609905" cy="1343254"/>
          </a:xfrm>
          <a:prstGeom prst="rect">
            <a:avLst/>
          </a:prstGeom>
          <a:solidFill>
            <a:srgbClr val="F0F5FF"/>
          </a:solidFill>
          <a:ln w="12700">
            <a:solidFill>
              <a:srgbClr val="CCDC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679899" y="2123237"/>
            <a:ext cx="571500" cy="1343254"/>
          </a:xfrm>
          <a:prstGeom prst="rect">
            <a:avLst/>
          </a:prstGeom>
          <a:solidFill>
            <a:srgbClr val="F0F5FF"/>
          </a:solidFill>
          <a:ln w="12700">
            <a:solidFill>
              <a:srgbClr val="CCDCF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251399" y="2123237"/>
            <a:ext cx="6372454" cy="1343254"/>
          </a:xfrm>
          <a:prstGeom prst="rect">
            <a:avLst/>
          </a:prstGeom>
          <a:solidFill>
            <a:srgbClr val="F0F5FF"/>
          </a:solidFill>
          <a:ln w="12700">
            <a:solidFill>
              <a:srgbClr val="CCDCF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76656" y="2680106"/>
            <a:ext cx="4288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33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課題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3604565" y="2337206"/>
            <a:ext cx="42885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33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実業務組み込み型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4176065" y="2222906"/>
            <a:ext cx="523951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33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専門チーム主導型(CoE)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4780483" y="2337206"/>
            <a:ext cx="42885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33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ハイブリッド型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5351983" y="2680106"/>
            <a:ext cx="16486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33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推奨アプローチと理由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76072" y="3466490"/>
            <a:ext cx="2933395" cy="523951"/>
          </a:xfrm>
          <a:prstGeom prst="rect">
            <a:avLst/>
          </a:prstGeom>
          <a:noFill/>
          <a:ln w="12700">
            <a:solidFill>
              <a:srgbClr val="CCDCF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251399" y="3466490"/>
            <a:ext cx="6372454" cy="523951"/>
          </a:xfrm>
          <a:prstGeom prst="rect">
            <a:avLst/>
          </a:prstGeom>
          <a:noFill/>
          <a:ln w="12700">
            <a:solidFill>
              <a:srgbClr val="CCDCFF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76072" y="3990442"/>
            <a:ext cx="2933395" cy="523951"/>
          </a:xfrm>
          <a:prstGeom prst="rect">
            <a:avLst/>
          </a:prstGeom>
          <a:noFill/>
          <a:ln w="12700">
            <a:solidFill>
              <a:srgbClr val="CCDCFF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251399" y="3990442"/>
            <a:ext cx="6372454" cy="523951"/>
          </a:xfrm>
          <a:prstGeom prst="rect">
            <a:avLst/>
          </a:prstGeom>
          <a:noFill/>
          <a:ln w="12700">
            <a:solidFill>
              <a:srgbClr val="CCDCFF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76072" y="4514393"/>
            <a:ext cx="2933395" cy="523951"/>
          </a:xfrm>
          <a:prstGeom prst="rect">
            <a:avLst/>
          </a:prstGeom>
          <a:noFill/>
          <a:ln w="12700">
            <a:solidFill>
              <a:srgbClr val="CCDCFF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251399" y="4514393"/>
            <a:ext cx="6372454" cy="523951"/>
          </a:xfrm>
          <a:prstGeom prst="rect">
            <a:avLst/>
          </a:prstGeom>
          <a:noFill/>
          <a:ln w="12700">
            <a:solidFill>
              <a:srgbClr val="CCDCFF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76072" y="5037430"/>
            <a:ext cx="2933395" cy="523951"/>
          </a:xfrm>
          <a:prstGeom prst="rect">
            <a:avLst/>
          </a:prstGeom>
          <a:noFill/>
          <a:ln w="12700">
            <a:solidFill>
              <a:srgbClr val="CCDCFF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251399" y="5037430"/>
            <a:ext cx="6372454" cy="523951"/>
          </a:xfrm>
          <a:prstGeom prst="rect">
            <a:avLst/>
          </a:prstGeom>
          <a:noFill/>
          <a:ln w="12700">
            <a:solidFill>
              <a:srgbClr val="CCDCFF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576072" y="5561381"/>
            <a:ext cx="2933395" cy="523951"/>
          </a:xfrm>
          <a:prstGeom prst="rect">
            <a:avLst/>
          </a:prstGeom>
          <a:noFill/>
          <a:ln w="12700">
            <a:solidFill>
              <a:srgbClr val="CCDCFF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5251399" y="5561381"/>
            <a:ext cx="6372454" cy="523951"/>
          </a:xfrm>
          <a:prstGeom prst="rect">
            <a:avLst/>
          </a:prstGeom>
          <a:noFill/>
          <a:ln w="12700">
            <a:solidFill>
              <a:srgbClr val="CCDCF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76656" y="3613709"/>
            <a:ext cx="19723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33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課題6: 測定と評価の難しさ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676656" y="4137660"/>
            <a:ext cx="1819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33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課題7: スキル格差固定化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676656" y="4661611"/>
            <a:ext cx="12097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33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課題8: 変化疲れ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676656" y="5185562"/>
            <a:ext cx="19723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33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課題9: 過度依存と思考停止</a:t>
            </a:r>
            <a:endParaRPr lang="en-US" sz="1200" dirty="0"/>
          </a:p>
        </p:txBody>
      </p:sp>
      <p:sp>
        <p:nvSpPr>
          <p:cNvPr id="35" name="Text 32"/>
          <p:cNvSpPr txBox="1"/>
          <p:nvPr/>
        </p:nvSpPr>
        <p:spPr>
          <a:xfrm>
            <a:off x="676656" y="5709514"/>
            <a:ext cx="19056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33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課題10: プライバシー不安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3503981" y="3466490"/>
            <a:ext cx="571500" cy="523951"/>
          </a:xfrm>
          <a:prstGeom prst="rect">
            <a:avLst/>
          </a:prstGeom>
          <a:noFill/>
          <a:ln w="12700">
            <a:solidFill>
              <a:srgbClr val="CCDCFF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4075481" y="3466490"/>
            <a:ext cx="609905" cy="523951"/>
          </a:xfrm>
          <a:prstGeom prst="rect">
            <a:avLst/>
          </a:prstGeom>
          <a:noFill/>
          <a:ln w="12700">
            <a:solidFill>
              <a:srgbClr val="CCDCFF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679899" y="3466490"/>
            <a:ext cx="571500" cy="523951"/>
          </a:xfrm>
          <a:prstGeom prst="rect">
            <a:avLst/>
          </a:prstGeom>
          <a:noFill/>
          <a:ln w="12700">
            <a:solidFill>
              <a:srgbClr val="CCDCFF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3503981" y="3990442"/>
            <a:ext cx="571500" cy="523951"/>
          </a:xfrm>
          <a:prstGeom prst="rect">
            <a:avLst/>
          </a:prstGeom>
          <a:noFill/>
          <a:ln w="12700">
            <a:solidFill>
              <a:srgbClr val="CCDCFF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4075481" y="3990442"/>
            <a:ext cx="609905" cy="523951"/>
          </a:xfrm>
          <a:prstGeom prst="rect">
            <a:avLst/>
          </a:prstGeom>
          <a:noFill/>
          <a:ln w="12700">
            <a:solidFill>
              <a:srgbClr val="CCDCFF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679899" y="3990442"/>
            <a:ext cx="571500" cy="523951"/>
          </a:xfrm>
          <a:prstGeom prst="rect">
            <a:avLst/>
          </a:prstGeom>
          <a:noFill/>
          <a:ln w="12700">
            <a:solidFill>
              <a:srgbClr val="CCDCFF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3503981" y="4514393"/>
            <a:ext cx="571500" cy="523951"/>
          </a:xfrm>
          <a:prstGeom prst="rect">
            <a:avLst/>
          </a:prstGeom>
          <a:noFill/>
          <a:ln w="12700">
            <a:solidFill>
              <a:srgbClr val="CCDCFF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4075481" y="4514393"/>
            <a:ext cx="609905" cy="523951"/>
          </a:xfrm>
          <a:prstGeom prst="rect">
            <a:avLst/>
          </a:prstGeom>
          <a:noFill/>
          <a:ln w="12700">
            <a:solidFill>
              <a:srgbClr val="CCDCFF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4679899" y="4514393"/>
            <a:ext cx="571500" cy="523951"/>
          </a:xfrm>
          <a:prstGeom prst="rect">
            <a:avLst/>
          </a:prstGeom>
          <a:noFill/>
          <a:ln w="12700">
            <a:solidFill>
              <a:srgbClr val="CCDCFF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3503981" y="5037430"/>
            <a:ext cx="571500" cy="523951"/>
          </a:xfrm>
          <a:prstGeom prst="rect">
            <a:avLst/>
          </a:prstGeom>
          <a:noFill/>
          <a:ln w="12700">
            <a:solidFill>
              <a:srgbClr val="CCDCFF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4075481" y="5037430"/>
            <a:ext cx="609905" cy="523951"/>
          </a:xfrm>
          <a:prstGeom prst="rect">
            <a:avLst/>
          </a:prstGeom>
          <a:noFill/>
          <a:ln w="12700">
            <a:solidFill>
              <a:srgbClr val="CCDCFF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4679899" y="5037430"/>
            <a:ext cx="571500" cy="523951"/>
          </a:xfrm>
          <a:prstGeom prst="rect">
            <a:avLst/>
          </a:prstGeom>
          <a:noFill/>
          <a:ln w="12700">
            <a:solidFill>
              <a:srgbClr val="CCDCFF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3503981" y="5561381"/>
            <a:ext cx="571500" cy="523951"/>
          </a:xfrm>
          <a:prstGeom prst="rect">
            <a:avLst/>
          </a:prstGeom>
          <a:noFill/>
          <a:ln w="12700">
            <a:solidFill>
              <a:srgbClr val="CCDCFF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4075481" y="5561381"/>
            <a:ext cx="609905" cy="523951"/>
          </a:xfrm>
          <a:prstGeom prst="rect">
            <a:avLst/>
          </a:prstGeom>
          <a:noFill/>
          <a:ln w="12700">
            <a:solidFill>
              <a:srgbClr val="CCDCFF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4679899" y="5561381"/>
            <a:ext cx="571500" cy="523951"/>
          </a:xfrm>
          <a:prstGeom prst="rect">
            <a:avLst/>
          </a:prstGeom>
          <a:noFill/>
          <a:ln w="12700">
            <a:solidFill>
              <a:srgbClr val="CCDCFF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3695090" y="3585362"/>
            <a:ext cx="3337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△</a:t>
            </a:r>
            <a:endParaRPr lang="en-US" sz="1500" dirty="0"/>
          </a:p>
        </p:txBody>
      </p:sp>
      <p:sp>
        <p:nvSpPr>
          <p:cNvPr id="52" name="Text 49"/>
          <p:cNvSpPr txBox="1"/>
          <p:nvPr/>
        </p:nvSpPr>
        <p:spPr>
          <a:xfrm>
            <a:off x="4283050" y="3585362"/>
            <a:ext cx="3337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◎</a:t>
            </a:r>
            <a:endParaRPr lang="en-US" sz="1500" dirty="0"/>
          </a:p>
        </p:txBody>
      </p:sp>
      <p:sp>
        <p:nvSpPr>
          <p:cNvPr id="53" name="Text 50"/>
          <p:cNvSpPr txBox="1"/>
          <p:nvPr/>
        </p:nvSpPr>
        <p:spPr>
          <a:xfrm>
            <a:off x="4870094" y="3585362"/>
            <a:ext cx="3337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○</a:t>
            </a:r>
            <a:endParaRPr lang="en-US" sz="1500" dirty="0"/>
          </a:p>
        </p:txBody>
      </p:sp>
      <p:sp>
        <p:nvSpPr>
          <p:cNvPr id="54" name="Text 51"/>
          <p:cNvSpPr txBox="1"/>
          <p:nvPr/>
        </p:nvSpPr>
        <p:spPr>
          <a:xfrm>
            <a:off x="3695090" y="4109314"/>
            <a:ext cx="3337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○</a:t>
            </a:r>
            <a:endParaRPr lang="en-US" sz="1500" dirty="0"/>
          </a:p>
        </p:txBody>
      </p:sp>
      <p:sp>
        <p:nvSpPr>
          <p:cNvPr id="55" name="Text 52"/>
          <p:cNvSpPr txBox="1"/>
          <p:nvPr/>
        </p:nvSpPr>
        <p:spPr>
          <a:xfrm>
            <a:off x="4283050" y="4109314"/>
            <a:ext cx="3337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○</a:t>
            </a:r>
            <a:endParaRPr lang="en-US" sz="1500" dirty="0"/>
          </a:p>
        </p:txBody>
      </p:sp>
      <p:sp>
        <p:nvSpPr>
          <p:cNvPr id="56" name="Text 53"/>
          <p:cNvSpPr txBox="1"/>
          <p:nvPr/>
        </p:nvSpPr>
        <p:spPr>
          <a:xfrm>
            <a:off x="4870094" y="4109314"/>
            <a:ext cx="3337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◎</a:t>
            </a:r>
            <a:endParaRPr lang="en-US" sz="1500" dirty="0"/>
          </a:p>
        </p:txBody>
      </p:sp>
      <p:sp>
        <p:nvSpPr>
          <p:cNvPr id="57" name="Text 54"/>
          <p:cNvSpPr txBox="1"/>
          <p:nvPr/>
        </p:nvSpPr>
        <p:spPr>
          <a:xfrm>
            <a:off x="3695090" y="4633265"/>
            <a:ext cx="3337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◎</a:t>
            </a:r>
            <a:endParaRPr lang="en-US" sz="1500" dirty="0"/>
          </a:p>
        </p:txBody>
      </p:sp>
      <p:sp>
        <p:nvSpPr>
          <p:cNvPr id="58" name="Text 55"/>
          <p:cNvSpPr txBox="1"/>
          <p:nvPr/>
        </p:nvSpPr>
        <p:spPr>
          <a:xfrm>
            <a:off x="4283050" y="4633265"/>
            <a:ext cx="3337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△</a:t>
            </a:r>
            <a:endParaRPr lang="en-US" sz="1500" dirty="0"/>
          </a:p>
        </p:txBody>
      </p:sp>
      <p:sp>
        <p:nvSpPr>
          <p:cNvPr id="59" name="Text 56"/>
          <p:cNvSpPr txBox="1"/>
          <p:nvPr/>
        </p:nvSpPr>
        <p:spPr>
          <a:xfrm>
            <a:off x="4870094" y="4633265"/>
            <a:ext cx="3337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○</a:t>
            </a:r>
            <a:endParaRPr lang="en-US" sz="1500" dirty="0"/>
          </a:p>
        </p:txBody>
      </p:sp>
      <p:sp>
        <p:nvSpPr>
          <p:cNvPr id="60" name="Text 57"/>
          <p:cNvSpPr txBox="1"/>
          <p:nvPr/>
        </p:nvSpPr>
        <p:spPr>
          <a:xfrm>
            <a:off x="3695090" y="5157216"/>
            <a:ext cx="3337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△</a:t>
            </a:r>
            <a:endParaRPr lang="en-US" sz="1500" dirty="0"/>
          </a:p>
        </p:txBody>
      </p:sp>
      <p:sp>
        <p:nvSpPr>
          <p:cNvPr id="61" name="Text 58"/>
          <p:cNvSpPr txBox="1"/>
          <p:nvPr/>
        </p:nvSpPr>
        <p:spPr>
          <a:xfrm>
            <a:off x="4283050" y="5157216"/>
            <a:ext cx="3337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◎</a:t>
            </a:r>
            <a:endParaRPr lang="en-US" sz="1500" dirty="0"/>
          </a:p>
        </p:txBody>
      </p:sp>
      <p:sp>
        <p:nvSpPr>
          <p:cNvPr id="62" name="Text 59"/>
          <p:cNvSpPr txBox="1"/>
          <p:nvPr/>
        </p:nvSpPr>
        <p:spPr>
          <a:xfrm>
            <a:off x="4870094" y="5157216"/>
            <a:ext cx="3337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○</a:t>
            </a:r>
            <a:endParaRPr lang="en-US" sz="1500" dirty="0"/>
          </a:p>
        </p:txBody>
      </p:sp>
      <p:sp>
        <p:nvSpPr>
          <p:cNvPr id="63" name="Text 60"/>
          <p:cNvSpPr txBox="1"/>
          <p:nvPr/>
        </p:nvSpPr>
        <p:spPr>
          <a:xfrm>
            <a:off x="3695090" y="5681167"/>
            <a:ext cx="3337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△</a:t>
            </a:r>
            <a:endParaRPr lang="en-US" sz="1500" dirty="0"/>
          </a:p>
        </p:txBody>
      </p:sp>
      <p:sp>
        <p:nvSpPr>
          <p:cNvPr id="64" name="Text 61"/>
          <p:cNvSpPr txBox="1"/>
          <p:nvPr/>
        </p:nvSpPr>
        <p:spPr>
          <a:xfrm>
            <a:off x="4283050" y="5681167"/>
            <a:ext cx="3337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◎</a:t>
            </a:r>
            <a:endParaRPr lang="en-US" sz="1500" dirty="0"/>
          </a:p>
        </p:txBody>
      </p:sp>
      <p:sp>
        <p:nvSpPr>
          <p:cNvPr id="65" name="Text 62"/>
          <p:cNvSpPr txBox="1"/>
          <p:nvPr/>
        </p:nvSpPr>
        <p:spPr>
          <a:xfrm>
            <a:off x="4870094" y="5681167"/>
            <a:ext cx="3337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○</a:t>
            </a:r>
            <a:endParaRPr lang="en-US" sz="1500" dirty="0"/>
          </a:p>
        </p:txBody>
      </p:sp>
      <p:sp>
        <p:nvSpPr>
          <p:cNvPr id="66" name="Text 63"/>
          <p:cNvSpPr txBox="1"/>
          <p:nvPr/>
        </p:nvSpPr>
        <p:spPr>
          <a:xfrm>
            <a:off x="5351983" y="3613709"/>
            <a:ext cx="35917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推奨: CoE — 指標統一と計測基盤で全社比較可能に</a:t>
            </a:r>
            <a:endParaRPr lang="en-US" sz="1200" dirty="0"/>
          </a:p>
        </p:txBody>
      </p:sp>
      <p:sp>
        <p:nvSpPr>
          <p:cNvPr id="67" name="Text 64"/>
          <p:cNvSpPr txBox="1"/>
          <p:nvPr/>
        </p:nvSpPr>
        <p:spPr>
          <a:xfrm>
            <a:off x="5351983" y="4137660"/>
            <a:ext cx="43726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推奨: ハイブリッド型 — 能力モデル×現場実践で底上げと定着</a:t>
            </a:r>
            <a:endParaRPr lang="en-US" sz="1200" dirty="0"/>
          </a:p>
        </p:txBody>
      </p:sp>
      <p:sp>
        <p:nvSpPr>
          <p:cNvPr id="68" name="Text 65"/>
          <p:cNvSpPr txBox="1"/>
          <p:nvPr/>
        </p:nvSpPr>
        <p:spPr>
          <a:xfrm>
            <a:off x="5351983" y="4661611"/>
            <a:ext cx="40672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推奨: 実業務組み込み型 — 部門ペース調整と負荷抑制が鍵</a:t>
            </a:r>
            <a:endParaRPr lang="en-US" sz="1200" dirty="0"/>
          </a:p>
        </p:txBody>
      </p:sp>
      <p:sp>
        <p:nvSpPr>
          <p:cNvPr id="69" name="Text 66"/>
          <p:cNvSpPr txBox="1"/>
          <p:nvPr/>
        </p:nvSpPr>
        <p:spPr>
          <a:xfrm>
            <a:off x="5351983" y="5185562"/>
            <a:ext cx="40197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推奨: CoE — ルール/監査/教育の一体運用でリスク最小化</a:t>
            </a:r>
            <a:endParaRPr lang="en-US" sz="1200" dirty="0"/>
          </a:p>
        </p:txBody>
      </p:sp>
      <p:sp>
        <p:nvSpPr>
          <p:cNvPr id="70" name="Text 67"/>
          <p:cNvSpPr txBox="1"/>
          <p:nvPr/>
        </p:nvSpPr>
        <p:spPr>
          <a:xfrm>
            <a:off x="5351983" y="5709514"/>
            <a:ext cx="35625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推奨: CoE — ポリシー/設定/監査の統合管理が必須</a:t>
            </a:r>
            <a:endParaRPr lang="en-US" sz="1200" dirty="0"/>
          </a:p>
        </p:txBody>
      </p:sp>
      <p:sp>
        <p:nvSpPr>
          <p:cNvPr id="71" name="Text 68"/>
          <p:cNvSpPr txBox="1"/>
          <p:nvPr/>
        </p:nvSpPr>
        <p:spPr>
          <a:xfrm>
            <a:off x="8634679" y="6439205"/>
            <a:ext cx="31053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AI推進戦略 | システムエンジニアリング企業</a:t>
            </a:r>
            <a:endParaRPr lang="en-US" sz="1200" dirty="0"/>
          </a:p>
        </p:txBody>
      </p:sp>
      <p:sp>
        <p:nvSpPr>
          <p:cNvPr id="72" name="Shape 69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73" name="Shape 70"/>
          <p:cNvSpPr/>
          <p:nvPr/>
        </p:nvSpPr>
        <p:spPr>
          <a:xfrm>
            <a:off x="10763402" y="-476402"/>
            <a:ext cx="1904695" cy="1904695"/>
          </a:xfrm>
          <a:prstGeom prst="ellipse">
            <a:avLst/>
          </a:prstGeom>
          <a:noFill/>
          <a:ln w="254000">
            <a:solidFill>
              <a:srgbClr val="0066CC">
                <a:alpha val="1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3530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301545" y="942746"/>
            <a:ext cx="782086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33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課題と実施体制の関連性マトリクス（3/3）課題11〜14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934102" y="1537106"/>
            <a:ext cx="4005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6394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◎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162702" y="1608430"/>
            <a:ext cx="3675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最適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848502" y="1608430"/>
            <a:ext cx="3675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適切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534302" y="1608430"/>
            <a:ext cx="6336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やや不足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619902" y="1537106"/>
            <a:ext cx="4005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57B9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○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305702" y="1537106"/>
            <a:ext cx="4005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A8DA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△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76072" y="2028139"/>
            <a:ext cx="3095244" cy="657454"/>
          </a:xfrm>
          <a:prstGeom prst="rect">
            <a:avLst/>
          </a:prstGeom>
          <a:solidFill>
            <a:srgbClr val="F0F5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67658" y="2028139"/>
            <a:ext cx="1990649" cy="657454"/>
          </a:xfrm>
          <a:prstGeom prst="rect">
            <a:avLst/>
          </a:prstGeom>
          <a:solidFill>
            <a:srgbClr val="F0F5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54650" y="2028139"/>
            <a:ext cx="1990649" cy="657454"/>
          </a:xfrm>
          <a:prstGeom prst="rect">
            <a:avLst/>
          </a:prstGeom>
          <a:solidFill>
            <a:srgbClr val="F0F5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641641" y="2028139"/>
            <a:ext cx="1990649" cy="657454"/>
          </a:xfrm>
          <a:prstGeom prst="rect">
            <a:avLst/>
          </a:prstGeom>
          <a:solidFill>
            <a:srgbClr val="F0F5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628632" y="2028139"/>
            <a:ext cx="1990649" cy="657454"/>
          </a:xfrm>
          <a:prstGeom prst="rect">
            <a:avLst/>
          </a:prstGeom>
          <a:solidFill>
            <a:srgbClr val="F0F5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969618" y="2242109"/>
            <a:ext cx="4288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33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課題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432097" y="2127809"/>
            <a:ext cx="5815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33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実業務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432097" y="2356409"/>
            <a:ext cx="5815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33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組込型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269126" y="2127809"/>
            <a:ext cx="8769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33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専門チーム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419088" y="2356409"/>
            <a:ext cx="5815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33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主導型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8179308" y="2127809"/>
            <a:ext cx="1028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33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ハイブリッド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558784" y="2356409"/>
            <a:ext cx="2770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33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型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9859975" y="2242109"/>
            <a:ext cx="16486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33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推奨アプローチと理由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76072" y="2685593"/>
            <a:ext cx="3095244" cy="886054"/>
          </a:xfrm>
          <a:prstGeom prst="rect">
            <a:avLst/>
          </a:prstGeom>
          <a:solidFill>
            <a:srgbClr val="F0F5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76072" y="3570732"/>
            <a:ext cx="3095244" cy="886054"/>
          </a:xfrm>
          <a:prstGeom prst="rect">
            <a:avLst/>
          </a:prstGeom>
          <a:solidFill>
            <a:srgbClr val="F0F5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4456786"/>
            <a:ext cx="3095244" cy="886054"/>
          </a:xfrm>
          <a:prstGeom prst="rect">
            <a:avLst/>
          </a:prstGeom>
          <a:solidFill>
            <a:srgbClr val="F0F5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76072" y="5342839"/>
            <a:ext cx="3095244" cy="886054"/>
          </a:xfrm>
          <a:prstGeom prst="rect">
            <a:avLst/>
          </a:prstGeom>
          <a:solidFill>
            <a:srgbClr val="F0F5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76656" y="3013862"/>
            <a:ext cx="9628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11. ROI疑念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76656" y="3899916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12. 暗黙知の形式知化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676656" y="4785055"/>
            <a:ext cx="12957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13. 組織の慣性力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676656" y="5671109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14. 顧客認識ギャップ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667658" y="2685593"/>
            <a:ext cx="1990649" cy="886054"/>
          </a:xfrm>
          <a:prstGeom prst="rect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654650" y="2685593"/>
            <a:ext cx="1990649" cy="886054"/>
          </a:xfrm>
          <a:prstGeom prst="rect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641641" y="2685593"/>
            <a:ext cx="1990649" cy="886054"/>
          </a:xfrm>
          <a:prstGeom prst="rect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667658" y="3570732"/>
            <a:ext cx="1990649" cy="886054"/>
          </a:xfrm>
          <a:prstGeom prst="rect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654650" y="3570732"/>
            <a:ext cx="1990649" cy="886054"/>
          </a:xfrm>
          <a:prstGeom prst="rect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641641" y="3570732"/>
            <a:ext cx="1990649" cy="886054"/>
          </a:xfrm>
          <a:prstGeom prst="rect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67658" y="4456786"/>
            <a:ext cx="1990649" cy="886054"/>
          </a:xfrm>
          <a:prstGeom prst="rect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654650" y="4456786"/>
            <a:ext cx="1990649" cy="886054"/>
          </a:xfrm>
          <a:prstGeom prst="rect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641641" y="4456786"/>
            <a:ext cx="1990649" cy="886054"/>
          </a:xfrm>
          <a:prstGeom prst="rect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667658" y="5342839"/>
            <a:ext cx="1990649" cy="886054"/>
          </a:xfrm>
          <a:prstGeom prst="rect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654650" y="5342839"/>
            <a:ext cx="1990649" cy="886054"/>
          </a:xfrm>
          <a:prstGeom prst="rect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641641" y="5342839"/>
            <a:ext cx="1990649" cy="886054"/>
          </a:xfrm>
          <a:prstGeom prst="rect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4584802" y="3013862"/>
            <a:ext cx="2770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○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6571793" y="3013862"/>
            <a:ext cx="2770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○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8558784" y="3013862"/>
            <a:ext cx="2770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◎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4584802" y="3899916"/>
            <a:ext cx="2770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◎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6571793" y="3899916"/>
            <a:ext cx="2770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△</a:t>
            </a:r>
            <a:endParaRPr lang="en-US" sz="1200" dirty="0"/>
          </a:p>
        </p:txBody>
      </p:sp>
      <p:sp>
        <p:nvSpPr>
          <p:cNvPr id="48" name="Text 46"/>
          <p:cNvSpPr txBox="1"/>
          <p:nvPr/>
        </p:nvSpPr>
        <p:spPr>
          <a:xfrm>
            <a:off x="8558784" y="3899916"/>
            <a:ext cx="2770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○</a:t>
            </a:r>
            <a:endParaRPr lang="en-US" sz="1200" dirty="0"/>
          </a:p>
        </p:txBody>
      </p:sp>
      <p:sp>
        <p:nvSpPr>
          <p:cNvPr id="49" name="Text 47"/>
          <p:cNvSpPr txBox="1"/>
          <p:nvPr/>
        </p:nvSpPr>
        <p:spPr>
          <a:xfrm>
            <a:off x="4584802" y="4785055"/>
            <a:ext cx="2770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△</a:t>
            </a:r>
            <a:endParaRPr lang="en-US" sz="1200" dirty="0"/>
          </a:p>
        </p:txBody>
      </p:sp>
      <p:sp>
        <p:nvSpPr>
          <p:cNvPr id="50" name="Text 48"/>
          <p:cNvSpPr txBox="1"/>
          <p:nvPr/>
        </p:nvSpPr>
        <p:spPr>
          <a:xfrm>
            <a:off x="6571793" y="4785055"/>
            <a:ext cx="2770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○</a:t>
            </a:r>
            <a:endParaRPr lang="en-US" sz="1200" dirty="0"/>
          </a:p>
        </p:txBody>
      </p:sp>
      <p:sp>
        <p:nvSpPr>
          <p:cNvPr id="51" name="Text 49"/>
          <p:cNvSpPr txBox="1"/>
          <p:nvPr/>
        </p:nvSpPr>
        <p:spPr>
          <a:xfrm>
            <a:off x="8558784" y="4785055"/>
            <a:ext cx="2770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◎</a:t>
            </a:r>
            <a:endParaRPr lang="en-US" sz="1200" dirty="0"/>
          </a:p>
        </p:txBody>
      </p:sp>
      <p:sp>
        <p:nvSpPr>
          <p:cNvPr id="52" name="Text 50"/>
          <p:cNvSpPr txBox="1"/>
          <p:nvPr/>
        </p:nvSpPr>
        <p:spPr>
          <a:xfrm>
            <a:off x="4584802" y="5671109"/>
            <a:ext cx="2770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◎</a:t>
            </a:r>
            <a:endParaRPr lang="en-US" sz="1200" dirty="0"/>
          </a:p>
        </p:txBody>
      </p:sp>
      <p:sp>
        <p:nvSpPr>
          <p:cNvPr id="53" name="Text 51"/>
          <p:cNvSpPr txBox="1"/>
          <p:nvPr/>
        </p:nvSpPr>
        <p:spPr>
          <a:xfrm>
            <a:off x="6571793" y="5671109"/>
            <a:ext cx="2770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△</a:t>
            </a:r>
            <a:endParaRPr lang="en-US" sz="1200" dirty="0"/>
          </a:p>
        </p:txBody>
      </p:sp>
      <p:sp>
        <p:nvSpPr>
          <p:cNvPr id="54" name="Text 52"/>
          <p:cNvSpPr txBox="1"/>
          <p:nvPr/>
        </p:nvSpPr>
        <p:spPr>
          <a:xfrm>
            <a:off x="8558784" y="5671109"/>
            <a:ext cx="2770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○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9628632" y="2685593"/>
            <a:ext cx="1990649" cy="886054"/>
          </a:xfrm>
          <a:prstGeom prst="rect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9628632" y="3570732"/>
            <a:ext cx="1990649" cy="886054"/>
          </a:xfrm>
          <a:prstGeom prst="rect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628632" y="4456786"/>
            <a:ext cx="1990649" cy="886054"/>
          </a:xfrm>
          <a:prstGeom prst="rect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9628632" y="5342839"/>
            <a:ext cx="1990649" cy="886054"/>
          </a:xfrm>
          <a:prstGeom prst="rect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9728302" y="2785262"/>
            <a:ext cx="189555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ハイブリッド型 — 標準ROI枠×現場ビジネスケースで説得力</a:t>
            </a:r>
            <a:endParaRPr lang="en-US" sz="1200" dirty="0"/>
          </a:p>
        </p:txBody>
      </p:sp>
      <p:sp>
        <p:nvSpPr>
          <p:cNvPr id="60" name="Text 58"/>
          <p:cNvSpPr txBox="1"/>
          <p:nvPr/>
        </p:nvSpPr>
        <p:spPr>
          <a:xfrm>
            <a:off x="9728302" y="3671316"/>
            <a:ext cx="186720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実業務組み込み型 — 実務文脈でノウハウ収集が最速</a:t>
            </a:r>
            <a:endParaRPr lang="en-US" sz="1200" dirty="0"/>
          </a:p>
        </p:txBody>
      </p:sp>
      <p:sp>
        <p:nvSpPr>
          <p:cNvPr id="61" name="Text 59"/>
          <p:cNvSpPr txBox="1"/>
          <p:nvPr/>
        </p:nvSpPr>
        <p:spPr>
          <a:xfrm>
            <a:off x="9728302" y="4556455"/>
            <a:ext cx="185806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ハイブリッド型 — トップダウン権限×現場実装で前進</a:t>
            </a:r>
            <a:endParaRPr lang="en-US" sz="1200" dirty="0"/>
          </a:p>
        </p:txBody>
      </p:sp>
      <p:sp>
        <p:nvSpPr>
          <p:cNvPr id="62" name="Text 60"/>
          <p:cNvSpPr txBox="1"/>
          <p:nvPr/>
        </p:nvSpPr>
        <p:spPr>
          <a:xfrm>
            <a:off x="9728302" y="5442509"/>
            <a:ext cx="186720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実業務組み込み型 — 顧客接点での即時検証が効果的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571500" y="6613855"/>
            <a:ext cx="11048695" cy="1352398"/>
          </a:xfrm>
          <a:prstGeom prst="roundRect">
            <a:avLst>
              <a:gd name="adj" fmla="val 3809"/>
            </a:avLst>
          </a:prstGeom>
          <a:solidFill>
            <a:srgbClr val="F0F5FF"/>
          </a:solidFill>
          <a:ln/>
        </p:spPr>
      </p:sp>
      <p:sp>
        <p:nvSpPr>
          <p:cNvPr id="64" name="Text 62"/>
          <p:cNvSpPr txBox="1"/>
          <p:nvPr/>
        </p:nvSpPr>
        <p:spPr>
          <a:xfrm>
            <a:off x="714146" y="6757416"/>
            <a:ext cx="109545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33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戦略的示唆</a:t>
            </a:r>
            <a:endParaRPr lang="en-US" sz="1500" dirty="0"/>
          </a:p>
        </p:txBody>
      </p:sp>
      <p:sp>
        <p:nvSpPr>
          <p:cNvPr id="65" name="Text 63"/>
          <p:cNvSpPr txBox="1"/>
          <p:nvPr/>
        </p:nvSpPr>
        <p:spPr>
          <a:xfrm>
            <a:off x="714146" y="7137806"/>
            <a:ext cx="57342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◆ ハイブリッド型(5課題)、実業務型(5課題)、専門チーム型(4課題)の均衡した分布</a:t>
            </a:r>
            <a:endParaRPr lang="en-US" sz="1200" dirty="0"/>
          </a:p>
        </p:txBody>
      </p:sp>
      <p:sp>
        <p:nvSpPr>
          <p:cNvPr id="66" name="Text 64"/>
          <p:cNvSpPr txBox="1"/>
          <p:nvPr/>
        </p:nvSpPr>
        <p:spPr>
          <a:xfrm>
            <a:off x="714146" y="7366406"/>
            <a:ext cx="94969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◆ 実装フェーズによる適材適所: 初期は実業務型でクイックウィン、並行して専門チームで基盤整備、成熟期にハイブリッド型で全社展開</a:t>
            </a:r>
            <a:endParaRPr lang="en-US" sz="1200" dirty="0"/>
          </a:p>
        </p:txBody>
      </p:sp>
      <p:sp>
        <p:nvSpPr>
          <p:cNvPr id="67" name="Text 65"/>
          <p:cNvSpPr txBox="1"/>
          <p:nvPr/>
        </p:nvSpPr>
        <p:spPr>
          <a:xfrm>
            <a:off x="714146" y="7595006"/>
            <a:ext cx="90589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◆ 課題の性質で最適体制が変わる: 文化・人間系は実業務型、標準化・安全系は専門チーム型、複合的課題はハイブリッド型が有効</a:t>
            </a:r>
            <a:endParaRPr lang="en-US" sz="1200" dirty="0"/>
          </a:p>
        </p:txBody>
      </p:sp>
      <p:sp>
        <p:nvSpPr>
          <p:cNvPr id="68" name="Text 66"/>
          <p:cNvSpPr txBox="1"/>
          <p:nvPr/>
        </p:nvSpPr>
        <p:spPr>
          <a:xfrm>
            <a:off x="10264140" y="7928762"/>
            <a:ext cx="14767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AI推進プロジェクト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70" name="Shape 68"/>
          <p:cNvSpPr/>
          <p:nvPr/>
        </p:nvSpPr>
        <p:spPr>
          <a:xfrm>
            <a:off x="10763402" y="-476402"/>
            <a:ext cx="1904695" cy="1904695"/>
          </a:xfrm>
          <a:prstGeom prst="ellipse">
            <a:avLst/>
          </a:prstGeom>
          <a:noFill/>
          <a:ln w="254000">
            <a:solidFill>
              <a:srgbClr val="0066CC">
                <a:alpha val="1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-266" r="-266" t="0" b="0"/>
          <a:stretch/>
        </p:blipFill>
        <p:spPr>
          <a:xfrm>
            <a:off x="571500" y="697687"/>
            <a:ext cx="323698" cy="28620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37844" y="580644"/>
            <a:ext cx="7782458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33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システム開発におけるAI効果領域（プロセス別）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71500" y="1371600"/>
            <a:ext cx="2438705" cy="1876349"/>
          </a:xfrm>
          <a:prstGeom prst="roundRect">
            <a:avLst>
              <a:gd name="adj" fmla="val 2474"/>
            </a:avLst>
          </a:prstGeom>
          <a:solidFill>
            <a:srgbClr val="F8FBFF"/>
          </a:solidFill>
          <a:ln w="25400">
            <a:solidFill>
              <a:srgbClr val="0066C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444545" y="1371600"/>
            <a:ext cx="2438705" cy="1876349"/>
          </a:xfrm>
          <a:prstGeom prst="roundRect">
            <a:avLst>
              <a:gd name="adj" fmla="val 2474"/>
            </a:avLst>
          </a:prstGeom>
          <a:solidFill>
            <a:srgbClr val="F8FBFF"/>
          </a:solidFill>
          <a:ln w="25400">
            <a:solidFill>
              <a:srgbClr val="0066C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316675" y="1371600"/>
            <a:ext cx="2438705" cy="1876349"/>
          </a:xfrm>
          <a:prstGeom prst="roundRect">
            <a:avLst>
              <a:gd name="adj" fmla="val 2474"/>
            </a:avLst>
          </a:prstGeom>
          <a:solidFill>
            <a:srgbClr val="F8FBFF"/>
          </a:solidFill>
          <a:ln w="25400">
            <a:solidFill>
              <a:srgbClr val="0066C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9189720" y="1371600"/>
            <a:ext cx="2438705" cy="1876349"/>
          </a:xfrm>
          <a:prstGeom prst="roundRect">
            <a:avLst>
              <a:gd name="adj" fmla="val 2474"/>
            </a:avLst>
          </a:prstGeom>
          <a:solidFill>
            <a:srgbClr val="F8FBFF"/>
          </a:solidFill>
          <a:ln w="25400">
            <a:solidFill>
              <a:srgbClr val="0066C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80898" y="1200607"/>
            <a:ext cx="381305" cy="381305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10" name="Shape 7"/>
          <p:cNvSpPr/>
          <p:nvPr/>
        </p:nvSpPr>
        <p:spPr>
          <a:xfrm>
            <a:off x="3653942" y="1200607"/>
            <a:ext cx="381305" cy="381305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11" name="Shape 8"/>
          <p:cNvSpPr/>
          <p:nvPr/>
        </p:nvSpPr>
        <p:spPr>
          <a:xfrm>
            <a:off x="6526073" y="1200607"/>
            <a:ext cx="381305" cy="381305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12" name="Shape 9"/>
          <p:cNvSpPr/>
          <p:nvPr/>
        </p:nvSpPr>
        <p:spPr>
          <a:xfrm>
            <a:off x="9399118" y="1200607"/>
            <a:ext cx="381305" cy="381305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920801" y="1261872"/>
            <a:ext cx="23408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3793846" y="1261872"/>
            <a:ext cx="23408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6665976" y="1261872"/>
            <a:ext cx="23408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9539021" y="1261872"/>
            <a:ext cx="23408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1368857" y="1676095"/>
            <a:ext cx="98115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33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要件/設計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4468673" y="1676095"/>
            <a:ext cx="52395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33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実装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7246620" y="1676095"/>
            <a:ext cx="71506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33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テスト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972007" y="2057400"/>
            <a:ext cx="126004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要件書の自動解析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972007" y="2328977"/>
            <a:ext cx="125089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設計パターン提案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972007" y="2600554"/>
            <a:ext cx="1955902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ユーザーストーリー自動生成支援</a:t>
            </a:r>
            <a:endParaRPr lang="en-US" sz="1100" dirty="0"/>
          </a:p>
        </p:txBody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354934" y="2290572"/>
            <a:ext cx="228600" cy="228600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9987077" y="1676095"/>
            <a:ext cx="98115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33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運用/保守</a:t>
            </a:r>
            <a:endParaRPr lang="en-US" sz="1500" dirty="0"/>
          </a:p>
        </p:txBody>
      </p:sp>
      <p:sp>
        <p:nvSpPr>
          <p:cNvPr id="25" name="Text 21"/>
          <p:cNvSpPr txBox="1"/>
          <p:nvPr/>
        </p:nvSpPr>
        <p:spPr>
          <a:xfrm>
            <a:off x="3844138" y="2057400"/>
            <a:ext cx="111739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コード自動生成</a:t>
            </a:r>
            <a:endParaRPr lang="en-US" sz="1100" dirty="0"/>
          </a:p>
        </p:txBody>
      </p:sp>
      <p:sp>
        <p:nvSpPr>
          <p:cNvPr id="26" name="Text 22"/>
          <p:cNvSpPr txBox="1"/>
          <p:nvPr/>
        </p:nvSpPr>
        <p:spPr>
          <a:xfrm>
            <a:off x="3844138" y="2328977"/>
            <a:ext cx="154625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コードレビュー自動化</a:t>
            </a:r>
            <a:endParaRPr lang="en-US" sz="1100" dirty="0"/>
          </a:p>
        </p:txBody>
      </p:sp>
      <p:sp>
        <p:nvSpPr>
          <p:cNvPr id="27" name="Text 23"/>
          <p:cNvSpPr txBox="1"/>
          <p:nvPr/>
        </p:nvSpPr>
        <p:spPr>
          <a:xfrm>
            <a:off x="3844138" y="2600554"/>
            <a:ext cx="153619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リファクタリング提案</a:t>
            </a:r>
            <a:endParaRPr lang="en-US" sz="1100" dirty="0"/>
          </a:p>
        </p:txBody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061558" y="2290572"/>
            <a:ext cx="228600" cy="228600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6717182" y="2057400"/>
            <a:ext cx="153619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テストケース自動生成</a:t>
            </a:r>
            <a:endParaRPr lang="en-US" sz="1100" dirty="0"/>
          </a:p>
        </p:txBody>
      </p:sp>
      <p:sp>
        <p:nvSpPr>
          <p:cNvPr id="30" name="Text 25"/>
          <p:cNvSpPr txBox="1"/>
          <p:nvPr/>
        </p:nvSpPr>
        <p:spPr>
          <a:xfrm>
            <a:off x="6717182" y="2328977"/>
            <a:ext cx="126004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回帰テスト自動化</a:t>
            </a:r>
            <a:endParaRPr lang="en-US" sz="1100" dirty="0"/>
          </a:p>
        </p:txBody>
      </p:sp>
      <p:sp>
        <p:nvSpPr>
          <p:cNvPr id="31" name="Text 26"/>
          <p:cNvSpPr txBox="1"/>
          <p:nvPr/>
        </p:nvSpPr>
        <p:spPr>
          <a:xfrm>
            <a:off x="6717182" y="2600554"/>
            <a:ext cx="140269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バグ予測モデル構築</a:t>
            </a:r>
            <a:endParaRPr lang="en-US" sz="1100" dirty="0"/>
          </a:p>
        </p:txBody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769096" y="2290572"/>
            <a:ext cx="228600" cy="228600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9589313" y="2057400"/>
            <a:ext cx="97475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ログ異常検知</a:t>
            </a:r>
            <a:endParaRPr lang="en-US" sz="1100" dirty="0"/>
          </a:p>
        </p:txBody>
      </p:sp>
      <p:sp>
        <p:nvSpPr>
          <p:cNvPr id="34" name="Text 28"/>
          <p:cNvSpPr txBox="1"/>
          <p:nvPr/>
        </p:nvSpPr>
        <p:spPr>
          <a:xfrm>
            <a:off x="9589313" y="2328977"/>
            <a:ext cx="111739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性能問題の予測</a:t>
            </a:r>
            <a:endParaRPr lang="en-US" sz="1100" dirty="0"/>
          </a:p>
        </p:txBody>
      </p:sp>
      <p:sp>
        <p:nvSpPr>
          <p:cNvPr id="35" name="Text 29"/>
          <p:cNvSpPr txBox="1"/>
          <p:nvPr/>
        </p:nvSpPr>
        <p:spPr>
          <a:xfrm>
            <a:off x="9589313" y="2600554"/>
            <a:ext cx="125089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自動復旧システム</a:t>
            </a:r>
            <a:endParaRPr lang="en-US" sz="1100" dirty="0"/>
          </a:p>
        </p:txBody>
      </p:sp>
      <p:sp>
        <p:nvSpPr>
          <p:cNvPr id="36" name="Shape 30"/>
          <p:cNvSpPr/>
          <p:nvPr/>
        </p:nvSpPr>
        <p:spPr>
          <a:xfrm>
            <a:off x="571500" y="3724351"/>
            <a:ext cx="11048695" cy="1352398"/>
          </a:xfrm>
          <a:prstGeom prst="roundRect">
            <a:avLst>
              <a:gd name="adj" fmla="val 4761"/>
            </a:avLst>
          </a:prstGeom>
          <a:solidFill>
            <a:srgbClr val="EEF7FF"/>
          </a:solidFill>
          <a:ln/>
        </p:spPr>
      </p:sp>
      <p:sp>
        <p:nvSpPr>
          <p:cNvPr id="37" name="Shape 31"/>
          <p:cNvSpPr/>
          <p:nvPr/>
        </p:nvSpPr>
        <p:spPr>
          <a:xfrm>
            <a:off x="571500" y="3724351"/>
            <a:ext cx="38405" cy="1352398"/>
          </a:xfrm>
          <a:prstGeom prst="rect">
            <a:avLst/>
          </a:prstGeom>
          <a:solidFill>
            <a:srgbClr val="0066CC"/>
          </a:solidFill>
          <a:ln/>
        </p:spPr>
      </p:sp>
      <p:pic>
        <p:nvPicPr>
          <p:cNvPr id="38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00100" y="3962095"/>
            <a:ext cx="190195" cy="190195"/>
          </a:xfrm>
          <a:prstGeom prst="rect">
            <a:avLst/>
          </a:prstGeom>
        </p:spPr>
      </p:pic>
      <p:sp>
        <p:nvSpPr>
          <p:cNvPr id="39" name="Text 32"/>
          <p:cNvSpPr txBox="1"/>
          <p:nvPr/>
        </p:nvSpPr>
        <p:spPr>
          <a:xfrm>
            <a:off x="1067105" y="3914546"/>
            <a:ext cx="19915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33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KPI（効果測定指標）</a:t>
            </a:r>
            <a:endParaRPr lang="en-US" sz="1500" dirty="0"/>
          </a:p>
        </p:txBody>
      </p:sp>
      <p:sp>
        <p:nvSpPr>
          <p:cNvPr id="40" name="Text 33"/>
          <p:cNvSpPr txBox="1"/>
          <p:nvPr/>
        </p:nvSpPr>
        <p:spPr>
          <a:xfrm>
            <a:off x="1722730" y="4343400"/>
            <a:ext cx="1153058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66C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+30-50%</a:t>
            </a:r>
            <a:endParaRPr lang="en-US" sz="1800" dirty="0"/>
          </a:p>
        </p:txBody>
      </p:sp>
      <p:sp>
        <p:nvSpPr>
          <p:cNvPr id="41" name="Text 34"/>
          <p:cNvSpPr txBox="1"/>
          <p:nvPr/>
        </p:nvSpPr>
        <p:spPr>
          <a:xfrm>
            <a:off x="4593946" y="4343400"/>
            <a:ext cx="752551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66C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-40%</a:t>
            </a:r>
            <a:endParaRPr lang="en-US" sz="1800" dirty="0"/>
          </a:p>
        </p:txBody>
      </p:sp>
      <p:sp>
        <p:nvSpPr>
          <p:cNvPr id="42" name="Text 35"/>
          <p:cNvSpPr txBox="1"/>
          <p:nvPr/>
        </p:nvSpPr>
        <p:spPr>
          <a:xfrm>
            <a:off x="7240219" y="4343400"/>
            <a:ext cx="752551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66C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-50%</a:t>
            </a:r>
            <a:endParaRPr lang="en-US" sz="1800" dirty="0"/>
          </a:p>
        </p:txBody>
      </p:sp>
      <p:sp>
        <p:nvSpPr>
          <p:cNvPr id="43" name="Text 36"/>
          <p:cNvSpPr txBox="1"/>
          <p:nvPr/>
        </p:nvSpPr>
        <p:spPr>
          <a:xfrm>
            <a:off x="9860890" y="4343400"/>
            <a:ext cx="8001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66C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+25%</a:t>
            </a:r>
            <a:endParaRPr lang="en-US" sz="1800" dirty="0"/>
          </a:p>
        </p:txBody>
      </p:sp>
      <p:sp>
        <p:nvSpPr>
          <p:cNvPr id="44" name="Text 37"/>
          <p:cNvSpPr txBox="1"/>
          <p:nvPr/>
        </p:nvSpPr>
        <p:spPr>
          <a:xfrm>
            <a:off x="1745590" y="4686300"/>
            <a:ext cx="10341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コード生成速度</a:t>
            </a:r>
            <a:endParaRPr lang="en-US" sz="1000" dirty="0"/>
          </a:p>
        </p:txBody>
      </p:sp>
      <p:sp>
        <p:nvSpPr>
          <p:cNvPr id="45" name="Text 38"/>
          <p:cNvSpPr txBox="1"/>
          <p:nvPr/>
        </p:nvSpPr>
        <p:spPr>
          <a:xfrm>
            <a:off x="4548226" y="4686300"/>
            <a:ext cx="7671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テスト工数</a:t>
            </a:r>
            <a:endParaRPr lang="en-US" sz="1000" dirty="0"/>
          </a:p>
        </p:txBody>
      </p:sp>
      <p:sp>
        <p:nvSpPr>
          <p:cNvPr id="46" name="Text 39"/>
          <p:cNvSpPr txBox="1"/>
          <p:nvPr/>
        </p:nvSpPr>
        <p:spPr>
          <a:xfrm>
            <a:off x="7060997" y="4686300"/>
            <a:ext cx="10341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バグ修正コスト</a:t>
            </a:r>
            <a:endParaRPr lang="en-US" sz="1000" dirty="0"/>
          </a:p>
        </p:txBody>
      </p:sp>
      <p:sp>
        <p:nvSpPr>
          <p:cNvPr id="47" name="Text 40"/>
          <p:cNvSpPr txBox="1"/>
          <p:nvPr/>
        </p:nvSpPr>
        <p:spPr>
          <a:xfrm>
            <a:off x="9839858" y="4686300"/>
            <a:ext cx="7671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品質向上率</a:t>
            </a:r>
            <a:endParaRPr lang="en-US" sz="1000" dirty="0"/>
          </a:p>
        </p:txBody>
      </p:sp>
      <p:sp>
        <p:nvSpPr>
          <p:cNvPr id="48" name="Text 41"/>
          <p:cNvSpPr txBox="1"/>
          <p:nvPr/>
        </p:nvSpPr>
        <p:spPr>
          <a:xfrm>
            <a:off x="10264140" y="6439205"/>
            <a:ext cx="14767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AI推進プロジェクト</a:t>
            </a:r>
            <a:endParaRPr lang="en-US" sz="1200" dirty="0"/>
          </a:p>
        </p:txBody>
      </p:sp>
      <p:sp>
        <p:nvSpPr>
          <p:cNvPr id="49" name="Shape 42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003366"/>
          </a:solidFill>
          <a:ln/>
        </p:spPr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71500" y="1552651"/>
            <a:ext cx="2434133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33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最新AI動向の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71500" y="1986991"/>
            <a:ext cx="3176626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33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アップデート戦略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08906" y="2514600"/>
            <a:ext cx="45820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情報源:技術ブログ/論文、GitHub Trending、カンファレンス参加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08906" y="2971800"/>
            <a:ext cx="41632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社内共有:月次AIレポート、技術ブログ、Slack #ai-trending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08906" y="3429000"/>
            <a:ext cx="36676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継続学習:個人学習計画、オンライン講座、資格取得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08906" y="3886200"/>
            <a:ext cx="42775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実験:小規模POC、成熟度/セキュリティ評価、ROIで導入判断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0264140" y="6439205"/>
            <a:ext cx="14767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AI推進プロジェクト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11" name="Shape 9"/>
          <p:cNvSpPr/>
          <p:nvPr/>
        </p:nvSpPr>
        <p:spPr>
          <a:xfrm>
            <a:off x="10763402" y="-476402"/>
            <a:ext cx="1904695" cy="1904695"/>
          </a:xfrm>
          <a:prstGeom prst="ellipse">
            <a:avLst/>
          </a:prstGeom>
          <a:noFill/>
          <a:ln w="254000">
            <a:solidFill>
              <a:srgbClr val="0066CC">
                <a:alpha val="1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-266" r="-266" t="0" b="0"/>
          <a:stretch/>
        </p:blipFill>
        <p:spPr>
          <a:xfrm>
            <a:off x="571500" y="697687"/>
            <a:ext cx="323698" cy="28620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37844" y="580644"/>
            <a:ext cx="7135063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33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実装ロードマップ（3ヶ月/6-12ヶ月/1-2年）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71500" y="1466698"/>
            <a:ext cx="3314700" cy="2467051"/>
          </a:xfrm>
          <a:prstGeom prst="roundRect">
            <a:avLst>
              <a:gd name="adj" fmla="val 1431"/>
            </a:avLst>
          </a:prstGeom>
          <a:solidFill>
            <a:srgbClr val="F8FBFF"/>
          </a:solidFill>
          <a:ln w="25400">
            <a:solidFill>
              <a:srgbClr val="0066C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438498" y="1466698"/>
            <a:ext cx="3314700" cy="2467051"/>
          </a:xfrm>
          <a:prstGeom prst="roundRect">
            <a:avLst>
              <a:gd name="adj" fmla="val 1431"/>
            </a:avLst>
          </a:prstGeom>
          <a:solidFill>
            <a:srgbClr val="F8FBFF"/>
          </a:solidFill>
          <a:ln w="25400">
            <a:solidFill>
              <a:srgbClr val="0066C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305495" y="1466698"/>
            <a:ext cx="3314700" cy="2467051"/>
          </a:xfrm>
          <a:prstGeom prst="roundRect">
            <a:avLst>
              <a:gd name="adj" fmla="val 1431"/>
            </a:avLst>
          </a:prstGeom>
          <a:solidFill>
            <a:srgbClr val="F8FBFF"/>
          </a:solidFill>
          <a:ln w="25400">
            <a:solidFill>
              <a:srgbClr val="0066C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80898" y="1295705"/>
            <a:ext cx="381305" cy="381305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9" name="Shape 6"/>
          <p:cNvSpPr/>
          <p:nvPr/>
        </p:nvSpPr>
        <p:spPr>
          <a:xfrm>
            <a:off x="4647895" y="1295705"/>
            <a:ext cx="381305" cy="381305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10" name="Shape 7"/>
          <p:cNvSpPr/>
          <p:nvPr/>
        </p:nvSpPr>
        <p:spPr>
          <a:xfrm>
            <a:off x="8515807" y="1295705"/>
            <a:ext cx="381305" cy="381305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920801" y="1356970"/>
            <a:ext cx="23408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4787798" y="1356970"/>
            <a:ext cx="23408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8654796" y="1356970"/>
            <a:ext cx="23408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1563624" y="1819656"/>
            <a:ext cx="149138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33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短期(〜3ヶ月)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5373014" y="1819656"/>
            <a:ext cx="160568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33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中期(6-12ヶ月)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9407347" y="1819656"/>
            <a:ext cx="127193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33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長期(1-2年)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1019556" y="2276856"/>
            <a:ext cx="19339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全社員AI基礎研修受講完了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1019556" y="2581351"/>
            <a:ext cx="16294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主要AIツール試験導入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1019556" y="2885846"/>
            <a:ext cx="1943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AI活用ガイドラインv1策定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1019556" y="3191256"/>
            <a:ext cx="21058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パイロットプロジェクト選定</a:t>
            </a:r>
            <a:endParaRPr lang="en-US" sz="1200" dirty="0"/>
          </a:p>
        </p:txBody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34256" y="2681021"/>
            <a:ext cx="228600" cy="228600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4886554" y="2276856"/>
            <a:ext cx="22576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全プロジェクト活用率50%達成</a:t>
            </a:r>
            <a:endParaRPr lang="en-US" sz="1200" dirty="0"/>
          </a:p>
        </p:txBody>
      </p:sp>
      <p:sp>
        <p:nvSpPr>
          <p:cNvPr id="23" name="Text 19"/>
          <p:cNvSpPr txBox="1"/>
          <p:nvPr/>
        </p:nvSpPr>
        <p:spPr>
          <a:xfrm>
            <a:off x="4886554" y="2581351"/>
            <a:ext cx="13432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開発効率20%向上</a:t>
            </a:r>
            <a:endParaRPr lang="en-US" sz="1200" dirty="0"/>
          </a:p>
        </p:txBody>
      </p:sp>
      <p:sp>
        <p:nvSpPr>
          <p:cNvPr id="24" name="Text 20"/>
          <p:cNvSpPr txBox="1"/>
          <p:nvPr/>
        </p:nvSpPr>
        <p:spPr>
          <a:xfrm>
            <a:off x="4886554" y="2885846"/>
            <a:ext cx="1791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AIエキスパート10名育成</a:t>
            </a:r>
            <a:endParaRPr lang="en-US" sz="1200" dirty="0"/>
          </a:p>
        </p:txBody>
      </p:sp>
      <p:sp>
        <p:nvSpPr>
          <p:cNvPr id="25" name="Text 21"/>
          <p:cNvSpPr txBox="1"/>
          <p:nvPr/>
        </p:nvSpPr>
        <p:spPr>
          <a:xfrm>
            <a:off x="4886554" y="3191256"/>
            <a:ext cx="17812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部門横断AI推進体制確立</a:t>
            </a:r>
            <a:endParaRPr lang="en-US" sz="1200" dirty="0"/>
          </a:p>
        </p:txBody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034833" y="2681021"/>
            <a:ext cx="228600" cy="228600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8753551" y="2276856"/>
            <a:ext cx="23820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独自AI開発プラットフォーム構築</a:t>
            </a:r>
            <a:endParaRPr lang="en-US" sz="1200" dirty="0"/>
          </a:p>
        </p:txBody>
      </p:sp>
      <p:sp>
        <p:nvSpPr>
          <p:cNvPr id="28" name="Text 23"/>
          <p:cNvSpPr txBox="1"/>
          <p:nvPr/>
        </p:nvSpPr>
        <p:spPr>
          <a:xfrm>
            <a:off x="8753551" y="2581351"/>
            <a:ext cx="20766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AI活用による競争優位性確立</a:t>
            </a:r>
            <a:endParaRPr lang="en-US" sz="1200" dirty="0"/>
          </a:p>
        </p:txBody>
      </p:sp>
      <p:sp>
        <p:nvSpPr>
          <p:cNvPr id="29" name="Text 24"/>
          <p:cNvSpPr txBox="1"/>
          <p:nvPr/>
        </p:nvSpPr>
        <p:spPr>
          <a:xfrm>
            <a:off x="8753551" y="2885846"/>
            <a:ext cx="19339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AI関連事業の新規立ち上げ</a:t>
            </a:r>
            <a:endParaRPr lang="en-US" sz="1200" dirty="0"/>
          </a:p>
        </p:txBody>
      </p:sp>
      <p:sp>
        <p:nvSpPr>
          <p:cNvPr id="30" name="Text 25"/>
          <p:cNvSpPr txBox="1"/>
          <p:nvPr/>
        </p:nvSpPr>
        <p:spPr>
          <a:xfrm>
            <a:off x="8753551" y="3191256"/>
            <a:ext cx="26865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業界AI活用のリーディングカンパニーへ</a:t>
            </a:r>
            <a:endParaRPr lang="en-US" sz="1200" dirty="0"/>
          </a:p>
        </p:txBody>
      </p:sp>
      <p:sp>
        <p:nvSpPr>
          <p:cNvPr id="31" name="Shape 26"/>
          <p:cNvSpPr/>
          <p:nvPr/>
        </p:nvSpPr>
        <p:spPr>
          <a:xfrm>
            <a:off x="571500" y="4505249"/>
            <a:ext cx="11048695" cy="1352398"/>
          </a:xfrm>
          <a:prstGeom prst="roundRect">
            <a:avLst>
              <a:gd name="adj" fmla="val 4761"/>
            </a:avLst>
          </a:prstGeom>
          <a:solidFill>
            <a:srgbClr val="EEF7FF"/>
          </a:solidFill>
          <a:ln/>
        </p:spPr>
      </p:sp>
      <p:sp>
        <p:nvSpPr>
          <p:cNvPr id="32" name="Shape 27"/>
          <p:cNvSpPr/>
          <p:nvPr/>
        </p:nvSpPr>
        <p:spPr>
          <a:xfrm>
            <a:off x="571500" y="4505249"/>
            <a:ext cx="38405" cy="1352398"/>
          </a:xfrm>
          <a:prstGeom prst="rect">
            <a:avLst/>
          </a:prstGeom>
          <a:solidFill>
            <a:srgbClr val="0066CC"/>
          </a:solidFill>
          <a:ln/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00100" y="4743907"/>
            <a:ext cx="190195" cy="190195"/>
          </a:xfrm>
          <a:prstGeom prst="rect">
            <a:avLst/>
          </a:prstGeom>
        </p:spPr>
      </p:pic>
      <p:sp>
        <p:nvSpPr>
          <p:cNvPr id="34" name="Text 28"/>
          <p:cNvSpPr txBox="1"/>
          <p:nvPr/>
        </p:nvSpPr>
        <p:spPr>
          <a:xfrm>
            <a:off x="1067105" y="4695444"/>
            <a:ext cx="19815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33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マイルストーンとKPI</a:t>
            </a:r>
            <a:endParaRPr lang="en-US" sz="1500" dirty="0"/>
          </a:p>
        </p:txBody>
      </p:sp>
      <p:sp>
        <p:nvSpPr>
          <p:cNvPr id="35" name="Text 29"/>
          <p:cNvSpPr txBox="1"/>
          <p:nvPr/>
        </p:nvSpPr>
        <p:spPr>
          <a:xfrm>
            <a:off x="1760220" y="5124298"/>
            <a:ext cx="8001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66C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90%+</a:t>
            </a:r>
            <a:endParaRPr lang="en-US" sz="1800" dirty="0"/>
          </a:p>
        </p:txBody>
      </p:sp>
      <p:sp>
        <p:nvSpPr>
          <p:cNvPr id="36" name="Text 30"/>
          <p:cNvSpPr txBox="1"/>
          <p:nvPr/>
        </p:nvSpPr>
        <p:spPr>
          <a:xfrm>
            <a:off x="4476902" y="5124298"/>
            <a:ext cx="8001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66C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70%+</a:t>
            </a:r>
            <a:endParaRPr lang="en-US" sz="1800" dirty="0"/>
          </a:p>
        </p:txBody>
      </p:sp>
      <p:sp>
        <p:nvSpPr>
          <p:cNvPr id="37" name="Text 31"/>
          <p:cNvSpPr txBox="1"/>
          <p:nvPr/>
        </p:nvSpPr>
        <p:spPr>
          <a:xfrm>
            <a:off x="7171639" y="5124298"/>
            <a:ext cx="99121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66C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30件/月</a:t>
            </a:r>
            <a:endParaRPr lang="en-US" sz="1800" dirty="0"/>
          </a:p>
        </p:txBody>
      </p:sp>
      <p:sp>
        <p:nvSpPr>
          <p:cNvPr id="38" name="Text 32"/>
          <p:cNvSpPr txBox="1"/>
          <p:nvPr/>
        </p:nvSpPr>
        <p:spPr>
          <a:xfrm>
            <a:off x="9865462" y="5124298"/>
            <a:ext cx="8001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66C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200%</a:t>
            </a:r>
            <a:endParaRPr lang="en-US" sz="1800" dirty="0"/>
          </a:p>
        </p:txBody>
      </p:sp>
      <p:sp>
        <p:nvSpPr>
          <p:cNvPr id="39" name="Text 33"/>
          <p:cNvSpPr txBox="1"/>
          <p:nvPr/>
        </p:nvSpPr>
        <p:spPr>
          <a:xfrm>
            <a:off x="1739189" y="5467198"/>
            <a:ext cx="7671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研修受講率</a:t>
            </a:r>
            <a:endParaRPr lang="en-US" sz="1000" dirty="0"/>
          </a:p>
        </p:txBody>
      </p:sp>
      <p:sp>
        <p:nvSpPr>
          <p:cNvPr id="40" name="Text 34"/>
          <p:cNvSpPr txBox="1"/>
          <p:nvPr/>
        </p:nvSpPr>
        <p:spPr>
          <a:xfrm>
            <a:off x="4284878" y="5467198"/>
            <a:ext cx="11100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活用率（2年目）</a:t>
            </a:r>
            <a:endParaRPr lang="en-US" sz="1000" dirty="0"/>
          </a:p>
        </p:txBody>
      </p:sp>
      <p:sp>
        <p:nvSpPr>
          <p:cNvPr id="41" name="Text 35"/>
          <p:cNvSpPr txBox="1"/>
          <p:nvPr/>
        </p:nvSpPr>
        <p:spPr>
          <a:xfrm>
            <a:off x="7245706" y="5467198"/>
            <a:ext cx="7671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成功事例数</a:t>
            </a:r>
            <a:endParaRPr lang="en-US" sz="1000" dirty="0"/>
          </a:p>
        </p:txBody>
      </p:sp>
      <p:sp>
        <p:nvSpPr>
          <p:cNvPr id="42" name="Text 36"/>
          <p:cNvSpPr txBox="1"/>
          <p:nvPr/>
        </p:nvSpPr>
        <p:spPr>
          <a:xfrm>
            <a:off x="9873691" y="5467198"/>
            <a:ext cx="7104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AI投資ROI</a:t>
            </a:r>
            <a:endParaRPr lang="en-US" sz="1000" dirty="0"/>
          </a:p>
        </p:txBody>
      </p:sp>
      <p:sp>
        <p:nvSpPr>
          <p:cNvPr id="43" name="Text 37"/>
          <p:cNvSpPr txBox="1"/>
          <p:nvPr/>
        </p:nvSpPr>
        <p:spPr>
          <a:xfrm>
            <a:off x="10264140" y="6439205"/>
            <a:ext cx="14767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AI推進プロジェクト</a:t>
            </a:r>
            <a:endParaRPr lang="en-US" sz="1200" dirty="0"/>
          </a:p>
        </p:txBody>
      </p:sp>
      <p:sp>
        <p:nvSpPr>
          <p:cNvPr id="44" name="Shape 38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003366"/>
          </a:solidFill>
          <a:ln/>
        </p:spPr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-107" r="-107" t="0" b="0"/>
          <a:stretch/>
        </p:blipFill>
        <p:spPr>
          <a:xfrm>
            <a:off x="571500" y="1047902"/>
            <a:ext cx="267005" cy="30449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71500" y="1552651"/>
            <a:ext cx="1729130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33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まとめ・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71500" y="1986991"/>
            <a:ext cx="2796235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33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次のアクション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4508906" y="2171700"/>
            <a:ext cx="45244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本日の要点:3フェーズ導入×10施策×14課題対策＝AI活用の定着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508906" y="2628900"/>
            <a:ext cx="72301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今すぐやること: クイックウィン体験（14日以内に着手） 部門別デモ（30日以内に完了） AIフライデー始動（初回12月第3金曜日） 詳細は次ページ参照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4508906" y="3314700"/>
            <a:ext cx="40105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今期KPI:活用率&gt;50%、成功事例/月20件、研修完了&gt;90%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4508906" y="3771900"/>
            <a:ext cx="49341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ガバナンス:倫理/セキュリティガイドラインの遵守、検証プロセス徹底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4508906" y="4229100"/>
            <a:ext cx="42583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コミットメント:経営層と現場の両輪でAI推進を継続的に実施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0264140" y="6439205"/>
            <a:ext cx="14767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AI推進プロジェクト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13" name="Shape 10"/>
          <p:cNvSpPr/>
          <p:nvPr/>
        </p:nvSpPr>
        <p:spPr>
          <a:xfrm>
            <a:off x="10763402" y="-476402"/>
            <a:ext cx="1904695" cy="1904695"/>
          </a:xfrm>
          <a:prstGeom prst="ellipse">
            <a:avLst/>
          </a:prstGeom>
          <a:noFill/>
          <a:ln w="254000">
            <a:solidFill>
              <a:srgbClr val="0066CC">
                <a:alpha val="1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95267" y="400507"/>
            <a:ext cx="304495" cy="30449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643323" y="314554"/>
            <a:ext cx="359176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33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今すぐやること（詳細）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576072" y="1052474"/>
            <a:ext cx="3685946" cy="457200"/>
          </a:xfrm>
          <a:prstGeom prst="rect">
            <a:avLst/>
          </a:prstGeom>
          <a:solidFill>
            <a:srgbClr val="00336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255618" y="1052474"/>
            <a:ext cx="3685946" cy="457200"/>
          </a:xfrm>
          <a:prstGeom prst="rect">
            <a:avLst/>
          </a:prstGeom>
          <a:solidFill>
            <a:srgbClr val="00336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936078" y="1052474"/>
            <a:ext cx="3685946" cy="457200"/>
          </a:xfrm>
          <a:prstGeom prst="rect">
            <a:avLst/>
          </a:prstGeom>
          <a:solidFill>
            <a:srgbClr val="00336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645006" y="1152144"/>
            <a:ext cx="16724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クイックウィン体験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5667451" y="1152144"/>
            <a:ext cx="9866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部門別デモ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9092794" y="1152144"/>
            <a:ext cx="150053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AIフライデー始動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76072" y="1509674"/>
            <a:ext cx="3685946" cy="1837944"/>
          </a:xfrm>
          <a:prstGeom prst="rect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255618" y="1509674"/>
            <a:ext cx="3685946" cy="1837944"/>
          </a:xfrm>
          <a:prstGeom prst="rect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936078" y="1509674"/>
            <a:ext cx="3685946" cy="1837944"/>
          </a:xfrm>
          <a:prstGeom prst="rect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94944" y="1628546"/>
            <a:ext cx="356250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実施手順: 各部門で1時間のAIハンズオン開催 日常業務×AIのユースケース3種を実演 その場で試用・質疑応答・アンケート 対象者: 全部門から5-10名ずつ、計50名（部門推薦） 責任者: DX推進部・山田部長＋各部門AIチャンピオン 期限 準備：12月15日、実施：12月20日-1月10日 成果 AI体験者50名、活用宣言率80%以上、業務適用3件/部門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4375404" y="1628546"/>
            <a:ext cx="350581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実施手順: 各部門の代表業務×AI活用事例作成 45分デモ＋質疑の部門会開催 参加者からのフィードバック収集・分析 対象者: 全社員（部門ごとに実施、1回30名程度×7部門） 責任者: AI推進室・佐藤課長＋部門長 期限 デモ作成：12月25日、実施：1月15日-1月30日 成果 参加率90%以上、NPS+40、アクション宣言提出率60%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8054950" y="1628546"/>
            <a:ext cx="353415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実施手順: 隔週金曜15-17時のAI探究時間を制度化 キックオフセッション開催（全社会議室+Zoom） テーマ別ブレイクアウト＋Slackチャンネル開設 対象者: 全社員（任意参加、初回目標100名） 責任者: 経営企画・鈴木次長＋AI推進室 期限 告知：12月8日、初回実施：12月15日、継続：隔週 成果 初回参加100名、満足度85%以上、継続参加率70%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571500" y="3543300"/>
            <a:ext cx="13295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33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実行のポイント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71500" y="3905402"/>
            <a:ext cx="685800" cy="237744"/>
          </a:xfrm>
          <a:prstGeom prst="roundRect">
            <a:avLst>
              <a:gd name="adj" fmla="val 184615"/>
            </a:avLst>
          </a:prstGeom>
          <a:solidFill>
            <a:srgbClr val="E1F0FF"/>
          </a:solidFill>
          <a:ln/>
        </p:spPr>
      </p:sp>
      <p:sp>
        <p:nvSpPr>
          <p:cNvPr id="19" name="Shape 16"/>
          <p:cNvSpPr/>
          <p:nvPr/>
        </p:nvSpPr>
        <p:spPr>
          <a:xfrm>
            <a:off x="6191402" y="3905402"/>
            <a:ext cx="685800" cy="237744"/>
          </a:xfrm>
          <a:prstGeom prst="roundRect">
            <a:avLst>
              <a:gd name="adj" fmla="val 184615"/>
            </a:avLst>
          </a:prstGeom>
          <a:solidFill>
            <a:srgbClr val="E1F0FF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647395" y="3924605"/>
            <a:ext cx="6336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66C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共通事項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6267298" y="3924605"/>
            <a:ext cx="6336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66C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成功の鍵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571500" y="4190695"/>
            <a:ext cx="55248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各アクションは独立して実行可能だが、3つ同時進行で相乗効果を発揮。最初の90日で全てのアクションを着手することが重要。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6191402" y="4190695"/>
            <a:ext cx="54489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経営層の可視的サポート、現場の成功体験の素早い共有、負担感の最小化（既存会議の活用、業務時間内実施）。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10264140" y="6439205"/>
            <a:ext cx="14767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AI推進プロジェクト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26" name="Shape 23"/>
          <p:cNvSpPr/>
          <p:nvPr/>
        </p:nvSpPr>
        <p:spPr>
          <a:xfrm>
            <a:off x="10763402" y="-476402"/>
            <a:ext cx="1904695" cy="1904695"/>
          </a:xfrm>
          <a:prstGeom prst="ellipse">
            <a:avLst/>
          </a:prstGeom>
          <a:noFill/>
          <a:ln w="254000">
            <a:solidFill>
              <a:srgbClr val="0066CC">
                <a:alpha val="10000"/>
              </a:srgbClr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68</Slides>
  <Notes>68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68</vt:i4>
      </vt:variant>
    </vt:vector>
  </HeadingPairs>
  <TitlesOfParts>
    <vt:vector size="7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2025-11-04T10:29:58Z</dcterms:created>
  <dcterms:modified xsi:type="dcterms:W3CDTF">2025-11-04T10:29:58Z</dcterms:modified>
</cp:coreProperties>
</file>