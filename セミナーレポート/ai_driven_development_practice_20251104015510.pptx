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png"/><Relationship Id="rId17" Type="http://schemas.openxmlformats.org/officeDocument/2006/relationships/image" Target="../media/image-11-17.png"/><Relationship Id="rId18" Type="http://schemas.openxmlformats.org/officeDocument/2006/relationships/image" Target="../media/image-11-18.png"/><Relationship Id="rId19" Type="http://schemas.openxmlformats.org/officeDocument/2006/relationships/image" Target="../media/image-11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png"/><Relationship Id="rId15" Type="http://schemas.openxmlformats.org/officeDocument/2006/relationships/image" Target="../media/image-14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image" Target="../media/image-16-11.png"/><Relationship Id="rId12" Type="http://schemas.openxmlformats.org/officeDocument/2006/relationships/image" Target="../media/image-16-12.png"/><Relationship Id="rId13" Type="http://schemas.openxmlformats.org/officeDocument/2006/relationships/image" Target="../media/image-16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Shape 1"/>
          <p:cNvSpPr/>
          <p:nvPr/>
        </p:nvSpPr>
        <p:spPr>
          <a:xfrm>
            <a:off x="-952805" y="-952805"/>
            <a:ext cx="2857500" cy="2857500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429500" y="5429707"/>
            <a:ext cx="1904695" cy="1904695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02506" y="2048256"/>
            <a:ext cx="35341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AI駆動開発実践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048049" y="2743200"/>
            <a:ext cx="4277563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SI企業における開発プロセス再設計の取り組み紹介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0" y="3600907"/>
            <a:ext cx="1218895" cy="38405"/>
          </a:xfrm>
          <a:prstGeom prst="rect">
            <a:avLst/>
          </a:prstGeom>
          <a:solidFill>
            <a:srgbClr val="BFDBF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009644" y="3857854"/>
            <a:ext cx="4325112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AIを事業価値創出につなげる考え方とプロセス設計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91195" y="0"/>
            <a:ext cx="4000500" cy="6858000"/>
          </a:xfrm>
          <a:prstGeom prst="rect">
            <a:avLst/>
          </a:prstGeom>
          <a:solidFill>
            <a:srgbClr val="003082">
              <a:alpha val="70000"/>
            </a:srgbClr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334195" y="761695"/>
            <a:ext cx="1143000" cy="1143000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9905" y="6096305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952805" y="5934456"/>
            <a:ext cx="20391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シンプレクス株式会社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952805" y="6200546"/>
            <a:ext cx="5239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氏弘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09905" y="381305"/>
            <a:ext cx="10241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2025年11月4日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536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09905" y="209398"/>
            <a:ext cx="41440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課題認識(1)：個人・個別最適化の限界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661904" y="286207"/>
            <a:ext cx="10241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AI駆動開発実践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09905" y="1485900"/>
            <a:ext cx="571500" cy="57607"/>
          </a:xfrm>
          <a:prstGeom prst="rect">
            <a:avLst/>
          </a:prstGeom>
          <a:solidFill>
            <a:srgbClr val="0043C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80" b="-180"/>
          <a:stretch/>
        </p:blipFill>
        <p:spPr>
          <a:xfrm>
            <a:off x="647395" y="1923898"/>
            <a:ext cx="190195" cy="15270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90295" y="1837944"/>
            <a:ext cx="5477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個人レベルの最適化は進むが、組織全体の活用に接続されない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90295" y="2190902"/>
            <a:ext cx="3924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個別努力が散在し、組織的な価値に変換されにくい構造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43" b="-43"/>
          <a:stretch/>
        </p:blipFill>
        <p:spPr>
          <a:xfrm>
            <a:off x="647395" y="2723998"/>
            <a:ext cx="133502" cy="15270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90295" y="2638044"/>
            <a:ext cx="56583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ノウハウが共有されず、活用する人としない人のギャップが拡大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990295" y="2991002"/>
            <a:ext cx="31528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AI活用スキルの格差が事業効率の偏りを生む</a:t>
            </a:r>
            <a:endParaRPr lang="en-US" sz="12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7395" y="3524098"/>
            <a:ext cx="152705" cy="15270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990295" y="3438144"/>
            <a:ext cx="43251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対策方針：AIフレンドリーな開発プロセスを構築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990295" y="3791102"/>
            <a:ext cx="39154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標準化と共有を促進し、組織全体のAI活用能力を底上げ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7112203" y="761695"/>
            <a:ext cx="5086807" cy="6096305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7" name="Shape 12"/>
          <p:cNvSpPr/>
          <p:nvPr/>
        </p:nvSpPr>
        <p:spPr>
          <a:xfrm>
            <a:off x="6921094" y="3810305"/>
            <a:ext cx="381305" cy="5486400"/>
          </a:xfrm>
          <a:prstGeom prst="rect">
            <a:avLst/>
          </a:prstGeom>
          <a:solidFill>
            <a:srgbClr val="EDF5FF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-469" r="-469" t="0" b="0"/>
          <a:stretch/>
        </p:blipFill>
        <p:spPr>
          <a:xfrm>
            <a:off x="7923276" y="1777594"/>
            <a:ext cx="504749" cy="5715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746797" y="2511857"/>
            <a:ext cx="9866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個人最適化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9356141" y="2264054"/>
            <a:ext cx="761695" cy="19202"/>
          </a:xfrm>
          <a:prstGeom prst="rect">
            <a:avLst/>
          </a:prstGeom>
          <a:solidFill>
            <a:srgbClr val="D1D5DB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rcRect l="-347" r="-347" t="0" b="0"/>
          <a:stretch/>
        </p:blipFill>
        <p:spPr>
          <a:xfrm>
            <a:off x="10889590" y="1777594"/>
            <a:ext cx="647395" cy="5715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0871302" y="2511857"/>
            <a:ext cx="8147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組織活用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7746797" y="3219602"/>
            <a:ext cx="3810305" cy="609905"/>
          </a:xfrm>
          <a:prstGeom prst="roundRect">
            <a:avLst>
              <a:gd name="adj" fmla="val 18741"/>
            </a:avLst>
          </a:prstGeom>
          <a:solidFill>
            <a:srgbClr val="F3F4F6"/>
          </a:solidFill>
          <a:ln/>
        </p:spPr>
      </p:sp>
      <p:sp>
        <p:nvSpPr>
          <p:cNvPr id="24" name="Shape 17"/>
          <p:cNvSpPr/>
          <p:nvPr/>
        </p:nvSpPr>
        <p:spPr>
          <a:xfrm>
            <a:off x="7746797" y="3219602"/>
            <a:ext cx="1524305" cy="609905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5" name="Text 18"/>
          <p:cNvSpPr txBox="1"/>
          <p:nvPr/>
        </p:nvSpPr>
        <p:spPr>
          <a:xfrm>
            <a:off x="8279892" y="3409798"/>
            <a:ext cx="5815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活用者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10108692" y="3409798"/>
            <a:ext cx="7342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未活用者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9258300" y="3943807"/>
            <a:ext cx="8906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AIスキル格差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8361274" y="4591202"/>
            <a:ext cx="2581351" cy="724205"/>
          </a:xfrm>
          <a:prstGeom prst="roundRect">
            <a:avLst>
              <a:gd name="adj" fmla="val 13291"/>
            </a:avLst>
          </a:prstGeom>
          <a:solidFill>
            <a:srgbClr val="2563EB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29" name="Text 22"/>
          <p:cNvSpPr txBox="1"/>
          <p:nvPr/>
        </p:nvSpPr>
        <p:spPr>
          <a:xfrm>
            <a:off x="8589874" y="4705502"/>
            <a:ext cx="22384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AIフレンドリーな開発プロセス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9051646" y="5009998"/>
            <a:ext cx="13002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標準化・共有・促進</a:t>
            </a:r>
            <a:endParaRPr lang="en-US" sz="1000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00" b="-100"/>
          <a:stretch/>
        </p:blipFill>
        <p:spPr>
          <a:xfrm>
            <a:off x="609905" y="7029907"/>
            <a:ext cx="114300" cy="152705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00100" y="7010705"/>
            <a:ext cx="19577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組織全体でのAI活用が成功の鍵</a:t>
            </a:r>
            <a:endParaRPr lang="en-US" sz="1000" dirty="0"/>
          </a:p>
        </p:txBody>
      </p:sp>
      <p:sp>
        <p:nvSpPr>
          <p:cNvPr id="33" name="Text 25"/>
          <p:cNvSpPr txBox="1"/>
          <p:nvPr/>
        </p:nvSpPr>
        <p:spPr>
          <a:xfrm>
            <a:off x="11248034" y="7010705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 / 16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536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09905" y="209398"/>
            <a:ext cx="59628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課題認識(2)：AI進化スピードにプロセスが追いつかない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661904" y="286207"/>
            <a:ext cx="10241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AI駆動開発実践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09905" y="1485900"/>
            <a:ext cx="571500" cy="57607"/>
          </a:xfrm>
          <a:prstGeom prst="rect">
            <a:avLst/>
          </a:prstGeom>
          <a:solidFill>
            <a:srgbClr val="0043C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7395" y="1923898"/>
            <a:ext cx="152705" cy="15270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90295" y="1837944"/>
            <a:ext cx="4334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個別カスタム前提の設計では変化に追従できない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90295" y="2190902"/>
            <a:ext cx="40672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AIの進化スピードが加速する中、個別最適化は持続困難に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7395" y="2723998"/>
            <a:ext cx="152705" cy="15270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90295" y="2638044"/>
            <a:ext cx="548640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方針転換：ツール個別最適ではなく"コンテキスト整備"中心の設計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990295" y="3258007"/>
            <a:ext cx="3610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AIが活用できる基盤やナレッジの整備に重点を置く</a:t>
            </a:r>
            <a:endParaRPr lang="en-US" sz="12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43" b="-43"/>
          <a:stretch/>
        </p:blipFill>
        <p:spPr>
          <a:xfrm>
            <a:off x="647395" y="3791102"/>
            <a:ext cx="133502" cy="15270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990295" y="3705149"/>
            <a:ext cx="16669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持続可能性の確保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990295" y="4058107"/>
            <a:ext cx="45244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プロンプト／知識ベース／ガイドラインの整備による適応力向上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7112203" y="761695"/>
            <a:ext cx="5086807" cy="6096305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7" name="Shape 12"/>
          <p:cNvSpPr/>
          <p:nvPr/>
        </p:nvSpPr>
        <p:spPr>
          <a:xfrm>
            <a:off x="6921094" y="3810305"/>
            <a:ext cx="381305" cy="5486400"/>
          </a:xfrm>
          <a:prstGeom prst="rect">
            <a:avLst/>
          </a:prstGeom>
          <a:solidFill>
            <a:srgbClr val="EDF5FF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8965692" y="1832458"/>
            <a:ext cx="15005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進化スピードの差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7746797" y="2242109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AIの進化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7746797" y="2470709"/>
            <a:ext cx="3810305" cy="381305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7899502" y="2546604"/>
            <a:ext cx="8860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急速な進化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7746797" y="2851099"/>
            <a:ext cx="9006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開発プロセス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7746797" y="3079699"/>
            <a:ext cx="1904695" cy="381305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899502" y="3156509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従来のペース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8711489" y="4156862"/>
            <a:ext cx="20153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コンテキスト整備中心へ</a:t>
            </a:r>
            <a:endParaRPr lang="en-US" sz="13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238744" y="4565599"/>
            <a:ext cx="286207" cy="286207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8050378" y="4939589"/>
            <a:ext cx="7671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プロンプト</a:t>
            </a:r>
            <a:endParaRPr lang="en-US" sz="100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530" b="-530"/>
          <a:stretch/>
        </p:blipFill>
        <p:spPr>
          <a:xfrm>
            <a:off x="9528048" y="4565599"/>
            <a:ext cx="247802" cy="286207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9321394" y="4939589"/>
            <a:ext cx="7671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知識ベース</a:t>
            </a:r>
            <a:endParaRPr lang="en-US" sz="100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rcRect l="-1118" r="-1118" t="0" b="0"/>
          <a:stretch/>
        </p:blipFill>
        <p:spPr>
          <a:xfrm>
            <a:off x="10811866" y="4565599"/>
            <a:ext cx="219456" cy="286207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10522001" y="4939589"/>
            <a:ext cx="9006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ガイドライン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7746797" y="5359298"/>
            <a:ext cx="3810305" cy="437998"/>
          </a:xfrm>
          <a:prstGeom prst="roundRect">
            <a:avLst>
              <a:gd name="adj" fmla="val 36307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3" name="Text 25"/>
          <p:cNvSpPr txBox="1"/>
          <p:nvPr/>
        </p:nvSpPr>
        <p:spPr>
          <a:xfrm>
            <a:off x="8458200" y="5482742"/>
            <a:ext cx="24908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AI進化に対応可能な柔軟性と持続可能性</a:t>
            </a:r>
            <a:endParaRPr lang="en-US" sz="1000" dirty="0"/>
          </a:p>
        </p:txBody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100" b="-100"/>
          <a:stretch/>
        </p:blipFill>
        <p:spPr>
          <a:xfrm>
            <a:off x="609905" y="7029907"/>
            <a:ext cx="114300" cy="152705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800100" y="7010705"/>
            <a:ext cx="25008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ツール依存ではなく基盤整備へのシフト</a:t>
            </a:r>
            <a:endParaRPr lang="en-US" sz="1000" dirty="0"/>
          </a:p>
        </p:txBody>
      </p:sp>
      <p:sp>
        <p:nvSpPr>
          <p:cNvPr id="36" name="Text 27"/>
          <p:cNvSpPr txBox="1"/>
          <p:nvPr/>
        </p:nvSpPr>
        <p:spPr>
          <a:xfrm>
            <a:off x="11248034" y="7010705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 / 16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536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09905" y="209398"/>
            <a:ext cx="52870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課題認識(3)：個人効率化が事業価値に直結しない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661904" y="286207"/>
            <a:ext cx="10241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AI駆動開発実践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09905" y="1485900"/>
            <a:ext cx="571500" cy="57607"/>
          </a:xfrm>
          <a:prstGeom prst="rect">
            <a:avLst/>
          </a:prstGeom>
          <a:solidFill>
            <a:srgbClr val="0043C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7395" y="1923898"/>
            <a:ext cx="152705" cy="15270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90295" y="1837944"/>
            <a:ext cx="5477256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ローカル効率化は可視化されづらく、事業価値に転換されにくい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90295" y="2457907"/>
            <a:ext cx="49725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個々の作業改善が積み上がっても、全体最適には至らないケースが多い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7395" y="2991002"/>
            <a:ext cx="152705" cy="15270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90295" y="2905049"/>
            <a:ext cx="46488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必要施策：効果測定（KPI）と価値への再投資の設計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990295" y="3258007"/>
            <a:ext cx="5296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削減された工数や効率化の成果を定量的に測り、事業価値に変換する仕組み</a:t>
            </a:r>
            <a:endParaRPr lang="en-US" sz="12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7395" y="3791102"/>
            <a:ext cx="152705" cy="15270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990295" y="3705149"/>
            <a:ext cx="35725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例：削減工数の使途の事前プランニング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990295" y="4058107"/>
            <a:ext cx="40672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品質向上・追加ニーズ対応などへの再投資を計画的に行う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7112203" y="761695"/>
            <a:ext cx="5086807" cy="6096305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7" name="Shape 12"/>
          <p:cNvSpPr/>
          <p:nvPr/>
        </p:nvSpPr>
        <p:spPr>
          <a:xfrm>
            <a:off x="6921094" y="3810305"/>
            <a:ext cx="381305" cy="5486400"/>
          </a:xfrm>
          <a:prstGeom prst="rect">
            <a:avLst/>
          </a:prstGeom>
          <a:solidFill>
            <a:srgbClr val="EDF5FF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8365846" y="1485900"/>
            <a:ext cx="27011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個人効率化と事業価値のギャップ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7535570" y="1895551"/>
            <a:ext cx="4238244" cy="228600"/>
          </a:xfrm>
          <a:prstGeom prst="roundRect">
            <a:avLst>
              <a:gd name="adj" fmla="val 133333"/>
            </a:avLst>
          </a:prstGeom>
          <a:solidFill>
            <a:srgbClr val="E5E7EB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687361" y="1914754"/>
            <a:ext cx="7671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個人効率化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10396728" y="1933956"/>
            <a:ext cx="1218895" cy="152705"/>
          </a:xfrm>
          <a:prstGeom prst="roundRect">
            <a:avLst>
              <a:gd name="adj" fmla="val 149700"/>
            </a:avLst>
          </a:prstGeom>
          <a:solidFill>
            <a:srgbClr val="3B82F6"/>
          </a:solidFill>
          <a:ln/>
        </p:spPr>
      </p:sp>
      <p:sp>
        <p:nvSpPr>
          <p:cNvPr id="22" name="Shape 17"/>
          <p:cNvSpPr/>
          <p:nvPr/>
        </p:nvSpPr>
        <p:spPr>
          <a:xfrm>
            <a:off x="7535570" y="2276856"/>
            <a:ext cx="4238244" cy="2286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7687361" y="2295144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事業価値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11006633" y="2314346"/>
            <a:ext cx="609905" cy="152705"/>
          </a:xfrm>
          <a:prstGeom prst="roundRect">
            <a:avLst>
              <a:gd name="adj" fmla="val 149700"/>
            </a:avLst>
          </a:prstGeom>
          <a:solidFill>
            <a:srgbClr val="93C5FD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8682228" y="2572207"/>
            <a:ext cx="20290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効率化が価値に十分転換されていない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8889797" y="3267151"/>
            <a:ext cx="1524305" cy="418795"/>
          </a:xfrm>
          <a:prstGeom prst="roundRect">
            <a:avLst>
              <a:gd name="adj" fmla="val 39698"/>
            </a:avLst>
          </a:prstGeom>
          <a:solidFill>
            <a:srgbClr val="DBEAFE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27" name="Text 22"/>
          <p:cNvSpPr txBox="1"/>
          <p:nvPr/>
        </p:nvSpPr>
        <p:spPr>
          <a:xfrm>
            <a:off x="9452153" y="3381451"/>
            <a:ext cx="5001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効率化</a:t>
            </a:r>
            <a:endParaRPr lang="en-US" sz="10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rcRect l="-1773" r="-1773" t="0" b="0"/>
          <a:stretch/>
        </p:blipFill>
        <p:spPr>
          <a:xfrm>
            <a:off x="9584741" y="3877056"/>
            <a:ext cx="133502" cy="171907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8889797" y="4086454"/>
            <a:ext cx="1524305" cy="418795"/>
          </a:xfrm>
          <a:prstGeom prst="roundRect">
            <a:avLst>
              <a:gd name="adj" fmla="val 39698"/>
            </a:avLst>
          </a:prstGeom>
          <a:solidFill>
            <a:srgbClr val="BFDBFE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30" name="Text 24"/>
          <p:cNvSpPr txBox="1"/>
          <p:nvPr/>
        </p:nvSpPr>
        <p:spPr>
          <a:xfrm>
            <a:off x="9229039" y="4200754"/>
            <a:ext cx="9482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効果測定(KPI)</a:t>
            </a:r>
            <a:endParaRPr lang="en-US" sz="10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rcRect l="-1773" r="-1773" t="0" b="0"/>
          <a:stretch/>
        </p:blipFill>
        <p:spPr>
          <a:xfrm>
            <a:off x="9584741" y="4695444"/>
            <a:ext cx="133502" cy="171907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8889797" y="4905756"/>
            <a:ext cx="1524305" cy="418795"/>
          </a:xfrm>
          <a:prstGeom prst="roundRect">
            <a:avLst>
              <a:gd name="adj" fmla="val 39698"/>
            </a:avLst>
          </a:prstGeom>
          <a:solidFill>
            <a:srgbClr val="93C5FD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33" name="Text 26"/>
          <p:cNvSpPr txBox="1"/>
          <p:nvPr/>
        </p:nvSpPr>
        <p:spPr>
          <a:xfrm>
            <a:off x="9318650" y="5020056"/>
            <a:ext cx="7671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再投資計画</a:t>
            </a:r>
            <a:endParaRPr lang="en-US" sz="1000" dirty="0"/>
          </a:p>
        </p:txBody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rcRect l="-1773" r="-1773" t="0" b="0"/>
          <a:stretch/>
        </p:blipFill>
        <p:spPr>
          <a:xfrm>
            <a:off x="9584741" y="5514746"/>
            <a:ext cx="133502" cy="171907"/>
          </a:xfrm>
          <a:prstGeom prst="rect">
            <a:avLst/>
          </a:prstGeom>
        </p:spPr>
      </p:pic>
      <p:sp>
        <p:nvSpPr>
          <p:cNvPr id="35" name="Shape 27"/>
          <p:cNvSpPr/>
          <p:nvPr/>
        </p:nvSpPr>
        <p:spPr>
          <a:xfrm>
            <a:off x="8889797" y="5724144"/>
            <a:ext cx="1524305" cy="418795"/>
          </a:xfrm>
          <a:prstGeom prst="roundRect">
            <a:avLst>
              <a:gd name="adj" fmla="val 39698"/>
            </a:avLst>
          </a:prstGeom>
          <a:solidFill>
            <a:srgbClr val="2563EB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36" name="Text 28"/>
          <p:cNvSpPr txBox="1"/>
          <p:nvPr/>
        </p:nvSpPr>
        <p:spPr>
          <a:xfrm>
            <a:off x="9251899" y="5838444"/>
            <a:ext cx="9006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事業価値創出</a:t>
            </a:r>
            <a:endParaRPr lang="en-US" sz="1000" dirty="0"/>
          </a:p>
        </p:txBody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09905" y="7029907"/>
            <a:ext cx="152705" cy="152705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838505" y="7010705"/>
            <a:ext cx="27678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効率化を価値に変換する仕組みづくりが重要</a:t>
            </a:r>
            <a:endParaRPr lang="en-US" sz="1000" dirty="0"/>
          </a:p>
        </p:txBody>
      </p:sp>
      <p:sp>
        <p:nvSpPr>
          <p:cNvPr id="39" name="Text 30"/>
          <p:cNvSpPr txBox="1"/>
          <p:nvPr/>
        </p:nvSpPr>
        <p:spPr>
          <a:xfrm>
            <a:off x="11248034" y="7010705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 / 16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536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09905" y="209398"/>
            <a:ext cx="397215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解決アプローチ：3つの施策の全体像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661904" y="286207"/>
            <a:ext cx="10241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AI駆動開発実践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810098" y="2476195"/>
            <a:ext cx="571500" cy="57607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Shape 5"/>
          <p:cNvSpPr/>
          <p:nvPr/>
        </p:nvSpPr>
        <p:spPr>
          <a:xfrm>
            <a:off x="3238805" y="819302"/>
            <a:ext cx="5715000" cy="5715000"/>
          </a:xfrm>
          <a:prstGeom prst="ellipse">
            <a:avLst/>
          </a:prstGeom>
          <a:noFill/>
          <a:ln w="190500">
            <a:solidFill>
              <a:srgbClr val="EDF5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88182" y="5029200"/>
            <a:ext cx="57342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「研究→基盤→案件→知見還流」の循環サイクルでAI活用の持続的価値創出を実現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00" b="-100"/>
          <a:stretch/>
        </p:blipFill>
        <p:spPr>
          <a:xfrm>
            <a:off x="609905" y="7029907"/>
            <a:ext cx="114300" cy="15270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00100" y="7010705"/>
            <a:ext cx="27102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3つの施策が連動して組織の競争力を高める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1248034" y="7010705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 / 16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800746" y="3448202"/>
            <a:ext cx="857707" cy="857707"/>
          </a:xfrm>
          <a:prstGeom prst="ellipse">
            <a:avLst/>
          </a:prstGeom>
          <a:solidFill>
            <a:srgbClr val="DBEAFE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45" b="-45"/>
          <a:stretch/>
        </p:blipFill>
        <p:spPr>
          <a:xfrm>
            <a:off x="8100670" y="3705149"/>
            <a:ext cx="256946" cy="3429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221017" y="4448556"/>
            <a:ext cx="21625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施策1：基盤整備・普及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7297826" y="4800600"/>
            <a:ext cx="19677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全社員が使える環境＋知の共有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7207301" y="5020056"/>
            <a:ext cx="213421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環境整備、ノウハウ共有によりAIの活用を浸透させる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2771546" y="2229307"/>
            <a:ext cx="857707" cy="857707"/>
          </a:xfrm>
          <a:prstGeom prst="ellipse">
            <a:avLst/>
          </a:prstGeom>
          <a:solidFill>
            <a:srgbClr val="DBEAFE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-607" r="-607" t="0" b="0"/>
          <a:stretch/>
        </p:blipFill>
        <p:spPr>
          <a:xfrm>
            <a:off x="3004718" y="2486254"/>
            <a:ext cx="390449" cy="3429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2477110" y="3228746"/>
            <a:ext cx="15910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施策2：案件特化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2133295" y="3581705"/>
            <a:ext cx="22338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伴走型→独立型で効果検証と横展開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2171700" y="3800246"/>
            <a:ext cx="215341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実案件に適用し、効果測定と事業価値への転換を実証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11001146" y="2229307"/>
            <a:ext cx="857707" cy="857707"/>
          </a:xfrm>
          <a:prstGeom prst="ellipse">
            <a:avLst/>
          </a:prstGeom>
          <a:solidFill>
            <a:srgbClr val="DBEAFE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rcRect l="-743" r="-743" t="0" b="0"/>
          <a:stretch/>
        </p:blipFill>
        <p:spPr>
          <a:xfrm>
            <a:off x="11277295" y="2486254"/>
            <a:ext cx="304495" cy="3429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0706710" y="3228746"/>
            <a:ext cx="15910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施策3：研究環境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10431475" y="3581705"/>
            <a:ext cx="21003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先行研究を案件へフィードバック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10401300" y="3800246"/>
            <a:ext cx="215341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案件と切り離した研究で将来の施策を準備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6883603" y="3467405"/>
            <a:ext cx="1143000" cy="19202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28" name="Shape 22"/>
          <p:cNvSpPr/>
          <p:nvPr/>
        </p:nvSpPr>
        <p:spPr>
          <a:xfrm>
            <a:off x="8445398" y="4000500"/>
            <a:ext cx="114300" cy="15270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5524805" y="4233672"/>
            <a:ext cx="1143000" cy="19202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0" name="Shape 24"/>
          <p:cNvSpPr/>
          <p:nvPr/>
        </p:nvSpPr>
        <p:spPr>
          <a:xfrm>
            <a:off x="5562295" y="4100170"/>
            <a:ext cx="114300" cy="15270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4166006" y="3467405"/>
            <a:ext cx="1143000" cy="19202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2" name="Shape 26"/>
          <p:cNvSpPr/>
          <p:nvPr/>
        </p:nvSpPr>
        <p:spPr>
          <a:xfrm>
            <a:off x="3631997" y="4000500"/>
            <a:ext cx="114300" cy="15270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5486400" y="3019349"/>
            <a:ext cx="1218895" cy="1524305"/>
          </a:xfrm>
          <a:prstGeom prst="roundRect">
            <a:avLst>
              <a:gd name="adj" fmla="val 750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5639105" y="3172054"/>
            <a:ext cx="914400" cy="914400"/>
          </a:xfrm>
          <a:prstGeom prst="roundRect">
            <a:avLst>
              <a:gd name="adj" fmla="val 100000"/>
            </a:avLst>
          </a:prstGeom>
          <a:solidFill>
            <a:srgbClr val="1D4ED8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924398" y="3457346"/>
            <a:ext cx="342900" cy="342900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5715000" y="4162349"/>
            <a:ext cx="8860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循環の形成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536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09905" y="209398"/>
            <a:ext cx="31053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施策1 概要：基盤整備・普及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661904" y="286207"/>
            <a:ext cx="10241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AI駆動開発実践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09905" y="1485900"/>
            <a:ext cx="571500" cy="57607"/>
          </a:xfrm>
          <a:prstGeom prst="rect">
            <a:avLst/>
          </a:prstGeom>
          <a:solidFill>
            <a:srgbClr val="0043C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7395" y="1923898"/>
            <a:ext cx="152705" cy="15270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90295" y="1837944"/>
            <a:ext cx="41340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全社員がAIツールを安全に利用できる環境整備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90295" y="2190902"/>
            <a:ext cx="3162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技術基盤の構築と安全なアクセス環境の提供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180" b="-180"/>
          <a:stretch/>
        </p:blipFill>
        <p:spPr>
          <a:xfrm>
            <a:off x="647395" y="2723998"/>
            <a:ext cx="190195" cy="15270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90295" y="2638044"/>
            <a:ext cx="44769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CoEチームによる生成AIを用いた開発効率化の推進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990295" y="2991002"/>
            <a:ext cx="34482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専門チームが中心となり組織全体のAI活用を牽引</a:t>
            </a:r>
            <a:endParaRPr lang="en-US" sz="12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7395" y="3524098"/>
            <a:ext cx="152705" cy="15270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990295" y="3438144"/>
            <a:ext cx="45153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ノウハウ共有、プロンプト標準化、AIツール内製化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990295" y="3791102"/>
            <a:ext cx="3771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知見の分散を防ぎ、効果的な活用方法を組織内に浸透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7112203" y="761695"/>
            <a:ext cx="5086807" cy="6096305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7" name="Shape 12"/>
          <p:cNvSpPr/>
          <p:nvPr/>
        </p:nvSpPr>
        <p:spPr>
          <a:xfrm>
            <a:off x="6921094" y="3810305"/>
            <a:ext cx="381305" cy="5486400"/>
          </a:xfrm>
          <a:prstGeom prst="rect">
            <a:avLst/>
          </a:prstGeom>
          <a:solidFill>
            <a:srgbClr val="EDF5FF"/>
          </a:solidFill>
          <a:ln/>
        </p:spPr>
      </p:sp>
      <p:sp>
        <p:nvSpPr>
          <p:cNvPr id="18" name="Shape 13"/>
          <p:cNvSpPr/>
          <p:nvPr/>
        </p:nvSpPr>
        <p:spPr>
          <a:xfrm>
            <a:off x="9118397" y="1505102"/>
            <a:ext cx="1067105" cy="1067105"/>
          </a:xfrm>
          <a:prstGeom prst="roundRect">
            <a:avLst>
              <a:gd name="adj" fmla="val 85690"/>
            </a:avLst>
          </a:prstGeom>
          <a:solidFill>
            <a:srgbClr val="2563EB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366199" y="1809598"/>
            <a:ext cx="571500" cy="45720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9804197" y="2190902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59E0B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rcRect l="-1773" r="-1773" t="0" b="0"/>
          <a:stretch/>
        </p:blipFill>
        <p:spPr>
          <a:xfrm>
            <a:off x="9966046" y="2333549"/>
            <a:ext cx="133502" cy="171907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234526" y="2733142"/>
            <a:ext cx="9674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CoEチーム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9030614" y="2991002"/>
            <a:ext cx="13478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Center of Excellence</a:t>
            </a:r>
            <a:endParaRPr lang="en-US" sz="10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rcRect l="-133" r="-133" t="0" b="0"/>
          <a:stretch/>
        </p:blipFill>
        <p:spPr>
          <a:xfrm>
            <a:off x="9566453" y="3714293"/>
            <a:ext cx="171907" cy="228600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7746797" y="4095598"/>
            <a:ext cx="3810305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rcRect l="-80" r="-80" t="0" b="0"/>
          <a:stretch/>
        </p:blipFill>
        <p:spPr>
          <a:xfrm>
            <a:off x="8460029" y="4295851"/>
            <a:ext cx="286207" cy="22860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8100670" y="4619549"/>
            <a:ext cx="11100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API・開発ツール</a:t>
            </a:r>
            <a:endParaRPr lang="en-US" sz="10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rcRect l="-80" r="-80" t="0" b="0"/>
          <a:stretch/>
        </p:blipFill>
        <p:spPr>
          <a:xfrm>
            <a:off x="9678010" y="4295851"/>
            <a:ext cx="286207" cy="228600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9354312" y="4619549"/>
            <a:ext cx="10341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チャットアプリ</a:t>
            </a:r>
            <a:endParaRPr lang="en-US" sz="1000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rcRect l="-57" r="-57" t="0" b="0"/>
          <a:stretch/>
        </p:blipFill>
        <p:spPr>
          <a:xfrm>
            <a:off x="10769803" y="4295851"/>
            <a:ext cx="200254" cy="228600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10536631" y="4619549"/>
            <a:ext cx="7671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データ整備</a:t>
            </a:r>
            <a:endParaRPr lang="en-US" sz="1000" dirty="0"/>
          </a:p>
        </p:txBody>
      </p:sp>
      <p:sp>
        <p:nvSpPr>
          <p:cNvPr id="32" name="Shape 21"/>
          <p:cNvSpPr/>
          <p:nvPr/>
        </p:nvSpPr>
        <p:spPr>
          <a:xfrm>
            <a:off x="7994599" y="5314493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BFDBFE"/>
          </a:solidFill>
          <a:ln/>
        </p:spPr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43" b="-43"/>
          <a:stretch/>
        </p:blipFill>
        <p:spPr>
          <a:xfrm>
            <a:off x="8156448" y="5467198"/>
            <a:ext cx="133502" cy="152705"/>
          </a:xfrm>
          <a:prstGeom prst="rect">
            <a:avLst/>
          </a:prstGeom>
        </p:spPr>
      </p:pic>
      <p:sp>
        <p:nvSpPr>
          <p:cNvPr id="34" name="Shape 22"/>
          <p:cNvSpPr/>
          <p:nvPr/>
        </p:nvSpPr>
        <p:spPr>
          <a:xfrm>
            <a:off x="8946490" y="5314493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BFDBFE"/>
          </a:solidFill>
          <a:ln/>
        </p:spPr>
      </p:sp>
      <p:pic>
        <p:nvPicPr>
          <p:cNvPr id="35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43" b="-43"/>
          <a:stretch/>
        </p:blipFill>
        <p:spPr>
          <a:xfrm>
            <a:off x="9108338" y="5467198"/>
            <a:ext cx="133502" cy="152705"/>
          </a:xfrm>
          <a:prstGeom prst="rect">
            <a:avLst/>
          </a:prstGeom>
        </p:spPr>
      </p:pic>
      <p:sp>
        <p:nvSpPr>
          <p:cNvPr id="36" name="Shape 23"/>
          <p:cNvSpPr/>
          <p:nvPr/>
        </p:nvSpPr>
        <p:spPr>
          <a:xfrm>
            <a:off x="9899294" y="5314493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BFDBFE"/>
          </a:solidFill>
          <a:ln/>
        </p:spPr>
      </p:sp>
      <p:pic>
        <p:nvPicPr>
          <p:cNvPr id="37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-43" b="-43"/>
          <a:stretch/>
        </p:blipFill>
        <p:spPr>
          <a:xfrm>
            <a:off x="10061143" y="5467198"/>
            <a:ext cx="133502" cy="152705"/>
          </a:xfrm>
          <a:prstGeom prst="rect">
            <a:avLst/>
          </a:prstGeom>
        </p:spPr>
      </p:pic>
      <p:sp>
        <p:nvSpPr>
          <p:cNvPr id="38" name="Shape 24"/>
          <p:cNvSpPr/>
          <p:nvPr/>
        </p:nvSpPr>
        <p:spPr>
          <a:xfrm>
            <a:off x="10851185" y="5314493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BFDBFE"/>
          </a:solidFill>
          <a:ln/>
        </p:spPr>
      </p:sp>
      <p:pic>
        <p:nvPicPr>
          <p:cNvPr id="39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-43" b="-43"/>
          <a:stretch/>
        </p:blipFill>
        <p:spPr>
          <a:xfrm>
            <a:off x="11013034" y="5467198"/>
            <a:ext cx="133502" cy="152705"/>
          </a:xfrm>
          <a:prstGeom prst="rect">
            <a:avLst/>
          </a:prstGeom>
        </p:spPr>
      </p:pic>
      <p:sp>
        <p:nvSpPr>
          <p:cNvPr id="40" name="Text 25"/>
          <p:cNvSpPr txBox="1"/>
          <p:nvPr/>
        </p:nvSpPr>
        <p:spPr>
          <a:xfrm>
            <a:off x="8745322" y="5885993"/>
            <a:ext cx="19339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全社員によるAIツール活用</a:t>
            </a:r>
            <a:endParaRPr lang="en-US" sz="1200" dirty="0"/>
          </a:p>
        </p:txBody>
      </p:sp>
      <p:pic>
        <p:nvPicPr>
          <p:cNvPr id="41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609905" y="7029907"/>
            <a:ext cx="152705" cy="152705"/>
          </a:xfrm>
          <a:prstGeom prst="rect">
            <a:avLst/>
          </a:prstGeom>
        </p:spPr>
      </p:pic>
      <p:sp>
        <p:nvSpPr>
          <p:cNvPr id="42" name="Text 26"/>
          <p:cNvSpPr txBox="1"/>
          <p:nvPr/>
        </p:nvSpPr>
        <p:spPr>
          <a:xfrm>
            <a:off x="838505" y="7010705"/>
            <a:ext cx="24908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基盤整備により組織全体のAI活用を加速</a:t>
            </a:r>
            <a:endParaRPr lang="en-US" sz="1000" dirty="0"/>
          </a:p>
        </p:txBody>
      </p:sp>
      <p:sp>
        <p:nvSpPr>
          <p:cNvPr id="43" name="Text 27"/>
          <p:cNvSpPr txBox="1"/>
          <p:nvPr/>
        </p:nvSpPr>
        <p:spPr>
          <a:xfrm>
            <a:off x="11248034" y="7010705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 / 16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632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09905" y="209398"/>
            <a:ext cx="260055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施策1：具体的取り組み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661904" y="286207"/>
            <a:ext cx="10241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AI駆動開発実践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09905" y="1485900"/>
            <a:ext cx="571500" cy="57607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Shape 5"/>
          <p:cNvSpPr/>
          <p:nvPr/>
        </p:nvSpPr>
        <p:spPr>
          <a:xfrm>
            <a:off x="609905" y="1848002"/>
            <a:ext cx="5896051" cy="21717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8" name="Shape 6"/>
          <p:cNvSpPr/>
          <p:nvPr/>
        </p:nvSpPr>
        <p:spPr>
          <a:xfrm>
            <a:off x="609905" y="1848002"/>
            <a:ext cx="38405" cy="217170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0100" y="1990649"/>
            <a:ext cx="905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技術基盤</a:t>
            </a:r>
            <a:endParaRPr lang="en-US" sz="15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00" b="-100"/>
          <a:stretch/>
        </p:blipFill>
        <p:spPr>
          <a:xfrm>
            <a:off x="838505" y="2457907"/>
            <a:ext cx="114300" cy="15270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81405" y="2391156"/>
            <a:ext cx="7479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API連携</a:t>
            </a:r>
            <a:endParaRPr lang="en-US" sz="13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180" b="-180"/>
          <a:stretch/>
        </p:blipFill>
        <p:spPr>
          <a:xfrm>
            <a:off x="3612794" y="2457907"/>
            <a:ext cx="190195" cy="15270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955694" y="2391156"/>
            <a:ext cx="13295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チャットアプリ</a:t>
            </a:r>
            <a:endParaRPr lang="en-US" sz="13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80" b="-180"/>
          <a:stretch/>
        </p:blipFill>
        <p:spPr>
          <a:xfrm>
            <a:off x="838505" y="2952598"/>
            <a:ext cx="190195" cy="15270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181405" y="2885846"/>
            <a:ext cx="13295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開発関連ツール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80" b="-180"/>
          <a:stretch/>
        </p:blipFill>
        <p:spPr>
          <a:xfrm>
            <a:off x="3612794" y="2952598"/>
            <a:ext cx="190195" cy="15270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3955694" y="2885846"/>
            <a:ext cx="5001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MCP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43" b="-43"/>
          <a:stretch/>
        </p:blipFill>
        <p:spPr>
          <a:xfrm>
            <a:off x="838505" y="3448202"/>
            <a:ext cx="133502" cy="15270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181405" y="3381451"/>
            <a:ext cx="9866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データ整備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609905" y="4248302"/>
            <a:ext cx="5896051" cy="1676095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21" name="Shape 14"/>
          <p:cNvSpPr/>
          <p:nvPr/>
        </p:nvSpPr>
        <p:spPr>
          <a:xfrm>
            <a:off x="609905" y="4248302"/>
            <a:ext cx="38405" cy="1676095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22" name="Text 15"/>
          <p:cNvSpPr txBox="1"/>
          <p:nvPr/>
        </p:nvSpPr>
        <p:spPr>
          <a:xfrm>
            <a:off x="800100" y="4390949"/>
            <a:ext cx="18580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コミュニケーション</a:t>
            </a:r>
            <a:endParaRPr lang="en-US" sz="15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rcRect l="-33" r="-33" t="0" b="0"/>
          <a:stretch/>
        </p:blipFill>
        <p:spPr>
          <a:xfrm>
            <a:off x="838505" y="4858207"/>
            <a:ext cx="171907" cy="152705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181405" y="4791456"/>
            <a:ext cx="11576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社内ポータル</a:t>
            </a:r>
            <a:endParaRPr lang="en-US" sz="13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3612794" y="4858207"/>
            <a:ext cx="152705" cy="152705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3955694" y="4791456"/>
            <a:ext cx="11576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チャット活用</a:t>
            </a:r>
            <a:endParaRPr lang="en-US" sz="130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180" b="-180"/>
          <a:stretch/>
        </p:blipFill>
        <p:spPr>
          <a:xfrm>
            <a:off x="838505" y="5352898"/>
            <a:ext cx="190195" cy="152705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1181405" y="5286146"/>
            <a:ext cx="9866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勉強会実施</a:t>
            </a:r>
            <a:endParaRPr lang="en-US" sz="1300" dirty="0"/>
          </a:p>
        </p:txBody>
      </p:sp>
      <p:sp>
        <p:nvSpPr>
          <p:cNvPr id="29" name="Shape 19"/>
          <p:cNvSpPr/>
          <p:nvPr/>
        </p:nvSpPr>
        <p:spPr>
          <a:xfrm>
            <a:off x="609905" y="6152998"/>
            <a:ext cx="5896051" cy="1676095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0" name="Shape 20"/>
          <p:cNvSpPr/>
          <p:nvPr/>
        </p:nvSpPr>
        <p:spPr>
          <a:xfrm>
            <a:off x="609905" y="6152998"/>
            <a:ext cx="38405" cy="1676095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1" name="Text 21"/>
          <p:cNvSpPr txBox="1"/>
          <p:nvPr/>
        </p:nvSpPr>
        <p:spPr>
          <a:xfrm>
            <a:off x="800100" y="6295644"/>
            <a:ext cx="905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普及施策</a:t>
            </a:r>
            <a:endParaRPr lang="en-US" sz="150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100" b="-100"/>
          <a:stretch/>
        </p:blipFill>
        <p:spPr>
          <a:xfrm>
            <a:off x="838505" y="6762902"/>
            <a:ext cx="114300" cy="152705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1181405" y="6696151"/>
            <a:ext cx="13295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プロンプト整備</a:t>
            </a:r>
            <a:endParaRPr lang="en-US" sz="1300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180" b="-180"/>
          <a:stretch/>
        </p:blipFill>
        <p:spPr>
          <a:xfrm>
            <a:off x="3612794" y="6762902"/>
            <a:ext cx="190195" cy="152705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3955694" y="6696151"/>
            <a:ext cx="11484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AIツール作成</a:t>
            </a:r>
            <a:endParaRPr lang="en-US" sz="1300" dirty="0"/>
          </a:p>
        </p:txBody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43" b="-43"/>
          <a:stretch/>
        </p:blipFill>
        <p:spPr>
          <a:xfrm>
            <a:off x="838505" y="7258507"/>
            <a:ext cx="133502" cy="152705"/>
          </a:xfrm>
          <a:prstGeom prst="rect">
            <a:avLst/>
          </a:prstGeom>
        </p:spPr>
      </p:pic>
      <p:sp>
        <p:nvSpPr>
          <p:cNvPr id="37" name="Text 24"/>
          <p:cNvSpPr txBox="1"/>
          <p:nvPr/>
        </p:nvSpPr>
        <p:spPr>
          <a:xfrm>
            <a:off x="1181405" y="7191756"/>
            <a:ext cx="26910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社内生成AI活用事例イベント開催</a:t>
            </a:r>
            <a:endParaRPr lang="en-US" sz="1300" dirty="0"/>
          </a:p>
        </p:txBody>
      </p:sp>
      <p:sp>
        <p:nvSpPr>
          <p:cNvPr id="38" name="Shape 25"/>
          <p:cNvSpPr/>
          <p:nvPr/>
        </p:nvSpPr>
        <p:spPr>
          <a:xfrm>
            <a:off x="7112203" y="761695"/>
            <a:ext cx="5086807" cy="790590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9" name="Shape 26"/>
          <p:cNvSpPr/>
          <p:nvPr/>
        </p:nvSpPr>
        <p:spPr>
          <a:xfrm>
            <a:off x="6921094" y="4714646"/>
            <a:ext cx="381305" cy="7114946"/>
          </a:xfrm>
          <a:prstGeom prst="rect">
            <a:avLst/>
          </a:prstGeom>
          <a:solidFill>
            <a:srgbClr val="EDF5FF"/>
          </a:solidFill>
          <a:ln/>
        </p:spPr>
      </p:sp>
      <p:sp>
        <p:nvSpPr>
          <p:cNvPr id="40" name="Shape 27"/>
          <p:cNvSpPr/>
          <p:nvPr/>
        </p:nvSpPr>
        <p:spPr>
          <a:xfrm>
            <a:off x="7535570" y="3067812"/>
            <a:ext cx="1067105" cy="1067105"/>
          </a:xfrm>
          <a:prstGeom prst="roundRect">
            <a:avLst>
              <a:gd name="adj" fmla="val 85690"/>
            </a:avLst>
          </a:prstGeom>
          <a:solidFill>
            <a:srgbClr val="DBEAFE"/>
          </a:solidFill>
          <a:ln w="25400">
            <a:solidFill>
              <a:srgbClr val="93C5FD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41" name="Image 11" descr="preencoded.png">    </p:cNvPr>
          <p:cNvPicPr>
            <a:picLocks noChangeAspect="1"/>
          </p:cNvPicPr>
          <p:nvPr/>
        </p:nvPicPr>
        <p:blipFill>
          <a:blip r:embed="rId12"/>
          <a:srcRect l="-80" r="-80" t="0" b="0"/>
          <a:stretch/>
        </p:blipFill>
        <p:spPr>
          <a:xfrm>
            <a:off x="7925105" y="3382366"/>
            <a:ext cx="286207" cy="228600"/>
          </a:xfrm>
          <a:prstGeom prst="rect">
            <a:avLst/>
          </a:prstGeom>
        </p:spPr>
      </p:pic>
      <p:sp>
        <p:nvSpPr>
          <p:cNvPr id="42" name="Text 28"/>
          <p:cNvSpPr txBox="1"/>
          <p:nvPr/>
        </p:nvSpPr>
        <p:spPr>
          <a:xfrm>
            <a:off x="7840066" y="3658514"/>
            <a:ext cx="5532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技術基盤</a:t>
            </a:r>
            <a:endParaRPr lang="en-US" sz="900" dirty="0"/>
          </a:p>
        </p:txBody>
      </p:sp>
      <p:sp>
        <p:nvSpPr>
          <p:cNvPr id="43" name="Shape 29"/>
          <p:cNvSpPr/>
          <p:nvPr/>
        </p:nvSpPr>
        <p:spPr>
          <a:xfrm>
            <a:off x="8593531" y="3616452"/>
            <a:ext cx="1218895" cy="38405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44" name="Shape 30"/>
          <p:cNvSpPr/>
          <p:nvPr/>
        </p:nvSpPr>
        <p:spPr>
          <a:xfrm>
            <a:off x="7535570" y="3067812"/>
            <a:ext cx="1067105" cy="1067105"/>
          </a:xfrm>
          <a:prstGeom prst="roundRect">
            <a:avLst>
              <a:gd name="adj" fmla="val 85690"/>
            </a:avLst>
          </a:prstGeom>
          <a:solidFill>
            <a:srgbClr val="DBEAFE"/>
          </a:solidFill>
          <a:ln w="25400">
            <a:solidFill>
              <a:srgbClr val="93C5FD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45" name="Image 12" descr="preencoded.png">    </p:cNvPr>
          <p:cNvPicPr>
            <a:picLocks noChangeAspect="1"/>
          </p:cNvPicPr>
          <p:nvPr/>
        </p:nvPicPr>
        <p:blipFill>
          <a:blip r:embed="rId13"/>
          <a:srcRect l="-80" r="-80" t="0" b="0"/>
          <a:stretch/>
        </p:blipFill>
        <p:spPr>
          <a:xfrm>
            <a:off x="7925105" y="3382366"/>
            <a:ext cx="286207" cy="228600"/>
          </a:xfrm>
          <a:prstGeom prst="rect">
            <a:avLst/>
          </a:prstGeom>
        </p:spPr>
      </p:pic>
      <p:sp>
        <p:nvSpPr>
          <p:cNvPr id="46" name="Text 31"/>
          <p:cNvSpPr txBox="1"/>
          <p:nvPr/>
        </p:nvSpPr>
        <p:spPr>
          <a:xfrm>
            <a:off x="7555687" y="3658514"/>
            <a:ext cx="11146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コミュニケーション</a:t>
            </a:r>
            <a:endParaRPr lang="en-US" sz="900" dirty="0"/>
          </a:p>
        </p:txBody>
      </p:sp>
      <p:sp>
        <p:nvSpPr>
          <p:cNvPr id="47" name="Shape 32"/>
          <p:cNvSpPr/>
          <p:nvPr/>
        </p:nvSpPr>
        <p:spPr>
          <a:xfrm>
            <a:off x="9490558" y="3616452"/>
            <a:ext cx="1218895" cy="38405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48" name="Shape 33"/>
          <p:cNvSpPr/>
          <p:nvPr/>
        </p:nvSpPr>
        <p:spPr>
          <a:xfrm>
            <a:off x="9118397" y="1420978"/>
            <a:ext cx="1067105" cy="1067105"/>
          </a:xfrm>
          <a:prstGeom prst="roundRect">
            <a:avLst>
              <a:gd name="adj" fmla="val 85690"/>
            </a:avLst>
          </a:prstGeom>
          <a:solidFill>
            <a:srgbClr val="DBEAFE"/>
          </a:solidFill>
          <a:ln w="25400">
            <a:solidFill>
              <a:srgbClr val="93C5FD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49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9537192" y="1735531"/>
            <a:ext cx="228600" cy="228600"/>
          </a:xfrm>
          <a:prstGeom prst="rect">
            <a:avLst/>
          </a:prstGeom>
        </p:spPr>
      </p:pic>
      <p:sp>
        <p:nvSpPr>
          <p:cNvPr id="50" name="Text 34"/>
          <p:cNvSpPr txBox="1"/>
          <p:nvPr/>
        </p:nvSpPr>
        <p:spPr>
          <a:xfrm>
            <a:off x="9422892" y="2011680"/>
            <a:ext cx="5532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普及施策</a:t>
            </a:r>
            <a:endParaRPr lang="en-US" sz="900" dirty="0"/>
          </a:p>
        </p:txBody>
      </p:sp>
      <p:sp>
        <p:nvSpPr>
          <p:cNvPr id="51" name="Shape 35"/>
          <p:cNvSpPr/>
          <p:nvPr/>
        </p:nvSpPr>
        <p:spPr>
          <a:xfrm>
            <a:off x="9651492" y="5447995"/>
            <a:ext cx="38405" cy="914400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52" name="Shape 36"/>
          <p:cNvSpPr/>
          <p:nvPr/>
        </p:nvSpPr>
        <p:spPr>
          <a:xfrm>
            <a:off x="8432597" y="3495751"/>
            <a:ext cx="2438705" cy="2438705"/>
          </a:xfrm>
          <a:prstGeom prst="roundRect">
            <a:avLst>
              <a:gd name="adj" fmla="val 37495"/>
            </a:avLst>
          </a:prstGeom>
          <a:noFill/>
          <a:ln w="25400">
            <a:solidFill>
              <a:srgbClr val="BFDBFE"/>
            </a:solidFill>
            <a:prstDash val="solid"/>
          </a:ln>
        </p:spPr>
      </p:sp>
      <p:sp>
        <p:nvSpPr>
          <p:cNvPr id="53" name="Shape 37"/>
          <p:cNvSpPr/>
          <p:nvPr/>
        </p:nvSpPr>
        <p:spPr>
          <a:xfrm>
            <a:off x="7822692" y="2885846"/>
            <a:ext cx="3657600" cy="3657600"/>
          </a:xfrm>
          <a:prstGeom prst="roundRect">
            <a:avLst>
              <a:gd name="adj" fmla="val 25000"/>
            </a:avLst>
          </a:prstGeom>
          <a:noFill/>
          <a:ln w="25400">
            <a:solidFill>
              <a:srgbClr val="DBEAFE"/>
            </a:solidFill>
            <a:prstDash val="solid"/>
          </a:ln>
        </p:spPr>
      </p:sp>
      <p:pic>
        <p:nvPicPr>
          <p:cNvPr id="54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-100" b="-100"/>
          <a:stretch/>
        </p:blipFill>
        <p:spPr>
          <a:xfrm>
            <a:off x="609905" y="8839505"/>
            <a:ext cx="114300" cy="152705"/>
          </a:xfrm>
          <a:prstGeom prst="rect">
            <a:avLst/>
          </a:prstGeom>
        </p:spPr>
      </p:pic>
      <p:sp>
        <p:nvSpPr>
          <p:cNvPr id="55" name="Text 38"/>
          <p:cNvSpPr txBox="1"/>
          <p:nvPr/>
        </p:nvSpPr>
        <p:spPr>
          <a:xfrm>
            <a:off x="800100" y="8820302"/>
            <a:ext cx="26243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全社的なAI活用基盤の整備が効率向上の鍵</a:t>
            </a:r>
            <a:endParaRPr lang="en-US" sz="1000" dirty="0"/>
          </a:p>
        </p:txBody>
      </p:sp>
      <p:sp>
        <p:nvSpPr>
          <p:cNvPr id="56" name="Text 39"/>
          <p:cNvSpPr txBox="1"/>
          <p:nvPr/>
        </p:nvSpPr>
        <p:spPr>
          <a:xfrm>
            <a:off x="11248034" y="8820302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 / 16</a:t>
            </a:r>
            <a:endParaRPr lang="en-US" sz="1000" dirty="0"/>
          </a:p>
        </p:txBody>
      </p:sp>
      <p:sp>
        <p:nvSpPr>
          <p:cNvPr id="57" name="Shape 40"/>
          <p:cNvSpPr/>
          <p:nvPr/>
        </p:nvSpPr>
        <p:spPr>
          <a:xfrm>
            <a:off x="9042502" y="4105656"/>
            <a:ext cx="1218895" cy="1218895"/>
          </a:xfrm>
          <a:prstGeom prst="roundRect">
            <a:avLst>
              <a:gd name="adj" fmla="val 75019"/>
            </a:avLst>
          </a:prstGeom>
          <a:solidFill>
            <a:srgbClr val="2563EB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58" name="Image 15" descr="preencoded.png">    </p:cNvPr>
          <p:cNvPicPr>
            <a:picLocks noChangeAspect="1"/>
          </p:cNvPicPr>
          <p:nvPr/>
        </p:nvPicPr>
        <p:blipFill>
          <a:blip r:embed="rId16"/>
          <a:srcRect l="-607" r="-607" t="0" b="0"/>
          <a:stretch/>
        </p:blipFill>
        <p:spPr>
          <a:xfrm>
            <a:off x="9470441" y="4433011"/>
            <a:ext cx="362102" cy="286207"/>
          </a:xfrm>
          <a:prstGeom prst="rect">
            <a:avLst/>
          </a:prstGeom>
        </p:spPr>
      </p:pic>
      <p:sp>
        <p:nvSpPr>
          <p:cNvPr id="59" name="Text 41"/>
          <p:cNvSpPr txBox="1"/>
          <p:nvPr/>
        </p:nvSpPr>
        <p:spPr>
          <a:xfrm>
            <a:off x="9251899" y="4807001"/>
            <a:ext cx="9006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全社員が活用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536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09905" y="209398"/>
            <a:ext cx="420075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施策1の課題：ボトムアップの個別最適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661904" y="286207"/>
            <a:ext cx="10241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AI駆動開発実践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09905" y="1485900"/>
            <a:ext cx="571500" cy="57607"/>
          </a:xfrm>
          <a:prstGeom prst="rect">
            <a:avLst/>
          </a:prstGeom>
          <a:solidFill>
            <a:srgbClr val="0043C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-33" r="-33" t="0" b="0"/>
          <a:stretch/>
        </p:blipFill>
        <p:spPr>
          <a:xfrm>
            <a:off x="647395" y="1923898"/>
            <a:ext cx="171907" cy="15270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90295" y="1837944"/>
            <a:ext cx="49057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案件・チームごとの最適化が進み、似た試行錯誤が乱立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90295" y="2190902"/>
            <a:ext cx="45153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各チームが独自のAI活用手法を開発し、重複した取り組みが発生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7395" y="2723998"/>
            <a:ext cx="152705" cy="15270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90295" y="2638044"/>
            <a:ext cx="35725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知見が分散し、再利用性が低下→非効率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990295" y="2991002"/>
            <a:ext cx="45244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成功事例や課題解決方法が共有されず、組織的な学習が進まない</a:t>
            </a:r>
            <a:endParaRPr lang="en-US" sz="12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7395" y="3524098"/>
            <a:ext cx="152705" cy="15270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990295" y="3438144"/>
            <a:ext cx="37536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結果：AI活用の余力が十分に活かされない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990295" y="3791102"/>
            <a:ext cx="37819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標準化されたプロセス・ノウハウ共有の仕組みが必要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7112203" y="761695"/>
            <a:ext cx="5086807" cy="6096305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7" name="Shape 12"/>
          <p:cNvSpPr/>
          <p:nvPr/>
        </p:nvSpPr>
        <p:spPr>
          <a:xfrm>
            <a:off x="6921094" y="3810305"/>
            <a:ext cx="381305" cy="5486400"/>
          </a:xfrm>
          <a:prstGeom prst="rect">
            <a:avLst/>
          </a:prstGeom>
          <a:solidFill>
            <a:srgbClr val="EDF5FF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8708746" y="1279246"/>
            <a:ext cx="20153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現状：分散した取り組み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7915961" y="1688897"/>
            <a:ext cx="952805" cy="952805"/>
          </a:xfrm>
          <a:prstGeom prst="ellipse">
            <a:avLst/>
          </a:prstGeom>
          <a:solidFill>
            <a:srgbClr val="FEE2E2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rcRect l="-80" r="-80" t="0" b="0"/>
          <a:stretch/>
        </p:blipFill>
        <p:spPr>
          <a:xfrm>
            <a:off x="8249717" y="1945843"/>
            <a:ext cx="286207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129016" y="2222906"/>
            <a:ext cx="6199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独自手法A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10435133" y="1994306"/>
            <a:ext cx="952805" cy="952805"/>
          </a:xfrm>
          <a:prstGeom prst="ellipse">
            <a:avLst/>
          </a:prstGeom>
          <a:solidFill>
            <a:srgbClr val="D1FAE5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rcRect l="-80" r="-80" t="0" b="0"/>
          <a:stretch/>
        </p:blipFill>
        <p:spPr>
          <a:xfrm>
            <a:off x="10767974" y="2251253"/>
            <a:ext cx="286207" cy="2286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0644530" y="2527402"/>
            <a:ext cx="6199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独自手法B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8297266" y="2565806"/>
            <a:ext cx="952805" cy="952805"/>
          </a:xfrm>
          <a:prstGeom prst="ellipse">
            <a:avLst/>
          </a:prstGeom>
          <a:solidFill>
            <a:srgbClr val="FEF3C7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rcRect l="-80" r="-80" t="0" b="0"/>
          <a:stretch/>
        </p:blipFill>
        <p:spPr>
          <a:xfrm>
            <a:off x="8630107" y="2822753"/>
            <a:ext cx="286207" cy="22860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8508492" y="3098902"/>
            <a:ext cx="6199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独自手法C</a:t>
            </a:r>
            <a:endParaRPr lang="en-US" sz="900" dirty="0"/>
          </a:p>
        </p:txBody>
      </p:sp>
      <p:sp>
        <p:nvSpPr>
          <p:cNvPr id="28" name="Shape 20"/>
          <p:cNvSpPr/>
          <p:nvPr/>
        </p:nvSpPr>
        <p:spPr>
          <a:xfrm>
            <a:off x="10053828" y="2260397"/>
            <a:ext cx="952805" cy="952805"/>
          </a:xfrm>
          <a:prstGeom prst="ellipse">
            <a:avLst/>
          </a:prstGeom>
          <a:solidFill>
            <a:srgbClr val="EDE9FE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rcRect l="-80" r="-80" t="0" b="0"/>
          <a:stretch/>
        </p:blipFill>
        <p:spPr>
          <a:xfrm>
            <a:off x="10387584" y="2517343"/>
            <a:ext cx="286207" cy="22860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10262311" y="2794406"/>
            <a:ext cx="6291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独自手法D</a:t>
            </a:r>
            <a:endParaRPr lang="en-US" sz="900" dirty="0"/>
          </a:p>
        </p:txBody>
      </p:sp>
      <p:sp>
        <p:nvSpPr>
          <p:cNvPr id="31" name="Shape 22"/>
          <p:cNvSpPr/>
          <p:nvPr/>
        </p:nvSpPr>
        <p:spPr>
          <a:xfrm>
            <a:off x="7535570" y="3800246"/>
            <a:ext cx="4238244" cy="19202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2" name="Text 23"/>
          <p:cNvSpPr txBox="1"/>
          <p:nvPr/>
        </p:nvSpPr>
        <p:spPr>
          <a:xfrm>
            <a:off x="8880653" y="3981298"/>
            <a:ext cx="16724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あるべき姿：標準化</a:t>
            </a:r>
            <a:endParaRPr lang="en-US" sz="1300" dirty="0"/>
          </a:p>
        </p:txBody>
      </p:sp>
      <p:sp>
        <p:nvSpPr>
          <p:cNvPr id="33" name="Shape 24"/>
          <p:cNvSpPr/>
          <p:nvPr/>
        </p:nvSpPr>
        <p:spPr>
          <a:xfrm>
            <a:off x="8737092" y="4390949"/>
            <a:ext cx="1828800" cy="1828800"/>
          </a:xfrm>
          <a:prstGeom prst="roundRect">
            <a:avLst>
              <a:gd name="adj" fmla="val 3125"/>
            </a:avLst>
          </a:prstGeom>
          <a:solidFill>
            <a:srgbClr val="2563EB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rcRect l="-607" r="-607" t="0" b="0"/>
          <a:stretch/>
        </p:blipFill>
        <p:spPr>
          <a:xfrm>
            <a:off x="9456725" y="4636008"/>
            <a:ext cx="390449" cy="342900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9137599" y="5069434"/>
            <a:ext cx="11576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標準プロセス</a:t>
            </a:r>
            <a:endParaRPr lang="en-US" sz="1300" dirty="0"/>
          </a:p>
        </p:txBody>
      </p:sp>
      <p:sp>
        <p:nvSpPr>
          <p:cNvPr id="36" name="Text 26"/>
          <p:cNvSpPr txBox="1"/>
          <p:nvPr/>
        </p:nvSpPr>
        <p:spPr>
          <a:xfrm>
            <a:off x="9251899" y="5403190"/>
            <a:ext cx="9006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ノウハウ共有</a:t>
            </a:r>
            <a:endParaRPr lang="en-US" sz="1000" dirty="0"/>
          </a:p>
        </p:txBody>
      </p:sp>
      <p:sp>
        <p:nvSpPr>
          <p:cNvPr id="37" name="Text 27"/>
          <p:cNvSpPr txBox="1"/>
          <p:nvPr/>
        </p:nvSpPr>
        <p:spPr>
          <a:xfrm>
            <a:off x="9318650" y="5593385"/>
            <a:ext cx="7671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再利用可能</a:t>
            </a:r>
            <a:endParaRPr lang="en-US" sz="1000" dirty="0"/>
          </a:p>
        </p:txBody>
      </p:sp>
      <p:sp>
        <p:nvSpPr>
          <p:cNvPr id="38" name="Text 28"/>
          <p:cNvSpPr txBox="1"/>
          <p:nvPr/>
        </p:nvSpPr>
        <p:spPr>
          <a:xfrm>
            <a:off x="9452153" y="5784494"/>
            <a:ext cx="5001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効率的</a:t>
            </a:r>
            <a:endParaRPr lang="en-US" sz="1000" dirty="0"/>
          </a:p>
        </p:txBody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530" b="-530"/>
          <a:stretch/>
        </p:blipFill>
        <p:spPr>
          <a:xfrm>
            <a:off x="11749126" y="5156302"/>
            <a:ext cx="247802" cy="286207"/>
          </a:xfrm>
          <a:prstGeom prst="rect">
            <a:avLst/>
          </a:prstGeom>
        </p:spPr>
      </p:pic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609905" y="7029907"/>
            <a:ext cx="152705" cy="152705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838505" y="7010705"/>
            <a:ext cx="22247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標準化と共有が効率的なAI活用の鍵</a:t>
            </a:r>
            <a:endParaRPr lang="en-US" sz="1000" dirty="0"/>
          </a:p>
        </p:txBody>
      </p:sp>
      <p:sp>
        <p:nvSpPr>
          <p:cNvPr id="42" name="Text 30"/>
          <p:cNvSpPr txBox="1"/>
          <p:nvPr/>
        </p:nvSpPr>
        <p:spPr>
          <a:xfrm>
            <a:off x="11248034" y="7010705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 / 16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5529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333195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0"/>
            <a:ext cx="4876495" cy="1333195"/>
          </a:xfrm>
          <a:prstGeom prst="rect">
            <a:avLst/>
          </a:prstGeom>
          <a:solidFill>
            <a:srgbClr val="001E50">
              <a:alpha val="40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09905" y="247802"/>
            <a:ext cx="39721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施策2 全体像：案件特化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752551"/>
            <a:ext cx="3191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伴走型と独立型の二段階アプローチ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09905" y="1943100"/>
            <a:ext cx="761695" cy="75895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8" name="Shape 6"/>
          <p:cNvSpPr/>
          <p:nvPr/>
        </p:nvSpPr>
        <p:spPr>
          <a:xfrm>
            <a:off x="1218895" y="2247595"/>
            <a:ext cx="4572000" cy="3629254"/>
          </a:xfrm>
          <a:prstGeom prst="roundRect">
            <a:avLst>
              <a:gd name="adj" fmla="val 52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218895" y="2247595"/>
            <a:ext cx="4572000" cy="47549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1524305" y="2600554"/>
            <a:ext cx="590702" cy="533095"/>
          </a:xfrm>
          <a:prstGeom prst="roundRect">
            <a:avLst>
              <a:gd name="adj" fmla="val 171527"/>
            </a:avLst>
          </a:prstGeom>
          <a:solidFill>
            <a:srgbClr val="DBEAFE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-607" r="-607" t="0" b="0"/>
          <a:stretch/>
        </p:blipFill>
        <p:spPr>
          <a:xfrm>
            <a:off x="1638605" y="2714854"/>
            <a:ext cx="362102" cy="286207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2266798" y="2691994"/>
            <a:ext cx="13149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案件伴走型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524305" y="3364992"/>
            <a:ext cx="30339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実案件の一員としてAI駆動開発を推進</a:t>
            </a:r>
            <a:endParaRPr lang="en-US" sz="13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524305" y="3774643"/>
            <a:ext cx="152705" cy="15270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752905" y="3736238"/>
            <a:ext cx="14959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少人数でも検証可能</a:t>
            </a:r>
            <a:endParaRPr lang="en-US" sz="12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524305" y="4079138"/>
            <a:ext cx="152705" cy="15270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52905" y="4040734"/>
            <a:ext cx="24103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ノウハウが現場で直接共有される</a:t>
            </a:r>
            <a:endParaRPr lang="en-US" sz="12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524305" y="4383634"/>
            <a:ext cx="152705" cy="15270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752905" y="4346143"/>
            <a:ext cx="18004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試行錯誤の余裕が少ない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1524305" y="4803343"/>
            <a:ext cx="3962095" cy="761695"/>
          </a:xfrm>
          <a:prstGeom prst="roundRect">
            <a:avLst>
              <a:gd name="adj" fmla="val 12005"/>
            </a:avLst>
          </a:prstGeom>
          <a:solidFill>
            <a:srgbClr val="EFF6FF"/>
          </a:solidFill>
          <a:ln/>
        </p:spPr>
      </p:sp>
      <p:sp>
        <p:nvSpPr>
          <p:cNvPr id="21" name="Shape 15"/>
          <p:cNvSpPr/>
          <p:nvPr/>
        </p:nvSpPr>
        <p:spPr>
          <a:xfrm>
            <a:off x="1524305" y="4803343"/>
            <a:ext cx="38405" cy="761695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1714500" y="4955134"/>
            <a:ext cx="22576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まずはこのアプローチから開始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1714500" y="5222138"/>
            <a:ext cx="17007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実案件での効果検証を重視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400800" y="2247595"/>
            <a:ext cx="4572000" cy="3629254"/>
          </a:xfrm>
          <a:prstGeom prst="roundRect">
            <a:avLst>
              <a:gd name="adj" fmla="val 52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400800" y="2247595"/>
            <a:ext cx="4572000" cy="47549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6" name="Shape 20"/>
          <p:cNvSpPr/>
          <p:nvPr/>
        </p:nvSpPr>
        <p:spPr>
          <a:xfrm>
            <a:off x="6705295" y="2600554"/>
            <a:ext cx="476402" cy="533095"/>
          </a:xfrm>
          <a:prstGeom prst="roundRect">
            <a:avLst>
              <a:gd name="adj" fmla="val 191939"/>
            </a:avLst>
          </a:prstGeom>
          <a:solidFill>
            <a:srgbClr val="E0E7FF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530" b="-530"/>
          <a:stretch/>
        </p:blipFill>
        <p:spPr>
          <a:xfrm>
            <a:off x="6819595" y="2714854"/>
            <a:ext cx="247802" cy="286207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334402" y="2691994"/>
            <a:ext cx="13149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730A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案件独立型</a:t>
            </a:r>
            <a:endParaRPr lang="en-US" sz="1800" dirty="0"/>
          </a:p>
        </p:txBody>
      </p:sp>
      <p:sp>
        <p:nvSpPr>
          <p:cNvPr id="29" name="Text 22"/>
          <p:cNvSpPr txBox="1"/>
          <p:nvPr/>
        </p:nvSpPr>
        <p:spPr>
          <a:xfrm>
            <a:off x="6705295" y="3364992"/>
            <a:ext cx="25292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過去案件を用いて集中的に検証</a:t>
            </a:r>
            <a:endParaRPr lang="en-US" sz="130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705295" y="3774643"/>
            <a:ext cx="152705" cy="152705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933895" y="3736238"/>
            <a:ext cx="26956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スケジュール非依存で試行錯誤が可能</a:t>
            </a:r>
            <a:endParaRPr lang="en-US" sz="1200" dirty="0"/>
          </a:p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705295" y="4079138"/>
            <a:ext cx="152705" cy="152705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6933895" y="4040734"/>
            <a:ext cx="21058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プロセス全体の再設計が可能</a:t>
            </a:r>
            <a:endParaRPr lang="en-US" sz="1200" dirty="0"/>
          </a:p>
        </p:txBody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705295" y="4383634"/>
            <a:ext cx="152705" cy="152705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6933895" y="4346143"/>
            <a:ext cx="21058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検証に多くのメンバーが必要</a:t>
            </a:r>
            <a:endParaRPr lang="en-US" sz="1200" dirty="0"/>
          </a:p>
        </p:txBody>
      </p:sp>
      <p:sp>
        <p:nvSpPr>
          <p:cNvPr id="36" name="Shape 26"/>
          <p:cNvSpPr/>
          <p:nvPr/>
        </p:nvSpPr>
        <p:spPr>
          <a:xfrm>
            <a:off x="6705295" y="4803343"/>
            <a:ext cx="3962095" cy="761695"/>
          </a:xfrm>
          <a:prstGeom prst="roundRect">
            <a:avLst>
              <a:gd name="adj" fmla="val 12005"/>
            </a:avLst>
          </a:prstGeom>
          <a:solidFill>
            <a:srgbClr val="EEF2FF"/>
          </a:solidFill>
          <a:ln/>
        </p:spPr>
      </p:sp>
      <p:sp>
        <p:nvSpPr>
          <p:cNvPr id="37" name="Shape 27"/>
          <p:cNvSpPr/>
          <p:nvPr/>
        </p:nvSpPr>
        <p:spPr>
          <a:xfrm>
            <a:off x="6705295" y="4803343"/>
            <a:ext cx="38405" cy="761695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8" name="Text 28"/>
          <p:cNvSpPr txBox="1"/>
          <p:nvPr/>
        </p:nvSpPr>
        <p:spPr>
          <a:xfrm>
            <a:off x="6896405" y="4955134"/>
            <a:ext cx="24103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効果が確認できたらこちらへ移行</a:t>
            </a:r>
            <a:endParaRPr lang="en-US" sz="1200" dirty="0"/>
          </a:p>
        </p:txBody>
      </p:sp>
      <p:sp>
        <p:nvSpPr>
          <p:cNvPr id="39" name="Text 29"/>
          <p:cNvSpPr txBox="1"/>
          <p:nvPr/>
        </p:nvSpPr>
        <p:spPr>
          <a:xfrm>
            <a:off x="6896405" y="5222138"/>
            <a:ext cx="19677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横展開を見据えた標準化を実現</a:t>
            </a:r>
            <a:endParaRPr lang="en-US" sz="1000" dirty="0"/>
          </a:p>
        </p:txBody>
      </p:sp>
      <p:sp>
        <p:nvSpPr>
          <p:cNvPr id="40" name="Text 30"/>
          <p:cNvSpPr txBox="1"/>
          <p:nvPr/>
        </p:nvSpPr>
        <p:spPr>
          <a:xfrm>
            <a:off x="3784702" y="6184087"/>
            <a:ext cx="47585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現場適用の実効性と、汎用化に向けた再現性の両立を目指す</a:t>
            </a:r>
            <a:endParaRPr lang="en-US" sz="1300" dirty="0"/>
          </a:p>
        </p:txBody>
      </p:sp>
      <p:sp>
        <p:nvSpPr>
          <p:cNvPr id="41" name="Shape 31"/>
          <p:cNvSpPr/>
          <p:nvPr/>
        </p:nvSpPr>
        <p:spPr>
          <a:xfrm>
            <a:off x="0" y="7050938"/>
            <a:ext cx="12191695" cy="495605"/>
          </a:xfrm>
          <a:prstGeom prst="rect">
            <a:avLst/>
          </a:prstGeom>
          <a:solidFill>
            <a:srgbClr val="F9FAFB"/>
          </a:solidFill>
          <a:ln/>
        </p:spPr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100" b="-100"/>
          <a:stretch/>
        </p:blipFill>
        <p:spPr>
          <a:xfrm>
            <a:off x="609905" y="7221931"/>
            <a:ext cx="114300" cy="152705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800100" y="7203643"/>
            <a:ext cx="30339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段階的なアプローチで確実な成果と横展開を実現</a:t>
            </a:r>
            <a:endParaRPr lang="en-US" sz="1000" dirty="0"/>
          </a:p>
        </p:txBody>
      </p:sp>
      <p:sp>
        <p:nvSpPr>
          <p:cNvPr id="44" name="Text 33"/>
          <p:cNvSpPr txBox="1"/>
          <p:nvPr/>
        </p:nvSpPr>
        <p:spPr>
          <a:xfrm>
            <a:off x="11248034" y="7203643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9 / 16</a:t>
            </a:r>
            <a:endParaRPr lang="en-US" sz="1000" dirty="0"/>
          </a:p>
        </p:txBody>
      </p:sp>
      <p:sp>
        <p:nvSpPr>
          <p:cNvPr id="45" name="Shape 34"/>
          <p:cNvSpPr/>
          <p:nvPr/>
        </p:nvSpPr>
        <p:spPr>
          <a:xfrm>
            <a:off x="5810098" y="3772814"/>
            <a:ext cx="571500" cy="571500"/>
          </a:xfrm>
          <a:prstGeom prst="ellipse">
            <a:avLst/>
          </a:prstGeom>
          <a:solidFill>
            <a:srgbClr val="0043CE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6" name="Text 35"/>
          <p:cNvSpPr txBox="1"/>
          <p:nvPr/>
        </p:nvSpPr>
        <p:spPr>
          <a:xfrm>
            <a:off x="5979262" y="3916375"/>
            <a:ext cx="381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VS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536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09905" y="209398"/>
            <a:ext cx="20007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案件伴走型の概要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661904" y="286207"/>
            <a:ext cx="10241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AI駆動開発実践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09905" y="1485900"/>
            <a:ext cx="571500" cy="57607"/>
          </a:xfrm>
          <a:prstGeom prst="rect">
            <a:avLst/>
          </a:prstGeom>
          <a:solidFill>
            <a:srgbClr val="0043C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80" b="-180"/>
          <a:stretch/>
        </p:blipFill>
        <p:spPr>
          <a:xfrm>
            <a:off x="647395" y="1923898"/>
            <a:ext cx="190195" cy="15270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90295" y="1837944"/>
            <a:ext cx="41248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チームの一員としてプロセス内でAI活用を推進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90295" y="2190902"/>
            <a:ext cx="34674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既存の開発チーム内で実案件に適用しながら検証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7395" y="2723998"/>
            <a:ext cx="152705" cy="15270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90295" y="2638044"/>
            <a:ext cx="905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メリット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990295" y="2991002"/>
            <a:ext cx="21058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・少人数でも効果検証が可能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990295" y="3258007"/>
            <a:ext cx="30010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・AI活用ノウハウが現場で直接共有される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990295" y="3524098"/>
            <a:ext cx="25530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・リアルな案件環境での実効性確認</a:t>
            </a:r>
            <a:endParaRPr lang="en-US" sz="12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7395" y="4058107"/>
            <a:ext cx="152705" cy="15270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90295" y="3972154"/>
            <a:ext cx="5239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制約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990295" y="4324198"/>
            <a:ext cx="37819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・開発優先のため試行錯誤や振り返りの余裕が少ない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990295" y="4591202"/>
            <a:ext cx="3762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・削減工数が案件内タスクで使われ効果が見えにくい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990295" y="4858207"/>
            <a:ext cx="22485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・チーム間での横展開が難しい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7112203" y="761695"/>
            <a:ext cx="5086807" cy="6096305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1" name="Shape 16"/>
          <p:cNvSpPr/>
          <p:nvPr/>
        </p:nvSpPr>
        <p:spPr>
          <a:xfrm>
            <a:off x="6921094" y="3810305"/>
            <a:ext cx="381305" cy="5486400"/>
          </a:xfrm>
          <a:prstGeom prst="rect">
            <a:avLst/>
          </a:prstGeom>
          <a:solidFill>
            <a:srgbClr val="EDF5FF"/>
          </a:solidFill>
          <a:ln/>
        </p:spPr>
      </p:sp>
      <p:sp>
        <p:nvSpPr>
          <p:cNvPr id="22" name="Shape 17"/>
          <p:cNvSpPr/>
          <p:nvPr/>
        </p:nvSpPr>
        <p:spPr>
          <a:xfrm>
            <a:off x="7535570" y="1733702"/>
            <a:ext cx="4238244" cy="13716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23" name="Text 18"/>
          <p:cNvSpPr txBox="1"/>
          <p:nvPr/>
        </p:nvSpPr>
        <p:spPr>
          <a:xfrm>
            <a:off x="8965692" y="1895551"/>
            <a:ext cx="15005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伴走型アプローチ</a:t>
            </a:r>
            <a:endParaRPr lang="en-US" sz="13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rcRect l="-743" r="-743" t="0" b="0"/>
          <a:stretch/>
        </p:blipFill>
        <p:spPr>
          <a:xfrm>
            <a:off x="8675827" y="2266798"/>
            <a:ext cx="304495" cy="342900"/>
          </a:xfrm>
          <a:prstGeom prst="rect">
            <a:avLst/>
          </a:prstGeom>
        </p:spPr>
      </p:pic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rcRect l="-1648" r="-1648" t="0" b="0"/>
          <a:stretch/>
        </p:blipFill>
        <p:spPr>
          <a:xfrm>
            <a:off x="9170518" y="2342693"/>
            <a:ext cx="171907" cy="190195"/>
          </a:xfrm>
          <a:prstGeom prst="rect">
            <a:avLst/>
          </a:prstGeom>
        </p:spPr>
      </p:pic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rcRect l="-27" r="-27" t="0" b="0"/>
          <a:stretch/>
        </p:blipFill>
        <p:spPr>
          <a:xfrm>
            <a:off x="9418320" y="2266798"/>
            <a:ext cx="428854" cy="342900"/>
          </a:xfrm>
          <a:prstGeom prst="rect">
            <a:avLst/>
          </a:prstGeom>
        </p:spPr>
      </p:pic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rcRect l="-1648" r="-1648" t="0" b="0"/>
          <a:stretch/>
        </p:blipFill>
        <p:spPr>
          <a:xfrm>
            <a:off x="10037369" y="2342693"/>
            <a:ext cx="171907" cy="190195"/>
          </a:xfrm>
          <a:prstGeom prst="rect">
            <a:avLst/>
          </a:prstGeom>
        </p:spPr>
      </p:pic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0285171" y="2266798"/>
            <a:ext cx="342900" cy="342900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8727034" y="2762402"/>
            <a:ext cx="19577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人間とAIが協働して案件を推進</a:t>
            </a:r>
            <a:endParaRPr lang="en-US" sz="1000" dirty="0"/>
          </a:p>
        </p:txBody>
      </p:sp>
      <p:sp>
        <p:nvSpPr>
          <p:cNvPr id="30" name="Shape 20"/>
          <p:cNvSpPr/>
          <p:nvPr/>
        </p:nvSpPr>
        <p:spPr>
          <a:xfrm>
            <a:off x="7535570" y="3409798"/>
            <a:ext cx="1772107" cy="1333195"/>
          </a:xfrm>
          <a:prstGeom prst="roundRect">
            <a:avLst>
              <a:gd name="adj" fmla="val 3919"/>
            </a:avLst>
          </a:prstGeom>
          <a:solidFill>
            <a:srgbClr val="ECFDF5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31" name="Shape 21"/>
          <p:cNvSpPr/>
          <p:nvPr/>
        </p:nvSpPr>
        <p:spPr>
          <a:xfrm>
            <a:off x="8226857" y="3562502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10B981"/>
          </a:solidFill>
          <a:ln/>
        </p:spPr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8341157" y="3676802"/>
            <a:ext cx="152705" cy="152705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7752283" y="4019702"/>
            <a:ext cx="1433779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リアルタイムの知見共有</a:t>
            </a:r>
            <a:endParaRPr lang="en-US" sz="1000" dirty="0"/>
          </a:p>
        </p:txBody>
      </p:sp>
      <p:sp>
        <p:nvSpPr>
          <p:cNvPr id="34" name="Text 23"/>
          <p:cNvSpPr txBox="1"/>
          <p:nvPr/>
        </p:nvSpPr>
        <p:spPr>
          <a:xfrm>
            <a:off x="7731252" y="4429354"/>
            <a:ext cx="14676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現場に即したノウハウ蓄積</a:t>
            </a:r>
            <a:endParaRPr lang="en-US" sz="900" dirty="0"/>
          </a:p>
        </p:txBody>
      </p:sp>
      <p:sp>
        <p:nvSpPr>
          <p:cNvPr id="35" name="Shape 24"/>
          <p:cNvSpPr/>
          <p:nvPr/>
        </p:nvSpPr>
        <p:spPr>
          <a:xfrm>
            <a:off x="10004450" y="3409798"/>
            <a:ext cx="1772107" cy="1333195"/>
          </a:xfrm>
          <a:prstGeom prst="roundRect">
            <a:avLst>
              <a:gd name="adj" fmla="val 3919"/>
            </a:avLst>
          </a:prstGeom>
          <a:solidFill>
            <a:srgbClr val="FEF2F2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36" name="Shape 25"/>
          <p:cNvSpPr/>
          <p:nvPr/>
        </p:nvSpPr>
        <p:spPr>
          <a:xfrm>
            <a:off x="10695737" y="3562502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EF4444"/>
          </a:solidFill>
          <a:ln/>
        </p:spPr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10810037" y="3676802"/>
            <a:ext cx="152705" cy="152705"/>
          </a:xfrm>
          <a:prstGeom prst="rect">
            <a:avLst/>
          </a:prstGeom>
        </p:spPr>
      </p:pic>
      <p:sp>
        <p:nvSpPr>
          <p:cNvPr id="38" name="Text 26"/>
          <p:cNvSpPr txBox="1"/>
          <p:nvPr/>
        </p:nvSpPr>
        <p:spPr>
          <a:xfrm>
            <a:off x="10286086" y="4019702"/>
            <a:ext cx="13002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試行錯誤の時間制約</a:t>
            </a:r>
            <a:endParaRPr lang="en-US" sz="1000" dirty="0"/>
          </a:p>
        </p:txBody>
      </p:sp>
      <p:sp>
        <p:nvSpPr>
          <p:cNvPr id="39" name="Text 27"/>
          <p:cNvSpPr txBox="1"/>
          <p:nvPr/>
        </p:nvSpPr>
        <p:spPr>
          <a:xfrm>
            <a:off x="10204704" y="4238244"/>
            <a:ext cx="14575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本番案件のスケジュール優先</a:t>
            </a:r>
            <a:endParaRPr lang="en-US" sz="900" dirty="0"/>
          </a:p>
        </p:txBody>
      </p:sp>
      <p:sp>
        <p:nvSpPr>
          <p:cNvPr id="40" name="Shape 28"/>
          <p:cNvSpPr/>
          <p:nvPr/>
        </p:nvSpPr>
        <p:spPr>
          <a:xfrm>
            <a:off x="7535570" y="5048402"/>
            <a:ext cx="4238244" cy="609905"/>
          </a:xfrm>
          <a:prstGeom prst="roundRect">
            <a:avLst>
              <a:gd name="adj" fmla="val 18741"/>
            </a:avLst>
          </a:prstGeom>
          <a:solidFill>
            <a:srgbClr val="F3F4F6"/>
          </a:solidFill>
          <a:ln/>
        </p:spPr>
      </p:sp>
      <p:sp>
        <p:nvSpPr>
          <p:cNvPr id="41" name="Shape 29"/>
          <p:cNvSpPr/>
          <p:nvPr/>
        </p:nvSpPr>
        <p:spPr>
          <a:xfrm>
            <a:off x="7535570" y="5048402"/>
            <a:ext cx="1695298" cy="609905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2" name="Text 30"/>
          <p:cNvSpPr txBox="1"/>
          <p:nvPr/>
        </p:nvSpPr>
        <p:spPr>
          <a:xfrm>
            <a:off x="8115300" y="5257800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工数削減</a:t>
            </a:r>
            <a:endParaRPr lang="en-US" sz="1000" dirty="0"/>
          </a:p>
        </p:txBody>
      </p:sp>
      <p:sp>
        <p:nvSpPr>
          <p:cNvPr id="43" name="Shape 31"/>
          <p:cNvSpPr/>
          <p:nvPr/>
        </p:nvSpPr>
        <p:spPr>
          <a:xfrm>
            <a:off x="7535570" y="5048402"/>
            <a:ext cx="1695298" cy="609905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44" name="Text 32"/>
          <p:cNvSpPr txBox="1"/>
          <p:nvPr/>
        </p:nvSpPr>
        <p:spPr>
          <a:xfrm>
            <a:off x="8182051" y="5257800"/>
            <a:ext cx="5001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再投資</a:t>
            </a:r>
            <a:endParaRPr lang="en-US" sz="1000" dirty="0"/>
          </a:p>
        </p:txBody>
      </p:sp>
      <p:sp>
        <p:nvSpPr>
          <p:cNvPr id="45" name="Shape 33"/>
          <p:cNvSpPr/>
          <p:nvPr/>
        </p:nvSpPr>
        <p:spPr>
          <a:xfrm>
            <a:off x="10921594" y="5048402"/>
            <a:ext cx="847649" cy="609905"/>
          </a:xfrm>
          <a:prstGeom prst="rect">
            <a:avLst/>
          </a:prstGeom>
          <a:solidFill>
            <a:srgbClr val="BFDBFE"/>
          </a:solidFill>
          <a:ln/>
        </p:spPr>
      </p:sp>
      <p:sp>
        <p:nvSpPr>
          <p:cNvPr id="46" name="Text 34"/>
          <p:cNvSpPr txBox="1"/>
          <p:nvPr/>
        </p:nvSpPr>
        <p:spPr>
          <a:xfrm>
            <a:off x="10945368" y="5257800"/>
            <a:ext cx="9006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見えない効果</a:t>
            </a:r>
            <a:endParaRPr lang="en-US" sz="1000" dirty="0"/>
          </a:p>
        </p:txBody>
      </p:sp>
      <p:sp>
        <p:nvSpPr>
          <p:cNvPr id="47" name="Text 35"/>
          <p:cNvSpPr txBox="1"/>
          <p:nvPr/>
        </p:nvSpPr>
        <p:spPr>
          <a:xfrm>
            <a:off x="9079992" y="5724144"/>
            <a:ext cx="12390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効果の可視化が難しい</a:t>
            </a:r>
            <a:endParaRPr lang="en-US" sz="900" dirty="0"/>
          </a:p>
        </p:txBody>
      </p:sp>
      <p:pic>
        <p:nvPicPr>
          <p:cNvPr id="48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100" b="-100"/>
          <a:stretch/>
        </p:blipFill>
        <p:spPr>
          <a:xfrm>
            <a:off x="609905" y="7029907"/>
            <a:ext cx="114300" cy="152705"/>
          </a:xfrm>
          <a:prstGeom prst="rect">
            <a:avLst/>
          </a:prstGeom>
        </p:spPr>
      </p:pic>
      <p:sp>
        <p:nvSpPr>
          <p:cNvPr id="49" name="Text 36"/>
          <p:cNvSpPr txBox="1"/>
          <p:nvPr/>
        </p:nvSpPr>
        <p:spPr>
          <a:xfrm>
            <a:off x="800100" y="7010705"/>
            <a:ext cx="25008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実案件での検証と効果測定の両立が課題</a:t>
            </a:r>
            <a:endParaRPr lang="en-US" sz="1000" dirty="0"/>
          </a:p>
        </p:txBody>
      </p:sp>
      <p:sp>
        <p:nvSpPr>
          <p:cNvPr id="50" name="Text 37"/>
          <p:cNvSpPr txBox="1"/>
          <p:nvPr/>
        </p:nvSpPr>
        <p:spPr>
          <a:xfrm>
            <a:off x="11173968" y="7010705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 / 16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536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09905" y="209398"/>
            <a:ext cx="4972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案件伴走型の実践内容（クラウドリフト事例）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661904" y="286207"/>
            <a:ext cx="10241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AI駆動開発実践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09905" y="1485900"/>
            <a:ext cx="571500" cy="57607"/>
          </a:xfrm>
          <a:prstGeom prst="rect">
            <a:avLst/>
          </a:prstGeom>
          <a:solidFill>
            <a:srgbClr val="0043C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80" b="-180"/>
          <a:stretch/>
        </p:blipFill>
        <p:spPr>
          <a:xfrm>
            <a:off x="647395" y="1923898"/>
            <a:ext cx="190195" cy="15270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90295" y="1837944"/>
            <a:ext cx="22677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AWSへのクラウドリフト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90295" y="2190902"/>
            <a:ext cx="46296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.NET Frameworkのアプリ自体は修正せず、インフラ移設のみ実施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7395" y="2723998"/>
            <a:ext cx="152705" cy="15270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90295" y="2638044"/>
            <a:ext cx="29910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プロンプト共有による品質安定化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990295" y="2991002"/>
            <a:ext cx="4077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案件全体でプロンプトを共有し、出力品質の標準化を実現</a:t>
            </a:r>
            <a:endParaRPr lang="en-US" sz="12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00" b="-100"/>
          <a:stretch/>
        </p:blipFill>
        <p:spPr>
          <a:xfrm>
            <a:off x="647395" y="3524098"/>
            <a:ext cx="114300" cy="15270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990295" y="3438144"/>
            <a:ext cx="24295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ドキュメント管理の効率化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990295" y="3791102"/>
            <a:ext cx="4105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Excelなどのバイナリは避け、Markdownを基本として利用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990295" y="4058107"/>
            <a:ext cx="55915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納品時はMarkdownからの変換ツールを使用（変換容易なフォーマットを意識）</a:t>
            </a:r>
            <a:endParaRPr lang="en-US" sz="12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47395" y="4591202"/>
            <a:ext cx="152705" cy="15270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90295" y="4505249"/>
            <a:ext cx="18580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表形式データの扱い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990295" y="4858207"/>
            <a:ext cx="40864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表は必要最小限に抑え、修正容易性を重視した設計を採用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7112203" y="761695"/>
            <a:ext cx="5086807" cy="6096305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1" name="Shape 15"/>
          <p:cNvSpPr/>
          <p:nvPr/>
        </p:nvSpPr>
        <p:spPr>
          <a:xfrm>
            <a:off x="6921094" y="3810305"/>
            <a:ext cx="381305" cy="5486400"/>
          </a:xfrm>
          <a:prstGeom prst="rect">
            <a:avLst/>
          </a:prstGeom>
          <a:solidFill>
            <a:srgbClr val="EDF5FF"/>
          </a:solidFill>
          <a:ln/>
        </p:spPr>
      </p:sp>
      <p:sp>
        <p:nvSpPr>
          <p:cNvPr id="22" name="Shape 16"/>
          <p:cNvSpPr/>
          <p:nvPr/>
        </p:nvSpPr>
        <p:spPr>
          <a:xfrm>
            <a:off x="7535570" y="918058"/>
            <a:ext cx="4238244" cy="1561795"/>
          </a:xfrm>
          <a:prstGeom prst="roundRect">
            <a:avLst>
              <a:gd name="adj" fmla="val 28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180" b="-180"/>
          <a:stretch/>
        </p:blipFill>
        <p:spPr>
          <a:xfrm>
            <a:off x="8984894" y="1118311"/>
            <a:ext cx="190195" cy="152705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9251899" y="1070762"/>
            <a:ext cx="1191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クラウドリフト</a:t>
            </a:r>
            <a:endParaRPr lang="en-US" sz="12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152790" y="1489558"/>
            <a:ext cx="286207" cy="286207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783373" y="1863547"/>
            <a:ext cx="11292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.NET Framework</a:t>
            </a:r>
            <a:endParaRPr lang="en-US" sz="1000" dirty="0"/>
          </a:p>
        </p:txBody>
      </p:sp>
      <p:sp>
        <p:nvSpPr>
          <p:cNvPr id="27" name="Text 19"/>
          <p:cNvSpPr txBox="1"/>
          <p:nvPr/>
        </p:nvSpPr>
        <p:spPr>
          <a:xfrm>
            <a:off x="7764170" y="2053742"/>
            <a:ext cx="11676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アプリケーション</a:t>
            </a:r>
            <a:endParaRPr lang="en-US" sz="100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9671609" y="1752905"/>
            <a:ext cx="228600" cy="228600"/>
          </a:xfrm>
          <a:prstGeom prst="rect">
            <a:avLst/>
          </a:prstGeom>
        </p:spPr>
      </p:pic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rcRect l="-607" r="-607" t="0" b="0"/>
          <a:stretch/>
        </p:blipFill>
        <p:spPr>
          <a:xfrm>
            <a:off x="10960913" y="1489558"/>
            <a:ext cx="362102" cy="286207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11002975" y="1863547"/>
            <a:ext cx="3858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AWS</a:t>
            </a:r>
            <a:endParaRPr lang="en-US" sz="1000" dirty="0"/>
          </a:p>
        </p:txBody>
      </p:sp>
      <p:sp>
        <p:nvSpPr>
          <p:cNvPr id="31" name="Text 21"/>
          <p:cNvSpPr txBox="1"/>
          <p:nvPr/>
        </p:nvSpPr>
        <p:spPr>
          <a:xfrm>
            <a:off x="10743286" y="2053742"/>
            <a:ext cx="9006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インフラ環境</a:t>
            </a:r>
            <a:endParaRPr lang="en-US" sz="100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100" b="-100"/>
          <a:stretch/>
        </p:blipFill>
        <p:spPr>
          <a:xfrm>
            <a:off x="8930945" y="2825496"/>
            <a:ext cx="114300" cy="152705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9121140" y="2777947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Markdownの活用</a:t>
            </a:r>
            <a:endParaRPr lang="en-US" sz="1200" dirty="0"/>
          </a:p>
        </p:txBody>
      </p:sp>
      <p:sp>
        <p:nvSpPr>
          <p:cNvPr id="34" name="Shape 23"/>
          <p:cNvSpPr/>
          <p:nvPr/>
        </p:nvSpPr>
        <p:spPr>
          <a:xfrm>
            <a:off x="7535570" y="3082442"/>
            <a:ext cx="4238244" cy="952805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5" name="Shape 24"/>
          <p:cNvSpPr/>
          <p:nvPr/>
        </p:nvSpPr>
        <p:spPr>
          <a:xfrm>
            <a:off x="7535570" y="3082442"/>
            <a:ext cx="28346" cy="952805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6" name="Text 25"/>
          <p:cNvSpPr txBox="1"/>
          <p:nvPr/>
        </p:nvSpPr>
        <p:spPr>
          <a:xfrm>
            <a:off x="7659014" y="3196742"/>
            <a:ext cx="76992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見出し1</a:t>
            </a:r>
            <a:endParaRPr lang="en-US" sz="1000" dirty="0"/>
          </a:p>
        </p:txBody>
      </p:sp>
      <p:sp>
        <p:nvSpPr>
          <p:cNvPr id="37" name="Text 26"/>
          <p:cNvSpPr txBox="1"/>
          <p:nvPr/>
        </p:nvSpPr>
        <p:spPr>
          <a:xfrm>
            <a:off x="7659014" y="3386938"/>
            <a:ext cx="85587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見出し2</a:t>
            </a:r>
            <a:endParaRPr lang="en-US" sz="1000" dirty="0"/>
          </a:p>
        </p:txBody>
      </p:sp>
      <p:sp>
        <p:nvSpPr>
          <p:cNvPr id="38" name="Text 27"/>
          <p:cNvSpPr txBox="1"/>
          <p:nvPr/>
        </p:nvSpPr>
        <p:spPr>
          <a:xfrm>
            <a:off x="7659014" y="3578047"/>
            <a:ext cx="90342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箇条書き1</a:t>
            </a:r>
            <a:endParaRPr lang="en-US" sz="1000" dirty="0"/>
          </a:p>
        </p:txBody>
      </p:sp>
      <p:sp>
        <p:nvSpPr>
          <p:cNvPr id="39" name="Text 28"/>
          <p:cNvSpPr txBox="1"/>
          <p:nvPr/>
        </p:nvSpPr>
        <p:spPr>
          <a:xfrm>
            <a:off x="7659014" y="3768242"/>
            <a:ext cx="90342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箇条書き2</a:t>
            </a:r>
            <a:endParaRPr lang="en-US" sz="1000" dirty="0"/>
          </a:p>
        </p:txBody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9575597" y="4111142"/>
            <a:ext cx="152705" cy="152705"/>
          </a:xfrm>
          <a:prstGeom prst="rect">
            <a:avLst/>
          </a:prstGeom>
        </p:spPr>
      </p:pic>
      <p:pic>
        <p:nvPicPr>
          <p:cNvPr id="41" name="Image 10" descr="preencoded.png">    </p:cNvPr>
          <p:cNvPicPr>
            <a:picLocks noChangeAspect="1"/>
          </p:cNvPicPr>
          <p:nvPr/>
        </p:nvPicPr>
        <p:blipFill>
          <a:blip r:embed="rId11"/>
          <a:srcRect l="-133" r="-133" t="0" b="0"/>
          <a:stretch/>
        </p:blipFill>
        <p:spPr>
          <a:xfrm>
            <a:off x="8107985" y="4339742"/>
            <a:ext cx="171907" cy="228600"/>
          </a:xfrm>
          <a:prstGeom prst="rect">
            <a:avLst/>
          </a:prstGeom>
        </p:spPr>
      </p:pic>
      <p:sp>
        <p:nvSpPr>
          <p:cNvPr id="42" name="Text 29"/>
          <p:cNvSpPr txBox="1"/>
          <p:nvPr/>
        </p:nvSpPr>
        <p:spPr>
          <a:xfrm>
            <a:off x="8052206" y="4615891"/>
            <a:ext cx="3721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Word</a:t>
            </a:r>
            <a:endParaRPr lang="en-US" sz="900" dirty="0"/>
          </a:p>
        </p:txBody>
      </p:sp>
      <p:pic>
        <p:nvPicPr>
          <p:cNvPr id="43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9369857" y="4339742"/>
            <a:ext cx="228600" cy="228600"/>
          </a:xfrm>
          <a:prstGeom prst="rect">
            <a:avLst/>
          </a:prstGeom>
        </p:spPr>
      </p:pic>
      <p:sp>
        <p:nvSpPr>
          <p:cNvPr id="44" name="Text 30"/>
          <p:cNvSpPr txBox="1"/>
          <p:nvPr/>
        </p:nvSpPr>
        <p:spPr>
          <a:xfrm>
            <a:off x="9377172" y="4615891"/>
            <a:ext cx="3054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PDF</a:t>
            </a:r>
            <a:endParaRPr lang="en-US" sz="900" dirty="0"/>
          </a:p>
        </p:txBody>
      </p:sp>
      <p:pic>
        <p:nvPicPr>
          <p:cNvPr id="45" name="Image 12" descr="preencoded.png">    </p:cNvPr>
          <p:cNvPicPr>
            <a:picLocks noChangeAspect="1"/>
          </p:cNvPicPr>
          <p:nvPr/>
        </p:nvPicPr>
        <p:blipFill>
          <a:blip r:embed="rId13"/>
          <a:srcRect l="-133" r="-133" t="0" b="0"/>
          <a:stretch/>
        </p:blipFill>
        <p:spPr>
          <a:xfrm>
            <a:off x="10855757" y="4339742"/>
            <a:ext cx="171907" cy="228600"/>
          </a:xfrm>
          <a:prstGeom prst="rect">
            <a:avLst/>
          </a:prstGeom>
        </p:spPr>
      </p:pic>
      <p:sp>
        <p:nvSpPr>
          <p:cNvPr id="46" name="Text 31"/>
          <p:cNvSpPr txBox="1"/>
          <p:nvPr/>
        </p:nvSpPr>
        <p:spPr>
          <a:xfrm>
            <a:off x="10632643" y="4615891"/>
            <a:ext cx="7050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PowerPoint</a:t>
            </a:r>
            <a:endParaRPr lang="en-US" sz="900" dirty="0"/>
          </a:p>
        </p:txBody>
      </p:sp>
      <p:pic>
        <p:nvPicPr>
          <p:cNvPr id="47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-180" b="-180"/>
          <a:stretch/>
        </p:blipFill>
        <p:spPr>
          <a:xfrm>
            <a:off x="8606333" y="5130698"/>
            <a:ext cx="190195" cy="152705"/>
          </a:xfrm>
          <a:prstGeom prst="rect">
            <a:avLst/>
          </a:prstGeom>
        </p:spPr>
      </p:pic>
      <p:sp>
        <p:nvSpPr>
          <p:cNvPr id="48" name="Text 32"/>
          <p:cNvSpPr txBox="1"/>
          <p:nvPr/>
        </p:nvSpPr>
        <p:spPr>
          <a:xfrm>
            <a:off x="8873338" y="5083150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プロンプト共有・品質安定</a:t>
            </a:r>
            <a:endParaRPr lang="en-US" sz="1200" dirty="0"/>
          </a:p>
        </p:txBody>
      </p:sp>
      <p:sp>
        <p:nvSpPr>
          <p:cNvPr id="49" name="Shape 33"/>
          <p:cNvSpPr/>
          <p:nvPr/>
        </p:nvSpPr>
        <p:spPr>
          <a:xfrm>
            <a:off x="7535570" y="5387645"/>
            <a:ext cx="4238244" cy="418795"/>
          </a:xfrm>
          <a:prstGeom prst="rect">
            <a:avLst/>
          </a:prstGeom>
          <a:solidFill>
            <a:srgbClr val="EDF5FF"/>
          </a:solidFill>
          <a:ln/>
        </p:spPr>
      </p:sp>
      <p:sp>
        <p:nvSpPr>
          <p:cNvPr id="50" name="Shape 34"/>
          <p:cNvSpPr/>
          <p:nvPr/>
        </p:nvSpPr>
        <p:spPr>
          <a:xfrm>
            <a:off x="7535570" y="5387645"/>
            <a:ext cx="38405" cy="418795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51" name="Text 35"/>
          <p:cNvSpPr txBox="1"/>
          <p:nvPr/>
        </p:nvSpPr>
        <p:spPr>
          <a:xfrm>
            <a:off x="7764170" y="5501945"/>
            <a:ext cx="18342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共通プロンプトテンプレート</a:t>
            </a:r>
            <a:endParaRPr lang="en-US" sz="1000" dirty="0"/>
          </a:p>
        </p:txBody>
      </p:sp>
      <p:pic>
        <p:nvPicPr>
          <p:cNvPr id="52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-100" b="-100"/>
          <a:stretch/>
        </p:blipFill>
        <p:spPr>
          <a:xfrm>
            <a:off x="9594799" y="5939942"/>
            <a:ext cx="114300" cy="152705"/>
          </a:xfrm>
          <a:prstGeom prst="rect">
            <a:avLst/>
          </a:prstGeom>
        </p:spPr>
      </p:pic>
      <p:sp>
        <p:nvSpPr>
          <p:cNvPr id="53" name="Shape 36"/>
          <p:cNvSpPr/>
          <p:nvPr/>
        </p:nvSpPr>
        <p:spPr>
          <a:xfrm>
            <a:off x="7707478" y="6130138"/>
            <a:ext cx="1067105" cy="571500"/>
          </a:xfrm>
          <a:prstGeom prst="roundRect">
            <a:avLst>
              <a:gd name="adj" fmla="val 21333"/>
            </a:avLst>
          </a:prstGeom>
          <a:solidFill>
            <a:srgbClr val="DBEAFE"/>
          </a:solidFill>
          <a:ln/>
        </p:spPr>
      </p:sp>
      <p:pic>
        <p:nvPicPr>
          <p:cNvPr id="54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-43" b="-43"/>
          <a:stretch/>
        </p:blipFill>
        <p:spPr>
          <a:xfrm>
            <a:off x="8173822" y="6254496"/>
            <a:ext cx="133502" cy="152705"/>
          </a:xfrm>
          <a:prstGeom prst="rect">
            <a:avLst/>
          </a:prstGeom>
        </p:spPr>
      </p:pic>
      <p:sp>
        <p:nvSpPr>
          <p:cNvPr id="55" name="Text 37"/>
          <p:cNvSpPr txBox="1"/>
          <p:nvPr/>
        </p:nvSpPr>
        <p:spPr>
          <a:xfrm>
            <a:off x="7977226" y="6463894"/>
            <a:ext cx="6199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メンバーA</a:t>
            </a:r>
            <a:endParaRPr lang="en-US" sz="900" dirty="0"/>
          </a:p>
        </p:txBody>
      </p:sp>
      <p:sp>
        <p:nvSpPr>
          <p:cNvPr id="56" name="Shape 38"/>
          <p:cNvSpPr/>
          <p:nvPr/>
        </p:nvSpPr>
        <p:spPr>
          <a:xfrm>
            <a:off x="9118397" y="6130138"/>
            <a:ext cx="1067105" cy="571500"/>
          </a:xfrm>
          <a:prstGeom prst="roundRect">
            <a:avLst>
              <a:gd name="adj" fmla="val 21333"/>
            </a:avLst>
          </a:prstGeom>
          <a:solidFill>
            <a:srgbClr val="DBEAFE"/>
          </a:solidFill>
          <a:ln/>
        </p:spPr>
      </p:sp>
      <p:pic>
        <p:nvPicPr>
          <p:cNvPr id="57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-43" b="-43"/>
          <a:stretch/>
        </p:blipFill>
        <p:spPr>
          <a:xfrm>
            <a:off x="9584741" y="6254496"/>
            <a:ext cx="133502" cy="152705"/>
          </a:xfrm>
          <a:prstGeom prst="rect">
            <a:avLst/>
          </a:prstGeom>
        </p:spPr>
      </p:pic>
      <p:sp>
        <p:nvSpPr>
          <p:cNvPr id="58" name="Text 39"/>
          <p:cNvSpPr txBox="1"/>
          <p:nvPr/>
        </p:nvSpPr>
        <p:spPr>
          <a:xfrm>
            <a:off x="9385402" y="6463894"/>
            <a:ext cx="6199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メンバーB</a:t>
            </a:r>
            <a:endParaRPr lang="en-US" sz="900" dirty="0"/>
          </a:p>
        </p:txBody>
      </p:sp>
      <p:sp>
        <p:nvSpPr>
          <p:cNvPr id="59" name="Shape 40"/>
          <p:cNvSpPr/>
          <p:nvPr/>
        </p:nvSpPr>
        <p:spPr>
          <a:xfrm>
            <a:off x="10529316" y="6130138"/>
            <a:ext cx="1067105" cy="571500"/>
          </a:xfrm>
          <a:prstGeom prst="roundRect">
            <a:avLst>
              <a:gd name="adj" fmla="val 21333"/>
            </a:avLst>
          </a:prstGeom>
          <a:solidFill>
            <a:srgbClr val="DBEAFE"/>
          </a:solidFill>
          <a:ln/>
        </p:spPr>
      </p:sp>
      <p:pic>
        <p:nvPicPr>
          <p:cNvPr id="60" name="Image 17" descr="preencoded.png">    </p:cNvPr>
          <p:cNvPicPr>
            <a:picLocks noChangeAspect="1"/>
          </p:cNvPicPr>
          <p:nvPr/>
        </p:nvPicPr>
        <p:blipFill>
          <a:blip r:embed="rId18"/>
          <a:srcRect l="0" r="0" t="-43" b="-43"/>
          <a:stretch/>
        </p:blipFill>
        <p:spPr>
          <a:xfrm>
            <a:off x="10995660" y="6254496"/>
            <a:ext cx="133502" cy="152705"/>
          </a:xfrm>
          <a:prstGeom prst="rect">
            <a:avLst/>
          </a:prstGeom>
        </p:spPr>
      </p:pic>
      <p:sp>
        <p:nvSpPr>
          <p:cNvPr id="61" name="Text 41"/>
          <p:cNvSpPr txBox="1"/>
          <p:nvPr/>
        </p:nvSpPr>
        <p:spPr>
          <a:xfrm>
            <a:off x="10797235" y="6463894"/>
            <a:ext cx="6199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メンバーC</a:t>
            </a:r>
            <a:endParaRPr lang="en-US" sz="900" dirty="0"/>
          </a:p>
        </p:txBody>
      </p:sp>
      <p:pic>
        <p:nvPicPr>
          <p:cNvPr id="62" name="Image 18" descr="preencoded.png">    </p:cNvPr>
          <p:cNvPicPr>
            <a:picLocks noChangeAspect="1"/>
          </p:cNvPicPr>
          <p:nvPr/>
        </p:nvPicPr>
        <p:blipFill>
          <a:blip r:embed="rId19"/>
          <a:srcRect l="0" r="0" t="-100" b="-100"/>
          <a:stretch/>
        </p:blipFill>
        <p:spPr>
          <a:xfrm>
            <a:off x="609905" y="7029907"/>
            <a:ext cx="114300" cy="152705"/>
          </a:xfrm>
          <a:prstGeom prst="rect">
            <a:avLst/>
          </a:prstGeom>
        </p:spPr>
      </p:pic>
      <p:sp>
        <p:nvSpPr>
          <p:cNvPr id="63" name="Text 42"/>
          <p:cNvSpPr txBox="1"/>
          <p:nvPr/>
        </p:nvSpPr>
        <p:spPr>
          <a:xfrm>
            <a:off x="800100" y="7010705"/>
            <a:ext cx="26343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効率化と品質維持を両立するプラクティス</a:t>
            </a:r>
            <a:endParaRPr lang="en-US" sz="1000" dirty="0"/>
          </a:p>
        </p:txBody>
      </p:sp>
      <p:sp>
        <p:nvSpPr>
          <p:cNvPr id="64" name="Text 43"/>
          <p:cNvSpPr txBox="1"/>
          <p:nvPr/>
        </p:nvSpPr>
        <p:spPr>
          <a:xfrm>
            <a:off x="11173968" y="7010705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11 / 16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001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09905" y="209398"/>
            <a:ext cx="22293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伴走型の成果と学び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661904" y="286207"/>
            <a:ext cx="10241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AI駆動開発実践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04495" y="1181405"/>
            <a:ext cx="571500" cy="57607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Shape 5"/>
          <p:cNvSpPr/>
          <p:nvPr/>
        </p:nvSpPr>
        <p:spPr>
          <a:xfrm>
            <a:off x="3238805" y="1143000"/>
            <a:ext cx="5715000" cy="5715000"/>
          </a:xfrm>
          <a:prstGeom prst="ellipse">
            <a:avLst/>
          </a:prstGeom>
          <a:noFill/>
          <a:ln w="190500">
            <a:solidFill>
              <a:srgbClr val="EDF5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905" y="7677302"/>
            <a:ext cx="152705" cy="15270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8505" y="7658100"/>
            <a:ext cx="27678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効果測定と課題認識が今後の改善につながる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1173968" y="7658100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12 / 16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4952390" y="1571854"/>
            <a:ext cx="3096158" cy="1543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0043C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33%</a:t>
            </a:r>
            <a:endParaRPr lang="en-US" sz="8400" dirty="0"/>
          </a:p>
        </p:txBody>
      </p:sp>
      <p:sp>
        <p:nvSpPr>
          <p:cNvPr id="12" name="Text 9"/>
          <p:cNvSpPr txBox="1"/>
          <p:nvPr/>
        </p:nvSpPr>
        <p:spPr>
          <a:xfrm>
            <a:off x="4341571" y="3133649"/>
            <a:ext cx="36576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要件定義〜IT/ST初期フェーズの工数削減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882896" y="3409798"/>
            <a:ext cx="25438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案件全体では 8% の工数削減を実現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04495" y="4095598"/>
            <a:ext cx="2381098" cy="2038198"/>
          </a:xfrm>
          <a:prstGeom prst="roundRect">
            <a:avLst>
              <a:gd name="adj" fmla="val 2516"/>
            </a:avLst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63500" dist="38100" dir="5400000">
              <a:srgbClr val="0043ce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" y="4248302"/>
            <a:ext cx="476402" cy="476402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80644" y="4371746"/>
            <a:ext cx="228600" cy="22860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4905756" y="4095598"/>
            <a:ext cx="2381098" cy="2038198"/>
          </a:xfrm>
          <a:prstGeom prst="roundRect">
            <a:avLst>
              <a:gd name="adj" fmla="val 2516"/>
            </a:avLst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63500" dist="38100" dir="5400000">
              <a:srgbClr val="0043ce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9506102" y="4095598"/>
            <a:ext cx="2381098" cy="2038198"/>
          </a:xfrm>
          <a:prstGeom prst="roundRect">
            <a:avLst>
              <a:gd name="adj" fmla="val 2516"/>
            </a:avLst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63500" dist="38100" dir="5400000">
              <a:srgbClr val="0043ce">
                <a:alpha val="10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1047902" y="4362602"/>
            <a:ext cx="8147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478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成果活用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457200" y="4839005"/>
            <a:ext cx="210037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削減した工数を追加ニーズや品質向上に再投資し、価値を最大化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5057546" y="4839005"/>
            <a:ext cx="209123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AIは自律的に動くのではなく「伴走」としての役割が中心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457200" y="5286146"/>
            <a:ext cx="215341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浮いた工数の使途を事前計画しないと単なる穴埋めになる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5057546" y="4248302"/>
            <a:ext cx="476402" cy="476402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rcRect l="-80" r="-80" t="0" b="0"/>
          <a:stretch/>
        </p:blipFill>
        <p:spPr>
          <a:xfrm>
            <a:off x="5152644" y="4371746"/>
            <a:ext cx="286207" cy="22860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5648249" y="4362602"/>
            <a:ext cx="8147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AIの役割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5057546" y="5333695"/>
            <a:ext cx="952805" cy="476402"/>
          </a:xfrm>
          <a:prstGeom prst="roundRect">
            <a:avLst>
              <a:gd name="adj" fmla="val 30710"/>
            </a:avLst>
          </a:prstGeom>
          <a:solidFill>
            <a:srgbClr val="3B82F6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5307178" y="5458054"/>
            <a:ext cx="57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AI提案</a:t>
            </a:r>
            <a:endParaRPr lang="en-US" sz="12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rcRect l="-1648" r="-1648" t="0" b="0"/>
          <a:stretch/>
        </p:blipFill>
        <p:spPr>
          <a:xfrm>
            <a:off x="6010351" y="5477256"/>
            <a:ext cx="171907" cy="190195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6429146" y="5458054"/>
            <a:ext cx="5815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人確認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5369357" y="5886907"/>
            <a:ext cx="1457554" cy="95098"/>
          </a:xfrm>
          <a:prstGeom prst="roundRect">
            <a:avLst>
              <a:gd name="adj" fmla="val 480767"/>
            </a:avLst>
          </a:prstGeom>
          <a:solidFill>
            <a:srgbClr val="FF3B30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5753405" y="5648249"/>
            <a:ext cx="7818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ボトルネック</a:t>
            </a:r>
            <a:endParaRPr lang="en-US" sz="90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rcRect l="-57" r="-57" t="0" b="0"/>
          <a:stretch/>
        </p:blipFill>
        <p:spPr>
          <a:xfrm>
            <a:off x="9796882" y="4371746"/>
            <a:ext cx="200254" cy="228600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9658807" y="4839005"/>
            <a:ext cx="19577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AIツールの習熟度に効果が依存</a:t>
            </a:r>
            <a:endParaRPr lang="en-US" sz="1000" dirty="0"/>
          </a:p>
        </p:txBody>
      </p:sp>
      <p:sp>
        <p:nvSpPr>
          <p:cNvPr id="34" name="Text 27"/>
          <p:cNvSpPr txBox="1"/>
          <p:nvPr/>
        </p:nvSpPr>
        <p:spPr>
          <a:xfrm>
            <a:off x="9658807" y="5324551"/>
            <a:ext cx="215341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習熟度に依存しない仕組み化が横展開の鍵</a:t>
            </a:r>
            <a:endParaRPr lang="en-US" sz="900" dirty="0"/>
          </a:p>
        </p:txBody>
      </p:sp>
      <p:sp>
        <p:nvSpPr>
          <p:cNvPr id="35" name="Text 28"/>
          <p:cNvSpPr txBox="1"/>
          <p:nvPr/>
        </p:nvSpPr>
        <p:spPr>
          <a:xfrm>
            <a:off x="10248595" y="4362602"/>
            <a:ext cx="9866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習熟度課題</a:t>
            </a:r>
            <a:endParaRPr lang="en-US" sz="1300" dirty="0"/>
          </a:p>
        </p:txBody>
      </p:sp>
      <p:sp>
        <p:nvSpPr>
          <p:cNvPr id="36" name="Shape 29"/>
          <p:cNvSpPr/>
          <p:nvPr/>
        </p:nvSpPr>
        <p:spPr>
          <a:xfrm>
            <a:off x="9658807" y="5105095"/>
            <a:ext cx="2076602" cy="152705"/>
          </a:xfrm>
          <a:prstGeom prst="roundRect">
            <a:avLst>
              <a:gd name="adj" fmla="val 598802"/>
            </a:avLst>
          </a:prstGeom>
          <a:solidFill>
            <a:srgbClr val="E5E7EB"/>
          </a:solidFill>
          <a:ln/>
        </p:spPr>
      </p:sp>
      <p:sp>
        <p:nvSpPr>
          <p:cNvPr id="37" name="Shape 30"/>
          <p:cNvSpPr/>
          <p:nvPr/>
        </p:nvSpPr>
        <p:spPr>
          <a:xfrm>
            <a:off x="9658807" y="5105095"/>
            <a:ext cx="629107" cy="15270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8" name="Text 31"/>
          <p:cNvSpPr txBox="1"/>
          <p:nvPr/>
        </p:nvSpPr>
        <p:spPr>
          <a:xfrm>
            <a:off x="9797796" y="5095951"/>
            <a:ext cx="4389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習熟者</a:t>
            </a:r>
            <a:endParaRPr lang="en-US" sz="900" dirty="0"/>
          </a:p>
        </p:txBody>
      </p:sp>
      <p:sp>
        <p:nvSpPr>
          <p:cNvPr id="39" name="Shape 32"/>
          <p:cNvSpPr/>
          <p:nvPr/>
        </p:nvSpPr>
        <p:spPr>
          <a:xfrm>
            <a:off x="10281514" y="5105095"/>
            <a:ext cx="838505" cy="152705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0" name="Text 33"/>
          <p:cNvSpPr txBox="1"/>
          <p:nvPr/>
        </p:nvSpPr>
        <p:spPr>
          <a:xfrm>
            <a:off x="10524744" y="5095951"/>
            <a:ext cx="4389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中間層</a:t>
            </a:r>
            <a:endParaRPr lang="en-US" sz="900" dirty="0"/>
          </a:p>
        </p:txBody>
      </p:sp>
      <p:sp>
        <p:nvSpPr>
          <p:cNvPr id="41" name="Shape 34"/>
          <p:cNvSpPr/>
          <p:nvPr/>
        </p:nvSpPr>
        <p:spPr>
          <a:xfrm>
            <a:off x="11111789" y="5105095"/>
            <a:ext cx="629107" cy="152705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42" name="Text 35"/>
          <p:cNvSpPr txBox="1"/>
          <p:nvPr/>
        </p:nvSpPr>
        <p:spPr>
          <a:xfrm>
            <a:off x="11251692" y="5095951"/>
            <a:ext cx="4389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初心者</a:t>
            </a:r>
            <a:endParaRPr lang="en-US" sz="900" dirty="0"/>
          </a:p>
        </p:txBody>
      </p:sp>
      <p:sp>
        <p:nvSpPr>
          <p:cNvPr id="43" name="Shape 36"/>
          <p:cNvSpPr/>
          <p:nvPr/>
        </p:nvSpPr>
        <p:spPr>
          <a:xfrm>
            <a:off x="2438705" y="6439205"/>
            <a:ext cx="7315200" cy="761695"/>
          </a:xfrm>
          <a:prstGeom prst="roundRect">
            <a:avLst>
              <a:gd name="adj" fmla="val 12005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44" name="Text 37"/>
          <p:cNvSpPr txBox="1"/>
          <p:nvPr/>
        </p:nvSpPr>
        <p:spPr>
          <a:xfrm>
            <a:off x="2651760" y="6590995"/>
            <a:ext cx="70107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重要な気づき： 工数削減は見えたが、効果を最大化するには「事前の計画」と「標準化・仕組み化」が必須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536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09905" y="209398"/>
            <a:ext cx="20007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案件独立型の概要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661904" y="286207"/>
            <a:ext cx="10241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AI駆動開発実践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09905" y="1485900"/>
            <a:ext cx="571500" cy="57607"/>
          </a:xfrm>
          <a:prstGeom prst="rect">
            <a:avLst/>
          </a:prstGeom>
          <a:solidFill>
            <a:srgbClr val="0043C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7395" y="1923898"/>
            <a:ext cx="152705" cy="15270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90295" y="1837944"/>
            <a:ext cx="33814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過去案件をもとにした検証アプローチ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90295" y="2190902"/>
            <a:ext cx="46963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完了案件のドキュメントを活用し、達成可能な成果を定量的に確認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43" b="-43"/>
          <a:stretch/>
        </p:blipFill>
        <p:spPr>
          <a:xfrm>
            <a:off x="647395" y="2723998"/>
            <a:ext cx="133502" cy="15270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90295" y="2638044"/>
            <a:ext cx="33723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スケジュール非依存で試行錯誤が可能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990295" y="2991002"/>
            <a:ext cx="45345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納期に左右されない環境で、最適な手法・プロセスを探索できる</a:t>
            </a:r>
            <a:endParaRPr lang="en-US" sz="12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80" b="-180"/>
          <a:stretch/>
        </p:blipFill>
        <p:spPr>
          <a:xfrm>
            <a:off x="647395" y="3524098"/>
            <a:ext cx="190195" cy="15270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990295" y="3438144"/>
            <a:ext cx="29910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多くのメンバーとリソースが必要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990295" y="3791102"/>
            <a:ext cx="4991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伴走型より多くの検証メンバーが必要、経験者も含めた体制構築が課題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47395" y="4324198"/>
            <a:ext cx="152705" cy="15270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90295" y="4238244"/>
            <a:ext cx="24295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実案件の複雑性再現が困難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990295" y="4591202"/>
            <a:ext cx="40864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要件変更などの遅延要因を検証環境で再現するのが難しい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7112203" y="761695"/>
            <a:ext cx="5086807" cy="6096305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0" name="Shape 14"/>
          <p:cNvSpPr/>
          <p:nvPr/>
        </p:nvSpPr>
        <p:spPr>
          <a:xfrm>
            <a:off x="6921094" y="3810305"/>
            <a:ext cx="381305" cy="5486400"/>
          </a:xfrm>
          <a:prstGeom prst="rect">
            <a:avLst/>
          </a:prstGeom>
          <a:solidFill>
            <a:srgbClr val="EDF5FF"/>
          </a:solidFill>
          <a:ln/>
        </p:spPr>
      </p:sp>
      <p:sp>
        <p:nvSpPr>
          <p:cNvPr id="21" name="Shape 15"/>
          <p:cNvSpPr/>
          <p:nvPr/>
        </p:nvSpPr>
        <p:spPr>
          <a:xfrm>
            <a:off x="7535570" y="1777594"/>
            <a:ext cx="4238244" cy="4105656"/>
          </a:xfrm>
          <a:prstGeom prst="roundRect">
            <a:avLst>
              <a:gd name="adj" fmla="val 4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8965692" y="2006194"/>
            <a:ext cx="1380744" cy="381305"/>
          </a:xfrm>
          <a:prstGeom prst="roundRect">
            <a:avLst>
              <a:gd name="adj" fmla="val 47962"/>
            </a:avLst>
          </a:prstGeom>
          <a:solidFill>
            <a:srgbClr val="2563EB"/>
          </a:solidFill>
          <a:ln/>
        </p:spPr>
      </p:sp>
      <p:sp>
        <p:nvSpPr>
          <p:cNvPr id="23" name="Text 17"/>
          <p:cNvSpPr txBox="1"/>
          <p:nvPr/>
        </p:nvSpPr>
        <p:spPr>
          <a:xfrm>
            <a:off x="9118397" y="2083003"/>
            <a:ext cx="1191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案件独立型検証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8049463" y="2616098"/>
            <a:ext cx="1343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過去案件資料収集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8049463" y="2844698"/>
            <a:ext cx="25008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要件定義書・設計書・テスト仕様書など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8049463" y="3178454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AI開発プロセス設計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8049463" y="3407054"/>
            <a:ext cx="14337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従来プロセスの再構築</a:t>
            </a:r>
            <a:endParaRPr lang="en-US" sz="1000" dirty="0"/>
          </a:p>
        </p:txBody>
      </p:sp>
      <p:sp>
        <p:nvSpPr>
          <p:cNvPr id="28" name="Text 22"/>
          <p:cNvSpPr txBox="1"/>
          <p:nvPr/>
        </p:nvSpPr>
        <p:spPr>
          <a:xfrm>
            <a:off x="8049463" y="3739896"/>
            <a:ext cx="11814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検証チーム編成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8049463" y="3968496"/>
            <a:ext cx="22338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多様なスキルセット・経験者の参画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8049463" y="4302252"/>
            <a:ext cx="1191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定量的効果測定</a:t>
            </a:r>
            <a:endParaRPr lang="en-US" sz="1200" dirty="0"/>
          </a:p>
        </p:txBody>
      </p:sp>
      <p:sp>
        <p:nvSpPr>
          <p:cNvPr id="31" name="Text 25"/>
          <p:cNvSpPr txBox="1"/>
          <p:nvPr/>
        </p:nvSpPr>
        <p:spPr>
          <a:xfrm>
            <a:off x="8049463" y="4530852"/>
            <a:ext cx="22338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工数・品質・コスト面での比較分析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7764170" y="4949647"/>
            <a:ext cx="3781044" cy="705002"/>
          </a:xfrm>
          <a:prstGeom prst="roundRect">
            <a:avLst>
              <a:gd name="adj" fmla="val 14022"/>
            </a:avLst>
          </a:prstGeom>
          <a:solidFill>
            <a:srgbClr val="DBEAFE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297266" y="5063947"/>
            <a:ext cx="228600" cy="22860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7878470" y="5350154"/>
            <a:ext cx="11676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試行錯誤の自由度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9642348" y="5111496"/>
            <a:ext cx="19202" cy="381305"/>
          </a:xfrm>
          <a:prstGeom prst="rect">
            <a:avLst/>
          </a:prstGeom>
          <a:solidFill>
            <a:srgbClr val="D1D5DB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0778033" y="5063947"/>
            <a:ext cx="228600" cy="22860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0358323" y="5350154"/>
            <a:ext cx="11676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現実再現の難しさ</a:t>
            </a:r>
            <a:endParaRPr lang="en-US" sz="1000" dirty="0"/>
          </a:p>
        </p:txBody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43" b="-43"/>
          <a:stretch/>
        </p:blipFill>
        <p:spPr>
          <a:xfrm>
            <a:off x="609905" y="7029907"/>
            <a:ext cx="133502" cy="152705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819302" y="7010705"/>
            <a:ext cx="32625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対象：シンプルなCRUD機能のWebアプリケーション</a:t>
            </a:r>
            <a:endParaRPr lang="en-US" sz="1000" dirty="0"/>
          </a:p>
        </p:txBody>
      </p:sp>
      <p:sp>
        <p:nvSpPr>
          <p:cNvPr id="40" name="Text 31"/>
          <p:cNvSpPr txBox="1"/>
          <p:nvPr/>
        </p:nvSpPr>
        <p:spPr>
          <a:xfrm>
            <a:off x="11173968" y="7010705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13 / 16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2393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09905" y="209398"/>
            <a:ext cx="3829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案件独立型：開発プロセスの再設計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661904" y="286207"/>
            <a:ext cx="10241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AI駆動開発実践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810098" y="1181405"/>
            <a:ext cx="571500" cy="57607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Shape 5"/>
          <p:cNvSpPr/>
          <p:nvPr/>
        </p:nvSpPr>
        <p:spPr>
          <a:xfrm>
            <a:off x="3143707" y="1047902"/>
            <a:ext cx="5905195" cy="5905195"/>
          </a:xfrm>
          <a:prstGeom prst="ellipse">
            <a:avLst/>
          </a:prstGeom>
          <a:noFill/>
          <a:ln w="190500">
            <a:solidFill>
              <a:srgbClr val="EDF5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63040" y="1466698"/>
            <a:ext cx="2286000" cy="1904695"/>
          </a:xfrm>
          <a:prstGeom prst="roundRect">
            <a:avLst>
              <a:gd name="adj" fmla="val 19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24735" y="1619402"/>
            <a:ext cx="761695" cy="761695"/>
          </a:xfrm>
          <a:prstGeom prst="roundRect">
            <a:avLst>
              <a:gd name="adj" fmla="val 18007"/>
            </a:avLst>
          </a:prstGeom>
          <a:solidFill>
            <a:srgbClr val="DBEAFE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463394" y="1857146"/>
            <a:ext cx="286207" cy="286207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2177186" y="2542946"/>
            <a:ext cx="9866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全体再設計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676095" y="2838298"/>
            <a:ext cx="1967789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既存プロセスに囚われず要件定義～運用保守まで刷新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953305" y="1466698"/>
            <a:ext cx="2286000" cy="1904695"/>
          </a:xfrm>
          <a:prstGeom prst="roundRect">
            <a:avLst>
              <a:gd name="adj" fmla="val 19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715000" y="1619402"/>
            <a:ext cx="761695" cy="761695"/>
          </a:xfrm>
          <a:prstGeom prst="roundRect">
            <a:avLst>
              <a:gd name="adj" fmla="val 18007"/>
            </a:avLst>
          </a:prstGeom>
          <a:solidFill>
            <a:srgbClr val="DBEAFE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52744" y="1857146"/>
            <a:ext cx="286207" cy="286207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324551" y="2542946"/>
            <a:ext cx="16724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スケーラブルな実行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5170932" y="2838298"/>
            <a:ext cx="195773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AIによる効率的なタスク処理の仕組みを整備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8442655" y="1466698"/>
            <a:ext cx="2286000" cy="1904695"/>
          </a:xfrm>
          <a:prstGeom prst="roundRect">
            <a:avLst>
              <a:gd name="adj" fmla="val 19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204350" y="1619402"/>
            <a:ext cx="761695" cy="761695"/>
          </a:xfrm>
          <a:prstGeom prst="roundRect">
            <a:avLst>
              <a:gd name="adj" fmla="val 18007"/>
            </a:avLst>
          </a:prstGeom>
          <a:solidFill>
            <a:srgbClr val="DBEAFE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443009" y="1857146"/>
            <a:ext cx="286207" cy="286207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985809" y="2542946"/>
            <a:ext cx="13295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柔軟性・保守性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8655710" y="2838298"/>
            <a:ext cx="1967789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過度な制約を避け、長期運用を前提とした設計</a:t>
            </a:r>
            <a:endParaRPr lang="en-US" sz="10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00" b="-100"/>
          <a:stretch/>
        </p:blipFill>
        <p:spPr>
          <a:xfrm>
            <a:off x="4003243" y="6610198"/>
            <a:ext cx="114300" cy="15270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4193438" y="6590995"/>
            <a:ext cx="36914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AIと人間の適切な役割分担で持続可能な開発プロセスを実現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7780630" y="6590995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14 / 16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1809598" y="3962095"/>
            <a:ext cx="8572500" cy="2476195"/>
          </a:xfrm>
          <a:prstGeom prst="roundRect">
            <a:avLst>
              <a:gd name="adj" fmla="val 1136"/>
            </a:avLst>
          </a:prstGeom>
          <a:solidFill>
            <a:srgbClr val="FFFFFF">
              <a:alpha val="80000"/>
            </a:srgbClr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27" name="Text 21"/>
          <p:cNvSpPr txBox="1"/>
          <p:nvPr/>
        </p:nvSpPr>
        <p:spPr>
          <a:xfrm>
            <a:off x="4217213" y="4200754"/>
            <a:ext cx="38916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シンプルなCRUD機能のWebアプリ開発プロセス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2491740" y="4610405"/>
            <a:ext cx="609905" cy="609905"/>
          </a:xfrm>
          <a:prstGeom prst="roundRect">
            <a:avLst>
              <a:gd name="adj" fmla="val 149925"/>
            </a:avLst>
          </a:prstGeom>
          <a:solidFill>
            <a:srgbClr val="2563EB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724912" y="4819802"/>
            <a:ext cx="142646" cy="190195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2530145" y="5296205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要件定義</a:t>
            </a:r>
            <a:endParaRPr lang="en-US" sz="1000" dirty="0"/>
          </a:p>
        </p:txBody>
      </p:sp>
      <p:sp>
        <p:nvSpPr>
          <p:cNvPr id="31" name="Text 24"/>
          <p:cNvSpPr txBox="1"/>
          <p:nvPr/>
        </p:nvSpPr>
        <p:spPr>
          <a:xfrm>
            <a:off x="2232050" y="5477256"/>
            <a:ext cx="12198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AI支援による要件整理</a:t>
            </a:r>
            <a:endParaRPr lang="en-US" sz="900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43" b="-43"/>
          <a:stretch/>
        </p:blipFill>
        <p:spPr>
          <a:xfrm>
            <a:off x="3555187" y="5048402"/>
            <a:ext cx="133502" cy="152705"/>
          </a:xfrm>
          <a:prstGeom prst="rect">
            <a:avLst/>
          </a:prstGeom>
        </p:spPr>
      </p:pic>
      <p:sp>
        <p:nvSpPr>
          <p:cNvPr id="33" name="Shape 25"/>
          <p:cNvSpPr/>
          <p:nvPr/>
        </p:nvSpPr>
        <p:spPr>
          <a:xfrm>
            <a:off x="4141318" y="4610405"/>
            <a:ext cx="609905" cy="609905"/>
          </a:xfrm>
          <a:prstGeom prst="roundRect">
            <a:avLst>
              <a:gd name="adj" fmla="val 149925"/>
            </a:avLst>
          </a:prstGeom>
          <a:solidFill>
            <a:srgbClr val="2563EB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rcRect l="-1282" r="-1282" t="0" b="0"/>
          <a:stretch/>
        </p:blipFill>
        <p:spPr>
          <a:xfrm>
            <a:off x="4336999" y="4819802"/>
            <a:ext cx="219456" cy="190195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4313225" y="5296205"/>
            <a:ext cx="3675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設計</a:t>
            </a:r>
            <a:endParaRPr lang="en-US" sz="1000" dirty="0"/>
          </a:p>
        </p:txBody>
      </p:sp>
      <p:sp>
        <p:nvSpPr>
          <p:cNvPr id="36" name="Text 27"/>
          <p:cNvSpPr txBox="1"/>
          <p:nvPr/>
        </p:nvSpPr>
        <p:spPr>
          <a:xfrm>
            <a:off x="3995014" y="5477256"/>
            <a:ext cx="9912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AI主導の構造設計</a:t>
            </a:r>
            <a:endParaRPr lang="en-US" sz="900" dirty="0"/>
          </a:p>
        </p:txBody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43" b="-43"/>
          <a:stretch/>
        </p:blipFill>
        <p:spPr>
          <a:xfrm>
            <a:off x="5204765" y="5048402"/>
            <a:ext cx="133502" cy="152705"/>
          </a:xfrm>
          <a:prstGeom prst="rect">
            <a:avLst/>
          </a:prstGeom>
        </p:spPr>
      </p:pic>
      <p:sp>
        <p:nvSpPr>
          <p:cNvPr id="38" name="Shape 28"/>
          <p:cNvSpPr/>
          <p:nvPr/>
        </p:nvSpPr>
        <p:spPr>
          <a:xfrm>
            <a:off x="5790895" y="4610405"/>
            <a:ext cx="609905" cy="609905"/>
          </a:xfrm>
          <a:prstGeom prst="roundRect">
            <a:avLst>
              <a:gd name="adj" fmla="val 149925"/>
            </a:avLst>
          </a:prstGeom>
          <a:solidFill>
            <a:srgbClr val="2563EB"/>
          </a:solidFill>
          <a:ln/>
        </p:spPr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5976518" y="4819802"/>
            <a:ext cx="237744" cy="190195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5962802" y="5296205"/>
            <a:ext cx="3675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</a:t>
            </a:r>
            <a:endParaRPr lang="en-US" sz="1000" dirty="0"/>
          </a:p>
        </p:txBody>
      </p:sp>
      <p:sp>
        <p:nvSpPr>
          <p:cNvPr id="41" name="Text 30"/>
          <p:cNvSpPr txBox="1"/>
          <p:nvPr/>
        </p:nvSpPr>
        <p:spPr>
          <a:xfrm>
            <a:off x="5588813" y="5477256"/>
            <a:ext cx="11055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AIによるコード生成</a:t>
            </a:r>
            <a:endParaRPr lang="en-US" sz="900" dirty="0"/>
          </a:p>
        </p:txBody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43" b="-43"/>
          <a:stretch/>
        </p:blipFill>
        <p:spPr>
          <a:xfrm>
            <a:off x="6854342" y="5048402"/>
            <a:ext cx="133502" cy="152705"/>
          </a:xfrm>
          <a:prstGeom prst="rect">
            <a:avLst/>
          </a:prstGeom>
        </p:spPr>
      </p:pic>
      <p:sp>
        <p:nvSpPr>
          <p:cNvPr id="43" name="Shape 31"/>
          <p:cNvSpPr/>
          <p:nvPr/>
        </p:nvSpPr>
        <p:spPr>
          <a:xfrm>
            <a:off x="7441387" y="4610405"/>
            <a:ext cx="609905" cy="609905"/>
          </a:xfrm>
          <a:prstGeom prst="roundRect">
            <a:avLst>
              <a:gd name="adj" fmla="val 149925"/>
            </a:avLst>
          </a:prstGeom>
          <a:solidFill>
            <a:srgbClr val="2563EB"/>
          </a:solidFill>
          <a:ln/>
        </p:spPr>
      </p:sp>
      <p:pic>
        <p:nvPicPr>
          <p:cNvPr id="44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7650785" y="4819802"/>
            <a:ext cx="190195" cy="190195"/>
          </a:xfrm>
          <a:prstGeom prst="rect">
            <a:avLst/>
          </a:prstGeom>
        </p:spPr>
      </p:pic>
      <p:sp>
        <p:nvSpPr>
          <p:cNvPr id="45" name="Text 32"/>
          <p:cNvSpPr txBox="1"/>
          <p:nvPr/>
        </p:nvSpPr>
        <p:spPr>
          <a:xfrm>
            <a:off x="7545629" y="5296205"/>
            <a:ext cx="5001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テスト</a:t>
            </a:r>
            <a:endParaRPr lang="en-US" sz="1000" dirty="0"/>
          </a:p>
        </p:txBody>
      </p:sp>
      <p:sp>
        <p:nvSpPr>
          <p:cNvPr id="46" name="Text 33"/>
          <p:cNvSpPr txBox="1"/>
          <p:nvPr/>
        </p:nvSpPr>
        <p:spPr>
          <a:xfrm>
            <a:off x="7304227" y="5477256"/>
            <a:ext cx="9720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E2Eテスト自動化</a:t>
            </a:r>
            <a:endParaRPr lang="en-US" sz="900" dirty="0"/>
          </a:p>
        </p:txBody>
      </p:sp>
      <p:pic>
        <p:nvPicPr>
          <p:cNvPr id="47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-43" b="-43"/>
          <a:stretch/>
        </p:blipFill>
        <p:spPr>
          <a:xfrm>
            <a:off x="8503920" y="5048402"/>
            <a:ext cx="133502" cy="152705"/>
          </a:xfrm>
          <a:prstGeom prst="rect">
            <a:avLst/>
          </a:prstGeom>
        </p:spPr>
      </p:pic>
      <p:sp>
        <p:nvSpPr>
          <p:cNvPr id="48" name="Shape 34"/>
          <p:cNvSpPr/>
          <p:nvPr/>
        </p:nvSpPr>
        <p:spPr>
          <a:xfrm>
            <a:off x="9090965" y="4610405"/>
            <a:ext cx="609905" cy="609905"/>
          </a:xfrm>
          <a:prstGeom prst="roundRect">
            <a:avLst>
              <a:gd name="adj" fmla="val 149925"/>
            </a:avLst>
          </a:prstGeom>
          <a:solidFill>
            <a:srgbClr val="2563EB"/>
          </a:solidFill>
          <a:ln/>
        </p:spPr>
      </p:sp>
      <p:pic>
        <p:nvPicPr>
          <p:cNvPr id="49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9276588" y="4819802"/>
            <a:ext cx="237744" cy="190195"/>
          </a:xfrm>
          <a:prstGeom prst="rect">
            <a:avLst/>
          </a:prstGeom>
        </p:spPr>
      </p:pic>
      <p:sp>
        <p:nvSpPr>
          <p:cNvPr id="50" name="Text 35"/>
          <p:cNvSpPr txBox="1"/>
          <p:nvPr/>
        </p:nvSpPr>
        <p:spPr>
          <a:xfrm>
            <a:off x="9128455" y="5296205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運用保守</a:t>
            </a:r>
            <a:endParaRPr lang="en-US" sz="1000" dirty="0"/>
          </a:p>
        </p:txBody>
      </p:sp>
      <p:sp>
        <p:nvSpPr>
          <p:cNvPr id="51" name="Text 36"/>
          <p:cNvSpPr txBox="1"/>
          <p:nvPr/>
        </p:nvSpPr>
        <p:spPr>
          <a:xfrm>
            <a:off x="8938260" y="5477256"/>
            <a:ext cx="10104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継続的検証と改善</a:t>
            </a:r>
            <a:endParaRPr lang="en-US" sz="900" dirty="0"/>
          </a:p>
        </p:txBody>
      </p:sp>
      <p:sp>
        <p:nvSpPr>
          <p:cNvPr id="52" name="Shape 37"/>
          <p:cNvSpPr/>
          <p:nvPr/>
        </p:nvSpPr>
        <p:spPr>
          <a:xfrm>
            <a:off x="2038198" y="5829300"/>
            <a:ext cx="8115300" cy="19202"/>
          </a:xfrm>
          <a:prstGeom prst="rect">
            <a:avLst/>
          </a:prstGeom>
          <a:solidFill>
            <a:srgbClr val="8A8D98"/>
          </a:solidFill>
          <a:ln/>
        </p:spPr>
      </p:sp>
      <p:pic>
        <p:nvPicPr>
          <p:cNvPr id="53" name="Image 13" descr="preencoded.png">    </p:cNvPr>
          <p:cNvPicPr>
            <a:picLocks noChangeAspect="1"/>
          </p:cNvPicPr>
          <p:nvPr/>
        </p:nvPicPr>
        <p:blipFill>
          <a:blip r:embed="rId14"/>
          <a:srcRect l="-57" r="-57" t="0" b="0"/>
          <a:stretch/>
        </p:blipFill>
        <p:spPr>
          <a:xfrm>
            <a:off x="3547872" y="6115507"/>
            <a:ext cx="200254" cy="228600"/>
          </a:xfrm>
          <a:prstGeom prst="rect">
            <a:avLst/>
          </a:prstGeom>
        </p:spPr>
      </p:pic>
      <p:sp>
        <p:nvSpPr>
          <p:cNvPr id="54" name="Text 38"/>
          <p:cNvSpPr txBox="1"/>
          <p:nvPr/>
        </p:nvSpPr>
        <p:spPr>
          <a:xfrm>
            <a:off x="3824021" y="6115507"/>
            <a:ext cx="8860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人間の役割</a:t>
            </a:r>
            <a:endParaRPr lang="en-US" sz="1200" dirty="0"/>
          </a:p>
        </p:txBody>
      </p:sp>
      <p:sp>
        <p:nvSpPr>
          <p:cNvPr id="55" name="Shape 39"/>
          <p:cNvSpPr/>
          <p:nvPr/>
        </p:nvSpPr>
        <p:spPr>
          <a:xfrm>
            <a:off x="2520086" y="6420002"/>
            <a:ext cx="3095244" cy="800100"/>
          </a:xfrm>
          <a:prstGeom prst="roundRect">
            <a:avLst>
              <a:gd name="adj" fmla="val 10884"/>
            </a:avLst>
          </a:prstGeom>
          <a:solidFill>
            <a:srgbClr val="EEF2FF"/>
          </a:solidFill>
          <a:ln/>
        </p:spPr>
      </p:sp>
      <p:sp>
        <p:nvSpPr>
          <p:cNvPr id="56" name="Text 40"/>
          <p:cNvSpPr txBox="1"/>
          <p:nvPr/>
        </p:nvSpPr>
        <p:spPr>
          <a:xfrm>
            <a:off x="3533242" y="6534302"/>
            <a:ext cx="11676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・観点の洗い出し</a:t>
            </a:r>
            <a:endParaRPr lang="en-US" sz="1000" dirty="0"/>
          </a:p>
        </p:txBody>
      </p:sp>
      <p:sp>
        <p:nvSpPr>
          <p:cNvPr id="57" name="Text 41"/>
          <p:cNvSpPr txBox="1"/>
          <p:nvPr/>
        </p:nvSpPr>
        <p:spPr>
          <a:xfrm>
            <a:off x="3400654" y="6724498"/>
            <a:ext cx="14337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・品質評価と方針決定</a:t>
            </a:r>
            <a:endParaRPr lang="en-US" sz="1000" dirty="0"/>
          </a:p>
        </p:txBody>
      </p:sp>
      <p:sp>
        <p:nvSpPr>
          <p:cNvPr id="58" name="Text 42"/>
          <p:cNvSpPr txBox="1"/>
          <p:nvPr/>
        </p:nvSpPr>
        <p:spPr>
          <a:xfrm>
            <a:off x="3333902" y="6915607"/>
            <a:ext cx="15672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・要件変更への対応判断</a:t>
            </a:r>
            <a:endParaRPr lang="en-US" sz="1000" dirty="0"/>
          </a:p>
        </p:txBody>
      </p:sp>
      <p:pic>
        <p:nvPicPr>
          <p:cNvPr id="59" name="Image 14" descr="preencoded.png">    </p:cNvPr>
          <p:cNvPicPr>
            <a:picLocks noChangeAspect="1"/>
          </p:cNvPicPr>
          <p:nvPr/>
        </p:nvPicPr>
        <p:blipFill>
          <a:blip r:embed="rId15"/>
          <a:srcRect l="-80" r="-80" t="0" b="0"/>
          <a:stretch/>
        </p:blipFill>
        <p:spPr>
          <a:xfrm>
            <a:off x="7640726" y="6115507"/>
            <a:ext cx="286207" cy="228600"/>
          </a:xfrm>
          <a:prstGeom prst="rect">
            <a:avLst/>
          </a:prstGeom>
        </p:spPr>
      </p:pic>
      <p:sp>
        <p:nvSpPr>
          <p:cNvPr id="60" name="Text 43"/>
          <p:cNvSpPr txBox="1"/>
          <p:nvPr/>
        </p:nvSpPr>
        <p:spPr>
          <a:xfrm>
            <a:off x="8002829" y="6115507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AIの役割</a:t>
            </a:r>
            <a:endParaRPr lang="en-US" sz="1200" dirty="0"/>
          </a:p>
        </p:txBody>
      </p:sp>
      <p:sp>
        <p:nvSpPr>
          <p:cNvPr id="61" name="Shape 44"/>
          <p:cNvSpPr/>
          <p:nvPr/>
        </p:nvSpPr>
        <p:spPr>
          <a:xfrm>
            <a:off x="6578194" y="6420002"/>
            <a:ext cx="3095244" cy="800100"/>
          </a:xfrm>
          <a:prstGeom prst="roundRect">
            <a:avLst>
              <a:gd name="adj" fmla="val 10884"/>
            </a:avLst>
          </a:prstGeom>
          <a:solidFill>
            <a:srgbClr val="EFF6FF"/>
          </a:solidFill>
          <a:ln/>
        </p:spPr>
      </p:sp>
      <p:sp>
        <p:nvSpPr>
          <p:cNvPr id="62" name="Text 45"/>
          <p:cNvSpPr txBox="1"/>
          <p:nvPr/>
        </p:nvSpPr>
        <p:spPr>
          <a:xfrm>
            <a:off x="7391095" y="6534302"/>
            <a:ext cx="15672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・各種ドキュメント作成</a:t>
            </a:r>
            <a:endParaRPr lang="en-US" sz="1000" dirty="0"/>
          </a:p>
        </p:txBody>
      </p:sp>
      <p:sp>
        <p:nvSpPr>
          <p:cNvPr id="63" name="Text 46"/>
          <p:cNvSpPr txBox="1"/>
          <p:nvPr/>
        </p:nvSpPr>
        <p:spPr>
          <a:xfrm>
            <a:off x="7524598" y="6724498"/>
            <a:ext cx="13002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・コード生成と実装</a:t>
            </a:r>
            <a:endParaRPr lang="en-US" sz="1000" dirty="0"/>
          </a:p>
        </p:txBody>
      </p:sp>
      <p:sp>
        <p:nvSpPr>
          <p:cNvPr id="64" name="Text 47"/>
          <p:cNvSpPr txBox="1"/>
          <p:nvPr/>
        </p:nvSpPr>
        <p:spPr>
          <a:xfrm>
            <a:off x="7328002" y="6915607"/>
            <a:ext cx="17007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・テストケース設計と実行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536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09905" y="209398"/>
            <a:ext cx="260055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施策3：研究環境の整備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661904" y="286207"/>
            <a:ext cx="10241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AI駆動開発実践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09905" y="1485900"/>
            <a:ext cx="571500" cy="57607"/>
          </a:xfrm>
          <a:prstGeom prst="rect">
            <a:avLst/>
          </a:prstGeom>
          <a:solidFill>
            <a:srgbClr val="0043C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3" b="-43"/>
          <a:stretch/>
        </p:blipFill>
        <p:spPr>
          <a:xfrm>
            <a:off x="647395" y="1923898"/>
            <a:ext cx="133502" cy="15270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90295" y="1837944"/>
            <a:ext cx="33723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案件と切り離した生成AIの研究を継続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90295" y="2190902"/>
            <a:ext cx="37819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実験用環境の構築とモデル・ツールの評価基盤の整備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7395" y="2723998"/>
            <a:ext cx="152705" cy="15270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90295" y="2638044"/>
            <a:ext cx="37536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セキュリティとガバナンスを考慮した設計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990295" y="2991002"/>
            <a:ext cx="39154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企業環境に適したAI活用のルール整備と管理体制の構築</a:t>
            </a:r>
            <a:endParaRPr lang="en-US" sz="12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7395" y="3524098"/>
            <a:ext cx="152705" cy="15270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990295" y="3438144"/>
            <a:ext cx="30010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研究成果を実案件へ継続的に適用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990295" y="3791102"/>
            <a:ext cx="44010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MCPやエージェントの検証、社内ナレッジへの取り込みと展開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7112203" y="761695"/>
            <a:ext cx="5086807" cy="6096305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7" name="Shape 12"/>
          <p:cNvSpPr/>
          <p:nvPr/>
        </p:nvSpPr>
        <p:spPr>
          <a:xfrm>
            <a:off x="6921094" y="3810305"/>
            <a:ext cx="381305" cy="5486400"/>
          </a:xfrm>
          <a:prstGeom prst="rect">
            <a:avLst/>
          </a:prstGeom>
          <a:solidFill>
            <a:srgbClr val="EDF5FF"/>
          </a:solidFill>
          <a:ln/>
        </p:spPr>
      </p:sp>
      <p:sp>
        <p:nvSpPr>
          <p:cNvPr id="18" name="Shape 13"/>
          <p:cNvSpPr/>
          <p:nvPr/>
        </p:nvSpPr>
        <p:spPr>
          <a:xfrm>
            <a:off x="7746797" y="2438705"/>
            <a:ext cx="3810305" cy="1238098"/>
          </a:xfrm>
          <a:prstGeom prst="roundRect">
            <a:avLst>
              <a:gd name="adj" fmla="val 4545"/>
            </a:avLst>
          </a:prstGeom>
          <a:solidFill>
            <a:srgbClr val="1D4ED8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530" b="-530"/>
          <a:stretch/>
        </p:blipFill>
        <p:spPr>
          <a:xfrm>
            <a:off x="7899502" y="2590495"/>
            <a:ext cx="247802" cy="286207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261604" y="2609698"/>
            <a:ext cx="8147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研究環境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7899502" y="2952598"/>
            <a:ext cx="11676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・最新技術の評価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7899502" y="3143707"/>
            <a:ext cx="13002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・プロトタイプ開発</a:t>
            </a:r>
            <a:endParaRPr lang="en-US" sz="1000" dirty="0"/>
          </a:p>
        </p:txBody>
      </p:sp>
      <p:sp>
        <p:nvSpPr>
          <p:cNvPr id="23" name="Text 17"/>
          <p:cNvSpPr txBox="1"/>
          <p:nvPr/>
        </p:nvSpPr>
        <p:spPr>
          <a:xfrm>
            <a:off x="7899502" y="3333902"/>
            <a:ext cx="7671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・事例研究</a:t>
            </a:r>
            <a:endParaRPr lang="en-US" sz="10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45" b="-45"/>
          <a:stretch/>
        </p:blipFill>
        <p:spPr>
          <a:xfrm>
            <a:off x="9523476" y="3504895"/>
            <a:ext cx="256946" cy="3429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7746797" y="3962095"/>
            <a:ext cx="3810305" cy="457200"/>
          </a:xfrm>
          <a:prstGeom prst="roundRect">
            <a:avLst>
              <a:gd name="adj" fmla="val 33333"/>
            </a:avLst>
          </a:prstGeom>
          <a:solidFill>
            <a:srgbClr val="3B82F6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969350" y="4076395"/>
            <a:ext cx="228600" cy="22860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9274759" y="4076395"/>
            <a:ext cx="11814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ナレッジベース</a:t>
            </a:r>
            <a:endParaRPr lang="en-US" sz="120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45" b="-45"/>
          <a:stretch/>
        </p:blipFill>
        <p:spPr>
          <a:xfrm>
            <a:off x="9523476" y="4572000"/>
            <a:ext cx="256946" cy="342900"/>
          </a:xfrm>
          <a:prstGeom prst="rect">
            <a:avLst/>
          </a:prstGeom>
        </p:spPr>
      </p:pic>
      <p:sp>
        <p:nvSpPr>
          <p:cNvPr id="29" name="Shape 20"/>
          <p:cNvSpPr/>
          <p:nvPr/>
        </p:nvSpPr>
        <p:spPr>
          <a:xfrm>
            <a:off x="7746797" y="3943807"/>
            <a:ext cx="3810305" cy="1238098"/>
          </a:xfrm>
          <a:prstGeom prst="roundRect">
            <a:avLst>
              <a:gd name="adj" fmla="val 4545"/>
            </a:avLst>
          </a:prstGeom>
          <a:solidFill>
            <a:srgbClr val="059669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7899502" y="4095598"/>
            <a:ext cx="286207" cy="286207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8299094" y="4114800"/>
            <a:ext cx="11576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実案件へ適用</a:t>
            </a:r>
            <a:endParaRPr lang="en-US" sz="1300" dirty="0"/>
          </a:p>
        </p:txBody>
      </p:sp>
      <p:sp>
        <p:nvSpPr>
          <p:cNvPr id="32" name="Text 22"/>
          <p:cNvSpPr txBox="1"/>
          <p:nvPr/>
        </p:nvSpPr>
        <p:spPr>
          <a:xfrm>
            <a:off x="7899502" y="4457700"/>
            <a:ext cx="15672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・検証済みプラクティス</a:t>
            </a:r>
            <a:endParaRPr lang="en-US" sz="1000" dirty="0"/>
          </a:p>
        </p:txBody>
      </p:sp>
      <p:sp>
        <p:nvSpPr>
          <p:cNvPr id="33" name="Text 23"/>
          <p:cNvSpPr txBox="1"/>
          <p:nvPr/>
        </p:nvSpPr>
        <p:spPr>
          <a:xfrm>
            <a:off x="7899502" y="4647895"/>
            <a:ext cx="15672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・標準化されたプロセス</a:t>
            </a:r>
            <a:endParaRPr lang="en-US" sz="1000" dirty="0"/>
          </a:p>
        </p:txBody>
      </p:sp>
      <p:sp>
        <p:nvSpPr>
          <p:cNvPr id="34" name="Text 24"/>
          <p:cNvSpPr txBox="1"/>
          <p:nvPr/>
        </p:nvSpPr>
        <p:spPr>
          <a:xfrm>
            <a:off x="7899502" y="4839005"/>
            <a:ext cx="11676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・ガバナンス整備</a:t>
            </a:r>
            <a:endParaRPr lang="en-US" sz="1000" dirty="0"/>
          </a:p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100" b="-100"/>
          <a:stretch/>
        </p:blipFill>
        <p:spPr>
          <a:xfrm>
            <a:off x="609905" y="7029907"/>
            <a:ext cx="114300" cy="152705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800100" y="7010705"/>
            <a:ext cx="30339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研究成果の実践への循環が持続的な進化を可能に</a:t>
            </a:r>
            <a:endParaRPr lang="en-US" sz="1000" dirty="0"/>
          </a:p>
        </p:txBody>
      </p:sp>
      <p:sp>
        <p:nvSpPr>
          <p:cNvPr id="37" name="Text 26"/>
          <p:cNvSpPr txBox="1"/>
          <p:nvPr/>
        </p:nvSpPr>
        <p:spPr>
          <a:xfrm>
            <a:off x="11173968" y="7010705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15 / 16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536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09905" y="209398"/>
            <a:ext cx="22293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まとめと今後の展望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661904" y="286207"/>
            <a:ext cx="10241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AI駆動開発実践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09905" y="1485900"/>
            <a:ext cx="571500" cy="57607"/>
          </a:xfrm>
          <a:prstGeom prst="rect">
            <a:avLst/>
          </a:prstGeom>
          <a:solidFill>
            <a:srgbClr val="0043C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7395" y="1923898"/>
            <a:ext cx="152705" cy="15270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90295" y="1837944"/>
            <a:ext cx="2048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三位一体のアプローチ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90295" y="2190902"/>
            <a:ext cx="55915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基盤（普及）×案件（価値化）×研究（先行）で循環を形成し、組織全体のAI活用レベルを向上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7395" y="2952598"/>
            <a:ext cx="152705" cy="15270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90295" y="2866644"/>
            <a:ext cx="905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成功の鍵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990295" y="3219602"/>
            <a:ext cx="45345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コンテキスト整備、プロンプト共有、効果測定と価値転換の徹底</a:t>
            </a:r>
            <a:endParaRPr lang="en-US" sz="12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7395" y="3752698"/>
            <a:ext cx="152705" cy="15270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990295" y="3666744"/>
            <a:ext cx="12865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横展開の促進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990295" y="4019702"/>
            <a:ext cx="3629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習熟度に依存しない仕組み化と標準プロセスの確立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43" b="-43"/>
          <a:stretch/>
        </p:blipFill>
        <p:spPr>
          <a:xfrm>
            <a:off x="647395" y="4552798"/>
            <a:ext cx="133502" cy="15270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90295" y="4466844"/>
            <a:ext cx="905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次の一手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990295" y="4819802"/>
            <a:ext cx="4858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評価指標の標準化、運用SLA/ガバナンス整備、成功事例の拡大と共有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7112203" y="761695"/>
            <a:ext cx="5086807" cy="6096305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0" name="Shape 14"/>
          <p:cNvSpPr/>
          <p:nvPr/>
        </p:nvSpPr>
        <p:spPr>
          <a:xfrm>
            <a:off x="6921094" y="3810305"/>
            <a:ext cx="381305" cy="5486400"/>
          </a:xfrm>
          <a:prstGeom prst="rect">
            <a:avLst/>
          </a:prstGeom>
          <a:solidFill>
            <a:srgbClr val="EDF5FF"/>
          </a:solidFill>
          <a:ln/>
        </p:spPr>
      </p:sp>
      <p:sp>
        <p:nvSpPr>
          <p:cNvPr id="21" name="Shape 15"/>
          <p:cNvSpPr/>
          <p:nvPr/>
        </p:nvSpPr>
        <p:spPr>
          <a:xfrm>
            <a:off x="7992770" y="1727302"/>
            <a:ext cx="1067105" cy="1067105"/>
          </a:xfrm>
          <a:prstGeom prst="roundRect">
            <a:avLst>
              <a:gd name="adj" fmla="val 85690"/>
            </a:avLst>
          </a:prstGeom>
          <a:solidFill>
            <a:srgbClr val="DBEAFE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rcRect l="-1282" r="-1282" t="0" b="0"/>
          <a:stretch/>
        </p:blipFill>
        <p:spPr>
          <a:xfrm>
            <a:off x="8416138" y="1981505"/>
            <a:ext cx="219456" cy="190195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8377733" y="2224735"/>
            <a:ext cx="3913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施策1</a:t>
            </a:r>
            <a:endParaRPr lang="en-US" sz="900" dirty="0"/>
          </a:p>
        </p:txBody>
      </p:sp>
      <p:sp>
        <p:nvSpPr>
          <p:cNvPr id="24" name="Text 17"/>
          <p:cNvSpPr txBox="1"/>
          <p:nvPr/>
        </p:nvSpPr>
        <p:spPr>
          <a:xfrm>
            <a:off x="8125358" y="2377440"/>
            <a:ext cx="8961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基盤整備・普及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10244023" y="1727302"/>
            <a:ext cx="1067105" cy="1067105"/>
          </a:xfrm>
          <a:prstGeom prst="roundRect">
            <a:avLst>
              <a:gd name="adj" fmla="val 85690"/>
            </a:avLst>
          </a:prstGeom>
          <a:solidFill>
            <a:srgbClr val="BFDBFE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rcRect l="-1282" r="-1282" t="0" b="0"/>
          <a:stretch/>
        </p:blipFill>
        <p:spPr>
          <a:xfrm>
            <a:off x="10668305" y="1981505"/>
            <a:ext cx="219456" cy="190195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0629900" y="2224735"/>
            <a:ext cx="3913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施策2</a:t>
            </a:r>
            <a:endParaRPr lang="en-US" sz="900" dirty="0"/>
          </a:p>
        </p:txBody>
      </p:sp>
      <p:sp>
        <p:nvSpPr>
          <p:cNvPr id="28" name="Text 20"/>
          <p:cNvSpPr txBox="1"/>
          <p:nvPr/>
        </p:nvSpPr>
        <p:spPr>
          <a:xfrm>
            <a:off x="10549433" y="2377440"/>
            <a:ext cx="5532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案件特化</a:t>
            </a:r>
            <a:endParaRPr lang="en-US" sz="900" dirty="0"/>
          </a:p>
        </p:txBody>
      </p:sp>
      <p:sp>
        <p:nvSpPr>
          <p:cNvPr id="29" name="Shape 21"/>
          <p:cNvSpPr/>
          <p:nvPr/>
        </p:nvSpPr>
        <p:spPr>
          <a:xfrm>
            <a:off x="9118397" y="4520794"/>
            <a:ext cx="1067105" cy="1067105"/>
          </a:xfrm>
          <a:prstGeom prst="roundRect">
            <a:avLst>
              <a:gd name="adj" fmla="val 85690"/>
            </a:avLst>
          </a:prstGeom>
          <a:solidFill>
            <a:srgbClr val="93C5FD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rcRect l="-1648" r="-1648" t="0" b="0"/>
          <a:stretch/>
        </p:blipFill>
        <p:spPr>
          <a:xfrm>
            <a:off x="9565538" y="4775911"/>
            <a:ext cx="171907" cy="190195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9503359" y="5019142"/>
            <a:ext cx="3913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施策3</a:t>
            </a:r>
            <a:endParaRPr lang="en-US" sz="900" dirty="0"/>
          </a:p>
        </p:txBody>
      </p:sp>
      <p:sp>
        <p:nvSpPr>
          <p:cNvPr id="32" name="Text 23"/>
          <p:cNvSpPr txBox="1"/>
          <p:nvPr/>
        </p:nvSpPr>
        <p:spPr>
          <a:xfrm>
            <a:off x="9308592" y="5170932"/>
            <a:ext cx="7818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研究環境整備</a:t>
            </a:r>
            <a:endParaRPr lang="en-US" sz="900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rcRect l="-7143" r="-7143" t="0" b="0"/>
          <a:stretch/>
        </p:blipFill>
        <p:spPr>
          <a:xfrm>
            <a:off x="9228125" y="2793492"/>
            <a:ext cx="543154" cy="543154"/>
          </a:xfrm>
          <a:prstGeom prst="rect">
            <a:avLst/>
          </a:prstGeom>
        </p:spPr>
      </p:pic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rcRect l="-7143" r="-7143" t="0" b="0"/>
          <a:stretch/>
        </p:blipFill>
        <p:spPr>
          <a:xfrm>
            <a:off x="9532620" y="2793492"/>
            <a:ext cx="543154" cy="543154"/>
          </a:xfrm>
          <a:prstGeom prst="rect">
            <a:avLst/>
          </a:prstGeom>
        </p:spPr>
      </p:pic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rcRect l="-7143" r="-7143" t="0" b="0"/>
          <a:stretch/>
        </p:blipFill>
        <p:spPr>
          <a:xfrm>
            <a:off x="8804758" y="3774643"/>
            <a:ext cx="543154" cy="543154"/>
          </a:xfrm>
          <a:prstGeom prst="rect">
            <a:avLst/>
          </a:prstGeom>
        </p:spPr>
      </p:pic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rcRect l="-7143" r="-7143" t="0" b="0"/>
          <a:stretch/>
        </p:blipFill>
        <p:spPr>
          <a:xfrm>
            <a:off x="9955987" y="3774643"/>
            <a:ext cx="543154" cy="543154"/>
          </a:xfrm>
          <a:prstGeom prst="rect">
            <a:avLst/>
          </a:prstGeom>
        </p:spPr>
      </p:pic>
      <p:sp>
        <p:nvSpPr>
          <p:cNvPr id="37" name="Shape 24"/>
          <p:cNvSpPr/>
          <p:nvPr/>
        </p:nvSpPr>
        <p:spPr>
          <a:xfrm>
            <a:off x="8835847" y="5626303"/>
            <a:ext cx="1638605" cy="342900"/>
          </a:xfrm>
          <a:prstGeom prst="roundRect">
            <a:avLst>
              <a:gd name="adj" fmla="val 59259"/>
            </a:avLst>
          </a:prstGeom>
          <a:solidFill>
            <a:srgbClr val="2563EB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38" name="Text 25"/>
          <p:cNvSpPr txBox="1"/>
          <p:nvPr/>
        </p:nvSpPr>
        <p:spPr>
          <a:xfrm>
            <a:off x="8988552" y="5702198"/>
            <a:ext cx="14337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継続的な改善サイクル</a:t>
            </a:r>
            <a:endParaRPr lang="en-US" sz="1000" dirty="0"/>
          </a:p>
        </p:txBody>
      </p:sp>
      <p:pic>
        <p:nvPicPr>
          <p:cNvPr id="39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-100" b="-100"/>
          <a:stretch/>
        </p:blipFill>
        <p:spPr>
          <a:xfrm>
            <a:off x="609905" y="7029907"/>
            <a:ext cx="114300" cy="152705"/>
          </a:xfrm>
          <a:prstGeom prst="rect">
            <a:avLst/>
          </a:prstGeom>
        </p:spPr>
      </p:pic>
      <p:sp>
        <p:nvSpPr>
          <p:cNvPr id="40" name="Text 26"/>
          <p:cNvSpPr txBox="1"/>
          <p:nvPr/>
        </p:nvSpPr>
        <p:spPr>
          <a:xfrm>
            <a:off x="800100" y="7010705"/>
            <a:ext cx="46250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AIを活用した開発は技術だけでなく、プロセス設計と組織づくりが成功の鍵</a:t>
            </a:r>
            <a:endParaRPr lang="en-US" sz="1000" dirty="0"/>
          </a:p>
        </p:txBody>
      </p:sp>
      <p:sp>
        <p:nvSpPr>
          <p:cNvPr id="41" name="Text 27"/>
          <p:cNvSpPr txBox="1"/>
          <p:nvPr/>
        </p:nvSpPr>
        <p:spPr>
          <a:xfrm>
            <a:off x="11173968" y="7010705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16 / 16</a:t>
            </a:r>
            <a:endParaRPr lang="en-US" sz="1000" dirty="0"/>
          </a:p>
        </p:txBody>
      </p:sp>
      <p:sp>
        <p:nvSpPr>
          <p:cNvPr id="42" name="Shape 28"/>
          <p:cNvSpPr/>
          <p:nvPr/>
        </p:nvSpPr>
        <p:spPr>
          <a:xfrm>
            <a:off x="9042502" y="3200400"/>
            <a:ext cx="1218895" cy="1218895"/>
          </a:xfrm>
          <a:prstGeom prst="roundRect">
            <a:avLst>
              <a:gd name="adj" fmla="val 750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43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9537192" y="3552444"/>
            <a:ext cx="228600" cy="228600"/>
          </a:xfrm>
          <a:prstGeom prst="rect">
            <a:avLst/>
          </a:prstGeom>
        </p:spPr>
      </p:pic>
      <p:sp>
        <p:nvSpPr>
          <p:cNvPr id="44" name="Text 29"/>
          <p:cNvSpPr txBox="1"/>
          <p:nvPr/>
        </p:nvSpPr>
        <p:spPr>
          <a:xfrm>
            <a:off x="9251899" y="3876142"/>
            <a:ext cx="9006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事業価値創出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2025-11-04T01:55:09Z</dcterms:created>
  <dcterms:modified xsi:type="dcterms:W3CDTF">2025-11-04T01:55:09Z</dcterms:modified>
</cp:coreProperties>
</file>