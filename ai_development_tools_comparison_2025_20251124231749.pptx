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304495" y="209398"/>
            <a:ext cx="4638751" cy="333756"/>
          </a:xfrm>
          <a:prstGeom prst="rect">
            <a:avLst/>
          </a:prstGeom>
          <a:noFill/>
          <a:ln/>
        </p:spPr>
        <p:txBody>
          <a:bodyPr wrap="square" lIns="0" tIns="0" rIns="0" bIns="0" rtlCol="0" anchor="ctr"/>
          <a:lstStyle/>
          <a:p>
            <a:pPr algn="l" indent="0" marL="0">
              <a:buNone/>
            </a:pPr>
            <a:r>
              <a:rPr lang="en-US" sz="1800" b="1" dirty="0">
                <a:solidFill>
                  <a:srgbClr val="111827"/>
                </a:solidFill>
                <a:latin typeface="Noto Sans JP" pitchFamily="34" charset="0"/>
                <a:ea typeface="Noto Sans JP" pitchFamily="34" charset="-122"/>
                <a:cs typeface="Noto Sans JP" pitchFamily="34" charset="-120"/>
              </a:rPr>
              <a:t>6大AI開発ツール 比較一覧（2025年11月）</a:t>
            </a:r>
            <a:endParaRPr lang="en-US" sz="1800" dirty="0"/>
          </a:p>
        </p:txBody>
      </p:sp>
      <p:sp>
        <p:nvSpPr>
          <p:cNvPr id="4" name="Text 2"/>
          <p:cNvSpPr txBox="1"/>
          <p:nvPr/>
        </p:nvSpPr>
        <p:spPr>
          <a:xfrm>
            <a:off x="304495" y="609905"/>
            <a:ext cx="4967935"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評価軸: コスト／世界利用人数／タイプ（伴走型・委任型）／セキュリティ／概要</a:t>
            </a:r>
            <a:endParaRPr lang="en-US" sz="1000" dirty="0"/>
          </a:p>
        </p:txBody>
      </p:sp>
      <p:sp>
        <p:nvSpPr>
          <p:cNvPr id="5" name="Shape 3"/>
          <p:cNvSpPr/>
          <p:nvPr/>
        </p:nvSpPr>
        <p:spPr>
          <a:xfrm>
            <a:off x="304495" y="952805"/>
            <a:ext cx="11582705" cy="4524451"/>
          </a:xfrm>
          <a:prstGeom prst="roundRect">
            <a:avLst>
              <a:gd name="adj" fmla="val 255"/>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6" name="Shape 4"/>
          <p:cNvSpPr/>
          <p:nvPr/>
        </p:nvSpPr>
        <p:spPr>
          <a:xfrm>
            <a:off x="314554" y="961949"/>
            <a:ext cx="11563502" cy="418795"/>
          </a:xfrm>
          <a:prstGeom prst="rect">
            <a:avLst/>
          </a:prstGeom>
          <a:solidFill>
            <a:srgbClr val="F9FAFB"/>
          </a:solidFill>
          <a:ln/>
        </p:spPr>
      </p:sp>
      <p:sp>
        <p:nvSpPr>
          <p:cNvPr id="7" name="Text 5"/>
          <p:cNvSpPr txBox="1"/>
          <p:nvPr/>
        </p:nvSpPr>
        <p:spPr>
          <a:xfrm>
            <a:off x="466344" y="1076249"/>
            <a:ext cx="500177"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ツール</a:t>
            </a:r>
            <a:endParaRPr lang="en-US" sz="1000" dirty="0"/>
          </a:p>
        </p:txBody>
      </p:sp>
      <p:sp>
        <p:nvSpPr>
          <p:cNvPr id="8" name="Text 6"/>
          <p:cNvSpPr txBox="1"/>
          <p:nvPr/>
        </p:nvSpPr>
        <p:spPr>
          <a:xfrm>
            <a:off x="2085746" y="1076249"/>
            <a:ext cx="500177"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コスト</a:t>
            </a:r>
            <a:endParaRPr lang="en-US" sz="1000" dirty="0"/>
          </a:p>
        </p:txBody>
      </p:sp>
      <p:sp>
        <p:nvSpPr>
          <p:cNvPr id="9" name="Text 7"/>
          <p:cNvSpPr txBox="1"/>
          <p:nvPr/>
        </p:nvSpPr>
        <p:spPr>
          <a:xfrm>
            <a:off x="4166921" y="1076249"/>
            <a:ext cx="900684"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世界利用人数</a:t>
            </a:r>
            <a:endParaRPr lang="en-US" sz="1000" dirty="0"/>
          </a:p>
        </p:txBody>
      </p:sp>
      <p:sp>
        <p:nvSpPr>
          <p:cNvPr id="10" name="Text 8"/>
          <p:cNvSpPr txBox="1"/>
          <p:nvPr/>
        </p:nvSpPr>
        <p:spPr>
          <a:xfrm>
            <a:off x="6016752" y="1076249"/>
            <a:ext cx="500177"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タイプ</a:t>
            </a:r>
            <a:endParaRPr lang="en-US" sz="1000" dirty="0"/>
          </a:p>
        </p:txBody>
      </p:sp>
      <p:sp>
        <p:nvSpPr>
          <p:cNvPr id="11" name="Text 9"/>
          <p:cNvSpPr txBox="1"/>
          <p:nvPr/>
        </p:nvSpPr>
        <p:spPr>
          <a:xfrm>
            <a:off x="7173468" y="1076249"/>
            <a:ext cx="900684"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セキュリティ</a:t>
            </a:r>
            <a:endParaRPr lang="en-US" sz="1000" dirty="0"/>
          </a:p>
        </p:txBody>
      </p:sp>
      <p:sp>
        <p:nvSpPr>
          <p:cNvPr id="12" name="Text 10"/>
          <p:cNvSpPr txBox="1"/>
          <p:nvPr/>
        </p:nvSpPr>
        <p:spPr>
          <a:xfrm>
            <a:off x="9254642" y="1076249"/>
            <a:ext cx="853135"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概要（2行）</a:t>
            </a:r>
            <a:endParaRPr lang="en-US" sz="1000" dirty="0"/>
          </a:p>
        </p:txBody>
      </p:sp>
      <p:sp>
        <p:nvSpPr>
          <p:cNvPr id="13" name="Text 11"/>
          <p:cNvSpPr txBox="1"/>
          <p:nvPr/>
        </p:nvSpPr>
        <p:spPr>
          <a:xfrm>
            <a:off x="466344" y="1495044"/>
            <a:ext cx="1071677"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GitHub Copilot</a:t>
            </a:r>
            <a:endParaRPr lang="en-US" sz="1000" dirty="0"/>
          </a:p>
        </p:txBody>
      </p:sp>
      <p:sp>
        <p:nvSpPr>
          <p:cNvPr id="14" name="Text 12"/>
          <p:cNvSpPr txBox="1"/>
          <p:nvPr/>
        </p:nvSpPr>
        <p:spPr>
          <a:xfrm>
            <a:off x="2085746" y="1495044"/>
            <a:ext cx="1700784"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個人$10｜Biz$19｜Ent$39</a:t>
            </a:r>
            <a:endParaRPr lang="en-US" sz="1000" dirty="0"/>
          </a:p>
        </p:txBody>
      </p:sp>
      <p:sp>
        <p:nvSpPr>
          <p:cNvPr id="15" name="Text 13"/>
          <p:cNvSpPr txBox="1"/>
          <p:nvPr/>
        </p:nvSpPr>
        <p:spPr>
          <a:xfrm>
            <a:off x="4166921" y="1495044"/>
            <a:ext cx="1595628" cy="381305"/>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約2,000万人（有料130万人）</a:t>
            </a:r>
            <a:endParaRPr lang="en-US" sz="1000" dirty="0"/>
          </a:p>
        </p:txBody>
      </p:sp>
      <p:sp>
        <p:nvSpPr>
          <p:cNvPr id="16" name="Shape 14"/>
          <p:cNvSpPr/>
          <p:nvPr/>
        </p:nvSpPr>
        <p:spPr>
          <a:xfrm>
            <a:off x="6016752" y="1552651"/>
            <a:ext cx="504749" cy="152705"/>
          </a:xfrm>
          <a:prstGeom prst="roundRect">
            <a:avLst>
              <a:gd name="adj" fmla="val 598802"/>
            </a:avLst>
          </a:prstGeom>
          <a:solidFill>
            <a:srgbClr val="E0F2FE"/>
          </a:solidFill>
          <a:ln/>
        </p:spPr>
      </p:sp>
      <p:sp>
        <p:nvSpPr>
          <p:cNvPr id="17" name="Text 15"/>
          <p:cNvSpPr txBox="1"/>
          <p:nvPr/>
        </p:nvSpPr>
        <p:spPr>
          <a:xfrm>
            <a:off x="6093562" y="1543507"/>
            <a:ext cx="438912" cy="162763"/>
          </a:xfrm>
          <a:prstGeom prst="rect">
            <a:avLst/>
          </a:prstGeom>
          <a:noFill/>
          <a:ln/>
        </p:spPr>
        <p:txBody>
          <a:bodyPr wrap="square" lIns="0" tIns="0" rIns="0" bIns="0" rtlCol="0" anchor="ctr"/>
          <a:lstStyle/>
          <a:p>
            <a:pPr algn="l" indent="0" marL="0">
              <a:buNone/>
            </a:pPr>
            <a:r>
              <a:rPr lang="en-US" sz="900" b="1" dirty="0">
                <a:solidFill>
                  <a:srgbClr val="075985"/>
                </a:solidFill>
                <a:latin typeface="Noto Sans JP" pitchFamily="34" charset="0"/>
                <a:ea typeface="Noto Sans JP" pitchFamily="34" charset="-122"/>
                <a:cs typeface="Noto Sans JP" pitchFamily="34" charset="-120"/>
              </a:rPr>
              <a:t>伴走型</a:t>
            </a:r>
            <a:endParaRPr lang="en-US" sz="900" dirty="0"/>
          </a:p>
        </p:txBody>
      </p:sp>
      <p:sp>
        <p:nvSpPr>
          <p:cNvPr id="18" name="Text 16"/>
          <p:cNvSpPr txBox="1"/>
          <p:nvPr/>
        </p:nvSpPr>
        <p:spPr>
          <a:xfrm>
            <a:off x="7173468" y="1485900"/>
            <a:ext cx="1752905"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SOC2 Type I、ISO27001、GDPR</a:t>
            </a:r>
            <a:endParaRPr lang="en-US" sz="900" dirty="0"/>
          </a:p>
        </p:txBody>
      </p:sp>
      <p:sp>
        <p:nvSpPr>
          <p:cNvPr id="19" name="Text 17"/>
          <p:cNvSpPr txBox="1"/>
          <p:nvPr/>
        </p:nvSpPr>
        <p:spPr>
          <a:xfrm>
            <a:off x="9254642" y="1495044"/>
            <a:ext cx="2539289"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エンタープライズ標準の補完/チャット。</a:t>
            </a:r>
            <a:endParaRPr lang="en-US" sz="1000" dirty="0"/>
          </a:p>
        </p:txBody>
      </p:sp>
      <p:sp>
        <p:nvSpPr>
          <p:cNvPr id="20" name="Text 18"/>
          <p:cNvSpPr txBox="1"/>
          <p:nvPr/>
        </p:nvSpPr>
        <p:spPr>
          <a:xfrm>
            <a:off x="9254642" y="1686154"/>
            <a:ext cx="1739189"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GitHub/Azure連携に強み。</a:t>
            </a:r>
            <a:endParaRPr lang="en-US" sz="1000" dirty="0"/>
          </a:p>
        </p:txBody>
      </p:sp>
      <p:sp>
        <p:nvSpPr>
          <p:cNvPr id="21" name="Shape 19"/>
          <p:cNvSpPr/>
          <p:nvPr/>
        </p:nvSpPr>
        <p:spPr>
          <a:xfrm>
            <a:off x="314554" y="1995221"/>
            <a:ext cx="11563502" cy="9144"/>
          </a:xfrm>
          <a:prstGeom prst="rect">
            <a:avLst/>
          </a:prstGeom>
          <a:solidFill>
            <a:srgbClr val="E5E7EB"/>
          </a:solidFill>
          <a:ln/>
        </p:spPr>
      </p:sp>
      <p:sp>
        <p:nvSpPr>
          <p:cNvPr id="22" name="Text 20"/>
          <p:cNvSpPr txBox="1"/>
          <p:nvPr/>
        </p:nvSpPr>
        <p:spPr>
          <a:xfrm>
            <a:off x="466344" y="2115007"/>
            <a:ext cx="538582"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Cursor</a:t>
            </a:r>
            <a:endParaRPr lang="en-US" sz="1000" dirty="0"/>
          </a:p>
        </p:txBody>
      </p:sp>
      <p:sp>
        <p:nvSpPr>
          <p:cNvPr id="23" name="Text 21"/>
          <p:cNvSpPr txBox="1"/>
          <p:nvPr/>
        </p:nvSpPr>
        <p:spPr>
          <a:xfrm>
            <a:off x="2085746" y="2115007"/>
            <a:ext cx="1881835" cy="381305"/>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個人$20｜Biz$40｜Entカスタム</a:t>
            </a:r>
            <a:endParaRPr lang="en-US" sz="1000" dirty="0"/>
          </a:p>
        </p:txBody>
      </p:sp>
      <p:sp>
        <p:nvSpPr>
          <p:cNvPr id="24" name="Text 22"/>
          <p:cNvSpPr txBox="1"/>
          <p:nvPr/>
        </p:nvSpPr>
        <p:spPr>
          <a:xfrm>
            <a:off x="4166921" y="2115007"/>
            <a:ext cx="1405433"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非公開（ARR $5億+）</a:t>
            </a:r>
            <a:endParaRPr lang="en-US" sz="1000" dirty="0"/>
          </a:p>
        </p:txBody>
      </p:sp>
      <p:sp>
        <p:nvSpPr>
          <p:cNvPr id="25" name="Shape 23"/>
          <p:cNvSpPr/>
          <p:nvPr/>
        </p:nvSpPr>
        <p:spPr>
          <a:xfrm>
            <a:off x="6016752" y="2171700"/>
            <a:ext cx="504749" cy="152705"/>
          </a:xfrm>
          <a:prstGeom prst="roundRect">
            <a:avLst>
              <a:gd name="adj" fmla="val 598802"/>
            </a:avLst>
          </a:prstGeom>
          <a:solidFill>
            <a:srgbClr val="E0F2FE"/>
          </a:solidFill>
          <a:ln/>
        </p:spPr>
      </p:sp>
      <p:sp>
        <p:nvSpPr>
          <p:cNvPr id="26" name="Text 24"/>
          <p:cNvSpPr txBox="1"/>
          <p:nvPr/>
        </p:nvSpPr>
        <p:spPr>
          <a:xfrm>
            <a:off x="6093562" y="2162556"/>
            <a:ext cx="438912" cy="162763"/>
          </a:xfrm>
          <a:prstGeom prst="rect">
            <a:avLst/>
          </a:prstGeom>
          <a:noFill/>
          <a:ln/>
        </p:spPr>
        <p:txBody>
          <a:bodyPr wrap="square" lIns="0" tIns="0" rIns="0" bIns="0" rtlCol="0" anchor="ctr"/>
          <a:lstStyle/>
          <a:p>
            <a:pPr algn="l" indent="0" marL="0">
              <a:buNone/>
            </a:pPr>
            <a:r>
              <a:rPr lang="en-US" sz="900" b="1" dirty="0">
                <a:solidFill>
                  <a:srgbClr val="075985"/>
                </a:solidFill>
                <a:latin typeface="Noto Sans JP" pitchFamily="34" charset="0"/>
                <a:ea typeface="Noto Sans JP" pitchFamily="34" charset="-122"/>
                <a:cs typeface="Noto Sans JP" pitchFamily="34" charset="-120"/>
              </a:rPr>
              <a:t>伴走型</a:t>
            </a:r>
            <a:endParaRPr lang="en-US" sz="900" dirty="0"/>
          </a:p>
        </p:txBody>
      </p:sp>
      <p:sp>
        <p:nvSpPr>
          <p:cNvPr id="27" name="Text 25"/>
          <p:cNvSpPr txBox="1"/>
          <p:nvPr/>
        </p:nvSpPr>
        <p:spPr>
          <a:xfrm>
            <a:off x="7173468" y="2104949"/>
            <a:ext cx="1828800" cy="314554"/>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SOC2 Type II、ISO27001未確認、GDPR</a:t>
            </a:r>
            <a:endParaRPr lang="en-US" sz="900" dirty="0"/>
          </a:p>
        </p:txBody>
      </p:sp>
      <p:sp>
        <p:nvSpPr>
          <p:cNvPr id="28" name="Text 26"/>
          <p:cNvSpPr txBox="1"/>
          <p:nvPr/>
        </p:nvSpPr>
        <p:spPr>
          <a:xfrm>
            <a:off x="9254642" y="2115007"/>
            <a:ext cx="2186330"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50–100msの超高速補完とAI編集。</a:t>
            </a:r>
            <a:endParaRPr lang="en-US" sz="1000" dirty="0"/>
          </a:p>
        </p:txBody>
      </p:sp>
      <p:sp>
        <p:nvSpPr>
          <p:cNvPr id="29" name="Text 27"/>
          <p:cNvSpPr txBox="1"/>
          <p:nvPr/>
        </p:nvSpPr>
        <p:spPr>
          <a:xfrm>
            <a:off x="9254642" y="2305202"/>
            <a:ext cx="2129638"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Privacy Modeでデータ保持抑制。</a:t>
            </a:r>
            <a:endParaRPr lang="en-US" sz="1000" dirty="0"/>
          </a:p>
        </p:txBody>
      </p:sp>
      <p:sp>
        <p:nvSpPr>
          <p:cNvPr id="30" name="Shape 28"/>
          <p:cNvSpPr/>
          <p:nvPr/>
        </p:nvSpPr>
        <p:spPr>
          <a:xfrm>
            <a:off x="314554" y="2614270"/>
            <a:ext cx="11563502" cy="9144"/>
          </a:xfrm>
          <a:prstGeom prst="rect">
            <a:avLst/>
          </a:prstGeom>
          <a:solidFill>
            <a:srgbClr val="E5E7EB"/>
          </a:solidFill>
          <a:ln/>
        </p:spPr>
      </p:sp>
      <p:sp>
        <p:nvSpPr>
          <p:cNvPr id="31" name="Text 29"/>
          <p:cNvSpPr txBox="1"/>
          <p:nvPr/>
        </p:nvSpPr>
        <p:spPr>
          <a:xfrm>
            <a:off x="466344" y="2734056"/>
            <a:ext cx="929030"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Claude Code</a:t>
            </a:r>
            <a:endParaRPr lang="en-US" sz="1000" dirty="0"/>
          </a:p>
        </p:txBody>
      </p:sp>
      <p:sp>
        <p:nvSpPr>
          <p:cNvPr id="32" name="Text 30"/>
          <p:cNvSpPr txBox="1"/>
          <p:nvPr/>
        </p:nvSpPr>
        <p:spPr>
          <a:xfrm>
            <a:off x="2085746" y="2734056"/>
            <a:ext cx="1167689"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API $3–$75/MTok</a:t>
            </a:r>
            <a:endParaRPr lang="en-US" sz="1000" dirty="0"/>
          </a:p>
        </p:txBody>
      </p:sp>
      <p:sp>
        <p:nvSpPr>
          <p:cNvPr id="33" name="Text 31"/>
          <p:cNvSpPr txBox="1"/>
          <p:nvPr/>
        </p:nvSpPr>
        <p:spPr>
          <a:xfrm>
            <a:off x="4166921" y="2734056"/>
            <a:ext cx="500177"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未公開</a:t>
            </a:r>
            <a:endParaRPr lang="en-US" sz="1000" dirty="0"/>
          </a:p>
        </p:txBody>
      </p:sp>
      <p:sp>
        <p:nvSpPr>
          <p:cNvPr id="34" name="Shape 32"/>
          <p:cNvSpPr/>
          <p:nvPr/>
        </p:nvSpPr>
        <p:spPr>
          <a:xfrm>
            <a:off x="6016752" y="2790749"/>
            <a:ext cx="504749" cy="152705"/>
          </a:xfrm>
          <a:prstGeom prst="roundRect">
            <a:avLst>
              <a:gd name="adj" fmla="val 598802"/>
            </a:avLst>
          </a:prstGeom>
          <a:solidFill>
            <a:srgbClr val="E0F2FE"/>
          </a:solidFill>
          <a:ln/>
        </p:spPr>
      </p:sp>
      <p:sp>
        <p:nvSpPr>
          <p:cNvPr id="35" name="Text 33"/>
          <p:cNvSpPr txBox="1"/>
          <p:nvPr/>
        </p:nvSpPr>
        <p:spPr>
          <a:xfrm>
            <a:off x="6093562" y="2781605"/>
            <a:ext cx="438912" cy="162763"/>
          </a:xfrm>
          <a:prstGeom prst="rect">
            <a:avLst/>
          </a:prstGeom>
          <a:noFill/>
          <a:ln/>
        </p:spPr>
        <p:txBody>
          <a:bodyPr wrap="square" lIns="0" tIns="0" rIns="0" bIns="0" rtlCol="0" anchor="ctr"/>
          <a:lstStyle/>
          <a:p>
            <a:pPr algn="l" indent="0" marL="0">
              <a:buNone/>
            </a:pPr>
            <a:r>
              <a:rPr lang="en-US" sz="900" b="1" dirty="0">
                <a:solidFill>
                  <a:srgbClr val="075985"/>
                </a:solidFill>
                <a:latin typeface="Noto Sans JP" pitchFamily="34" charset="0"/>
                <a:ea typeface="Noto Sans JP" pitchFamily="34" charset="-122"/>
                <a:cs typeface="Noto Sans JP" pitchFamily="34" charset="-120"/>
              </a:rPr>
              <a:t>伴走型</a:t>
            </a:r>
            <a:endParaRPr lang="en-US" sz="900" dirty="0"/>
          </a:p>
        </p:txBody>
      </p:sp>
      <p:sp>
        <p:nvSpPr>
          <p:cNvPr id="36" name="Text 34"/>
          <p:cNvSpPr txBox="1"/>
          <p:nvPr/>
        </p:nvSpPr>
        <p:spPr>
          <a:xfrm>
            <a:off x="7173468" y="2723998"/>
            <a:ext cx="1485900" cy="314554"/>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SOC2 Type II、ISO27001、GDPR、HIPAA</a:t>
            </a:r>
            <a:endParaRPr lang="en-US" sz="900" dirty="0"/>
          </a:p>
        </p:txBody>
      </p:sp>
      <p:sp>
        <p:nvSpPr>
          <p:cNvPr id="37" name="Text 35"/>
          <p:cNvSpPr txBox="1"/>
          <p:nvPr/>
        </p:nvSpPr>
        <p:spPr>
          <a:xfrm>
            <a:off x="9254642" y="2734056"/>
            <a:ext cx="1967789"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超長コンテキストと高度推論。</a:t>
            </a:r>
            <a:endParaRPr lang="en-US" sz="1000" dirty="0"/>
          </a:p>
        </p:txBody>
      </p:sp>
      <p:sp>
        <p:nvSpPr>
          <p:cNvPr id="38" name="Text 36"/>
          <p:cNvSpPr txBox="1"/>
          <p:nvPr/>
        </p:nvSpPr>
        <p:spPr>
          <a:xfrm>
            <a:off x="9254642" y="2924251"/>
            <a:ext cx="1700784"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大規模コード理解に強み。</a:t>
            </a:r>
            <a:endParaRPr lang="en-US" sz="1000" dirty="0"/>
          </a:p>
        </p:txBody>
      </p:sp>
      <p:sp>
        <p:nvSpPr>
          <p:cNvPr id="39" name="Shape 37"/>
          <p:cNvSpPr/>
          <p:nvPr/>
        </p:nvSpPr>
        <p:spPr>
          <a:xfrm>
            <a:off x="314554" y="3233318"/>
            <a:ext cx="11563502" cy="9144"/>
          </a:xfrm>
          <a:prstGeom prst="rect">
            <a:avLst/>
          </a:prstGeom>
          <a:solidFill>
            <a:srgbClr val="E5E7EB"/>
          </a:solidFill>
          <a:ln/>
        </p:spPr>
      </p:sp>
      <p:sp>
        <p:nvSpPr>
          <p:cNvPr id="40" name="Text 38"/>
          <p:cNvSpPr txBox="1"/>
          <p:nvPr/>
        </p:nvSpPr>
        <p:spPr>
          <a:xfrm>
            <a:off x="466344" y="3353105"/>
            <a:ext cx="481889"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Devin</a:t>
            </a:r>
            <a:endParaRPr lang="en-US" sz="1000" dirty="0"/>
          </a:p>
        </p:txBody>
      </p:sp>
      <p:sp>
        <p:nvSpPr>
          <p:cNvPr id="41" name="Text 39"/>
          <p:cNvSpPr txBox="1"/>
          <p:nvPr/>
        </p:nvSpPr>
        <p:spPr>
          <a:xfrm>
            <a:off x="2085746" y="3353105"/>
            <a:ext cx="1815084" cy="57150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個人$20～｜Teams$500/250ACU｜Entカスタム</a:t>
            </a:r>
            <a:endParaRPr lang="en-US" sz="1000" dirty="0"/>
          </a:p>
        </p:txBody>
      </p:sp>
      <p:sp>
        <p:nvSpPr>
          <p:cNvPr id="42" name="Text 40"/>
          <p:cNvSpPr txBox="1"/>
          <p:nvPr/>
        </p:nvSpPr>
        <p:spPr>
          <a:xfrm>
            <a:off x="4166921" y="3353105"/>
            <a:ext cx="939089"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顧客数 数千社</a:t>
            </a:r>
            <a:endParaRPr lang="en-US" sz="1000" dirty="0"/>
          </a:p>
        </p:txBody>
      </p:sp>
      <p:sp>
        <p:nvSpPr>
          <p:cNvPr id="43" name="Shape 41"/>
          <p:cNvSpPr/>
          <p:nvPr/>
        </p:nvSpPr>
        <p:spPr>
          <a:xfrm>
            <a:off x="6016752" y="3409798"/>
            <a:ext cx="504749" cy="152705"/>
          </a:xfrm>
          <a:prstGeom prst="roundRect">
            <a:avLst>
              <a:gd name="adj" fmla="val 598802"/>
            </a:avLst>
          </a:prstGeom>
          <a:solidFill>
            <a:srgbClr val="EDE9FE"/>
          </a:solidFill>
          <a:ln/>
        </p:spPr>
      </p:sp>
      <p:sp>
        <p:nvSpPr>
          <p:cNvPr id="44" name="Text 42"/>
          <p:cNvSpPr txBox="1"/>
          <p:nvPr/>
        </p:nvSpPr>
        <p:spPr>
          <a:xfrm>
            <a:off x="6093562" y="3400654"/>
            <a:ext cx="438912" cy="162763"/>
          </a:xfrm>
          <a:prstGeom prst="rect">
            <a:avLst/>
          </a:prstGeom>
          <a:noFill/>
          <a:ln/>
        </p:spPr>
        <p:txBody>
          <a:bodyPr wrap="square" lIns="0" tIns="0" rIns="0" bIns="0" rtlCol="0" anchor="ctr"/>
          <a:lstStyle/>
          <a:p>
            <a:pPr algn="l" indent="0" marL="0">
              <a:buNone/>
            </a:pPr>
            <a:r>
              <a:rPr lang="en-US" sz="900" b="1" dirty="0">
                <a:solidFill>
                  <a:srgbClr val="4C1D95"/>
                </a:solidFill>
                <a:latin typeface="Noto Sans JP" pitchFamily="34" charset="0"/>
                <a:ea typeface="Noto Sans JP" pitchFamily="34" charset="-122"/>
                <a:cs typeface="Noto Sans JP" pitchFamily="34" charset="-120"/>
              </a:rPr>
              <a:t>委任型</a:t>
            </a:r>
            <a:endParaRPr lang="en-US" sz="900" dirty="0"/>
          </a:p>
        </p:txBody>
      </p:sp>
      <p:sp>
        <p:nvSpPr>
          <p:cNvPr id="45" name="Text 43"/>
          <p:cNvSpPr txBox="1"/>
          <p:nvPr/>
        </p:nvSpPr>
        <p:spPr>
          <a:xfrm>
            <a:off x="7173468" y="3343046"/>
            <a:ext cx="1828800" cy="314554"/>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SOC2 Type II、ISO27001未確認、GDPR</a:t>
            </a:r>
            <a:endParaRPr lang="en-US" sz="900" dirty="0"/>
          </a:p>
        </p:txBody>
      </p:sp>
      <p:sp>
        <p:nvSpPr>
          <p:cNvPr id="46" name="Text 44"/>
          <p:cNvSpPr txBox="1"/>
          <p:nvPr/>
        </p:nvSpPr>
        <p:spPr>
          <a:xfrm>
            <a:off x="9254642" y="3353105"/>
            <a:ext cx="1901038"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自律実行でPR merge率67%。</a:t>
            </a:r>
            <a:endParaRPr lang="en-US" sz="1000" dirty="0"/>
          </a:p>
        </p:txBody>
      </p:sp>
      <p:sp>
        <p:nvSpPr>
          <p:cNvPr id="47" name="Text 45"/>
          <p:cNvSpPr txBox="1"/>
          <p:nvPr/>
        </p:nvSpPr>
        <p:spPr>
          <a:xfrm>
            <a:off x="9254642" y="3543300"/>
            <a:ext cx="1967789"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レガシー移行・近代化で実績。</a:t>
            </a:r>
            <a:endParaRPr lang="en-US" sz="1000" dirty="0"/>
          </a:p>
        </p:txBody>
      </p:sp>
      <p:sp>
        <p:nvSpPr>
          <p:cNvPr id="48" name="Shape 46"/>
          <p:cNvSpPr/>
          <p:nvPr/>
        </p:nvSpPr>
        <p:spPr>
          <a:xfrm>
            <a:off x="314554" y="4043477"/>
            <a:ext cx="11563502" cy="9144"/>
          </a:xfrm>
          <a:prstGeom prst="rect">
            <a:avLst/>
          </a:prstGeom>
          <a:solidFill>
            <a:srgbClr val="E5E7EB"/>
          </a:solidFill>
          <a:ln/>
        </p:spPr>
      </p:sp>
      <p:sp>
        <p:nvSpPr>
          <p:cNvPr id="49" name="Text 47"/>
          <p:cNvSpPr txBox="1"/>
          <p:nvPr/>
        </p:nvSpPr>
        <p:spPr>
          <a:xfrm>
            <a:off x="466344" y="4162349"/>
            <a:ext cx="1329538"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Copilot Workspace</a:t>
            </a:r>
            <a:endParaRPr lang="en-US" sz="1000" dirty="0"/>
          </a:p>
        </p:txBody>
      </p:sp>
      <p:sp>
        <p:nvSpPr>
          <p:cNvPr id="50" name="Text 48"/>
          <p:cNvSpPr txBox="1"/>
          <p:nvPr/>
        </p:nvSpPr>
        <p:spPr>
          <a:xfrm>
            <a:off x="2085746" y="4162349"/>
            <a:ext cx="633679"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提供終了</a:t>
            </a:r>
            <a:endParaRPr lang="en-US" sz="1000" dirty="0"/>
          </a:p>
        </p:txBody>
      </p:sp>
      <p:sp>
        <p:nvSpPr>
          <p:cNvPr id="51" name="Text 49"/>
          <p:cNvSpPr txBox="1"/>
          <p:nvPr/>
        </p:nvSpPr>
        <p:spPr>
          <a:xfrm>
            <a:off x="4166921" y="4162349"/>
            <a:ext cx="224028"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a:t>
            </a:r>
            <a:endParaRPr lang="en-US" sz="1000" dirty="0"/>
          </a:p>
        </p:txBody>
      </p:sp>
      <p:sp>
        <p:nvSpPr>
          <p:cNvPr id="52" name="Shape 50"/>
          <p:cNvSpPr/>
          <p:nvPr/>
        </p:nvSpPr>
        <p:spPr>
          <a:xfrm>
            <a:off x="6016752" y="4219956"/>
            <a:ext cx="504749" cy="152705"/>
          </a:xfrm>
          <a:prstGeom prst="roundRect">
            <a:avLst>
              <a:gd name="adj" fmla="val 598802"/>
            </a:avLst>
          </a:prstGeom>
          <a:solidFill>
            <a:srgbClr val="EDE9FE"/>
          </a:solidFill>
          <a:ln/>
        </p:spPr>
      </p:sp>
      <p:sp>
        <p:nvSpPr>
          <p:cNvPr id="53" name="Text 51"/>
          <p:cNvSpPr txBox="1"/>
          <p:nvPr/>
        </p:nvSpPr>
        <p:spPr>
          <a:xfrm>
            <a:off x="6093562" y="4209898"/>
            <a:ext cx="438912" cy="162763"/>
          </a:xfrm>
          <a:prstGeom prst="rect">
            <a:avLst/>
          </a:prstGeom>
          <a:noFill/>
          <a:ln/>
        </p:spPr>
        <p:txBody>
          <a:bodyPr wrap="square" lIns="0" tIns="0" rIns="0" bIns="0" rtlCol="0" anchor="ctr"/>
          <a:lstStyle/>
          <a:p>
            <a:pPr algn="l" indent="0" marL="0">
              <a:buNone/>
            </a:pPr>
            <a:r>
              <a:rPr lang="en-US" sz="900" b="1" dirty="0">
                <a:solidFill>
                  <a:srgbClr val="4C1D95"/>
                </a:solidFill>
                <a:latin typeface="Noto Sans JP" pitchFamily="34" charset="0"/>
                <a:ea typeface="Noto Sans JP" pitchFamily="34" charset="-122"/>
                <a:cs typeface="Noto Sans JP" pitchFamily="34" charset="-120"/>
              </a:rPr>
              <a:t>委任型</a:t>
            </a:r>
            <a:endParaRPr lang="en-US" sz="900" dirty="0"/>
          </a:p>
        </p:txBody>
      </p:sp>
      <p:sp>
        <p:nvSpPr>
          <p:cNvPr id="54" name="Text 52"/>
          <p:cNvSpPr txBox="1"/>
          <p:nvPr/>
        </p:nvSpPr>
        <p:spPr>
          <a:xfrm>
            <a:off x="7173468" y="4153205"/>
            <a:ext cx="553212"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情報なし</a:t>
            </a:r>
            <a:endParaRPr lang="en-US" sz="900" dirty="0"/>
          </a:p>
        </p:txBody>
      </p:sp>
      <p:sp>
        <p:nvSpPr>
          <p:cNvPr id="55" name="Text 53"/>
          <p:cNvSpPr txBox="1"/>
          <p:nvPr/>
        </p:nvSpPr>
        <p:spPr>
          <a:xfrm>
            <a:off x="9254642" y="4162349"/>
            <a:ext cx="2196389"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Issue起点の自動PR等の実験機能。</a:t>
            </a:r>
            <a:endParaRPr lang="en-US" sz="1000" dirty="0"/>
          </a:p>
        </p:txBody>
      </p:sp>
      <p:sp>
        <p:nvSpPr>
          <p:cNvPr id="56" name="Text 54"/>
          <p:cNvSpPr txBox="1"/>
          <p:nvPr/>
        </p:nvSpPr>
        <p:spPr>
          <a:xfrm>
            <a:off x="9254642" y="4352544"/>
            <a:ext cx="1538935"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2025年5月で提供終了。</a:t>
            </a:r>
            <a:endParaRPr lang="en-US" sz="1000" dirty="0"/>
          </a:p>
        </p:txBody>
      </p:sp>
      <p:sp>
        <p:nvSpPr>
          <p:cNvPr id="57" name="Shape 55"/>
          <p:cNvSpPr/>
          <p:nvPr/>
        </p:nvSpPr>
        <p:spPr>
          <a:xfrm>
            <a:off x="314554" y="4662526"/>
            <a:ext cx="11563502" cy="9144"/>
          </a:xfrm>
          <a:prstGeom prst="rect">
            <a:avLst/>
          </a:prstGeom>
          <a:solidFill>
            <a:srgbClr val="E5E7EB"/>
          </a:solidFill>
          <a:ln/>
        </p:spPr>
      </p:sp>
      <p:sp>
        <p:nvSpPr>
          <p:cNvPr id="58" name="Text 56"/>
          <p:cNvSpPr txBox="1"/>
          <p:nvPr/>
        </p:nvSpPr>
        <p:spPr>
          <a:xfrm>
            <a:off x="466344" y="4781398"/>
            <a:ext cx="909828"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Replit Agent</a:t>
            </a:r>
            <a:endParaRPr lang="en-US" sz="1000" dirty="0"/>
          </a:p>
        </p:txBody>
      </p:sp>
      <p:sp>
        <p:nvSpPr>
          <p:cNvPr id="59" name="Text 57"/>
          <p:cNvSpPr txBox="1"/>
          <p:nvPr/>
        </p:nvSpPr>
        <p:spPr>
          <a:xfrm>
            <a:off x="2085746" y="4781398"/>
            <a:ext cx="1215238" cy="381305"/>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Core$20/25クレ｜Teams$35/40クレ</a:t>
            </a:r>
            <a:endParaRPr lang="en-US" sz="1000" dirty="0"/>
          </a:p>
        </p:txBody>
      </p:sp>
      <p:sp>
        <p:nvSpPr>
          <p:cNvPr id="60" name="Text 58"/>
          <p:cNvSpPr txBox="1"/>
          <p:nvPr/>
        </p:nvSpPr>
        <p:spPr>
          <a:xfrm>
            <a:off x="4166921" y="4781398"/>
            <a:ext cx="500177"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未公開</a:t>
            </a:r>
            <a:endParaRPr lang="en-US" sz="1000" dirty="0"/>
          </a:p>
        </p:txBody>
      </p:sp>
      <p:sp>
        <p:nvSpPr>
          <p:cNvPr id="61" name="Shape 59"/>
          <p:cNvSpPr/>
          <p:nvPr/>
        </p:nvSpPr>
        <p:spPr>
          <a:xfrm>
            <a:off x="6016752" y="4839005"/>
            <a:ext cx="504749" cy="152705"/>
          </a:xfrm>
          <a:prstGeom prst="roundRect">
            <a:avLst>
              <a:gd name="adj" fmla="val 598802"/>
            </a:avLst>
          </a:prstGeom>
          <a:solidFill>
            <a:srgbClr val="EDE9FE"/>
          </a:solidFill>
          <a:ln/>
        </p:spPr>
      </p:sp>
      <p:sp>
        <p:nvSpPr>
          <p:cNvPr id="62" name="Text 60"/>
          <p:cNvSpPr txBox="1"/>
          <p:nvPr/>
        </p:nvSpPr>
        <p:spPr>
          <a:xfrm>
            <a:off x="6093562" y="4828946"/>
            <a:ext cx="438912" cy="162763"/>
          </a:xfrm>
          <a:prstGeom prst="rect">
            <a:avLst/>
          </a:prstGeom>
          <a:noFill/>
          <a:ln/>
        </p:spPr>
        <p:txBody>
          <a:bodyPr wrap="square" lIns="0" tIns="0" rIns="0" bIns="0" rtlCol="0" anchor="ctr"/>
          <a:lstStyle/>
          <a:p>
            <a:pPr algn="l" indent="0" marL="0">
              <a:buNone/>
            </a:pPr>
            <a:r>
              <a:rPr lang="en-US" sz="900" b="1" dirty="0">
                <a:solidFill>
                  <a:srgbClr val="4C1D95"/>
                </a:solidFill>
                <a:latin typeface="Noto Sans JP" pitchFamily="34" charset="0"/>
                <a:ea typeface="Noto Sans JP" pitchFamily="34" charset="-122"/>
                <a:cs typeface="Noto Sans JP" pitchFamily="34" charset="-120"/>
              </a:rPr>
              <a:t>委任型</a:t>
            </a:r>
            <a:endParaRPr lang="en-US" sz="900" dirty="0"/>
          </a:p>
        </p:txBody>
      </p:sp>
      <p:sp>
        <p:nvSpPr>
          <p:cNvPr id="63" name="Text 61"/>
          <p:cNvSpPr txBox="1"/>
          <p:nvPr/>
        </p:nvSpPr>
        <p:spPr>
          <a:xfrm>
            <a:off x="7173468" y="4772254"/>
            <a:ext cx="1600200"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SOC2/ISO未確認、GDPR不明</a:t>
            </a:r>
            <a:endParaRPr lang="en-US" sz="900" dirty="0"/>
          </a:p>
        </p:txBody>
      </p:sp>
      <p:sp>
        <p:nvSpPr>
          <p:cNvPr id="64" name="Text 62"/>
          <p:cNvSpPr txBox="1"/>
          <p:nvPr/>
        </p:nvSpPr>
        <p:spPr>
          <a:xfrm>
            <a:off x="9254642" y="4781398"/>
            <a:ext cx="2376526" cy="381305"/>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教育・MVP向けの自動プロトタイプ生成。</a:t>
            </a:r>
            <a:endParaRPr lang="en-US" sz="1000" dirty="0"/>
          </a:p>
        </p:txBody>
      </p:sp>
      <p:sp>
        <p:nvSpPr>
          <p:cNvPr id="65" name="Text 63"/>
          <p:cNvSpPr txBox="1"/>
          <p:nvPr/>
        </p:nvSpPr>
        <p:spPr>
          <a:xfrm>
            <a:off x="9254642" y="5162702"/>
            <a:ext cx="1748333"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ReplitクラウドIDEと統合。</a:t>
            </a:r>
            <a:endParaRPr lang="en-US" sz="1000" dirty="0"/>
          </a:p>
        </p:txBody>
      </p:sp>
      <p:sp>
        <p:nvSpPr>
          <p:cNvPr id="66" name="Text 64"/>
          <p:cNvSpPr txBox="1"/>
          <p:nvPr/>
        </p:nvSpPr>
        <p:spPr>
          <a:xfrm>
            <a:off x="304495" y="5581498"/>
            <a:ext cx="2781605" cy="162763"/>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凡例: 伴走型＝開発者と並走、委任型＝自律実行主体</a:t>
            </a:r>
            <a:endParaRPr lang="en-US" sz="900" dirty="0"/>
          </a:p>
        </p:txBody>
      </p:sp>
      <p:sp>
        <p:nvSpPr>
          <p:cNvPr id="67" name="Text 65"/>
          <p:cNvSpPr txBox="1"/>
          <p:nvPr/>
        </p:nvSpPr>
        <p:spPr>
          <a:xfrm>
            <a:off x="9061704" y="5581498"/>
            <a:ext cx="2915107"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出典: 添付PDF「AI開発ツール包括比較レポート 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304495" y="209398"/>
            <a:ext cx="6382512" cy="333756"/>
          </a:xfrm>
          <a:prstGeom prst="rect">
            <a:avLst/>
          </a:prstGeom>
          <a:noFill/>
          <a:ln/>
        </p:spPr>
        <p:txBody>
          <a:bodyPr wrap="square" lIns="0" tIns="0" rIns="0" bIns="0" rtlCol="0" anchor="ctr"/>
          <a:lstStyle/>
          <a:p>
            <a:pPr algn="l" indent="0" marL="0">
              <a:buNone/>
            </a:pPr>
            <a:r>
              <a:rPr lang="en-US" sz="1800" b="1" dirty="0">
                <a:solidFill>
                  <a:srgbClr val="111827"/>
                </a:solidFill>
                <a:latin typeface="Noto Sans JP" pitchFamily="34" charset="0"/>
                <a:ea typeface="Noto Sans JP" pitchFamily="34" charset="-122"/>
                <a:cs typeface="Noto Sans JP" pitchFamily="34" charset="-120"/>
              </a:rPr>
              <a:t>Devin 詳細評価①｜基本情報・ACU課金・展開モデル・実績</a:t>
            </a:r>
            <a:endParaRPr lang="en-US" sz="1800" dirty="0"/>
          </a:p>
        </p:txBody>
      </p:sp>
      <p:sp>
        <p:nvSpPr>
          <p:cNvPr id="4" name="Text 2"/>
          <p:cNvSpPr txBox="1"/>
          <p:nvPr/>
        </p:nvSpPr>
        <p:spPr>
          <a:xfrm>
            <a:off x="304495" y="571500"/>
            <a:ext cx="4729277"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Cognition AI ｜ 評価額102億ドル（2025）｜ 顧客: 数千社 ｜ PR merge率67%</a:t>
            </a:r>
            <a:endParaRPr lang="en-US" sz="1000" dirty="0"/>
          </a:p>
        </p:txBody>
      </p:sp>
      <p:sp>
        <p:nvSpPr>
          <p:cNvPr id="5" name="Shape 3"/>
          <p:cNvSpPr/>
          <p:nvPr/>
        </p:nvSpPr>
        <p:spPr>
          <a:xfrm>
            <a:off x="304495" y="875995"/>
            <a:ext cx="6696151" cy="3172054"/>
          </a:xfrm>
          <a:prstGeom prst="roundRect">
            <a:avLst>
              <a:gd name="adj" fmla="val 519"/>
            </a:avLst>
          </a:prstGeom>
          <a:no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6" name="Text 4"/>
          <p:cNvSpPr txBox="1"/>
          <p:nvPr/>
        </p:nvSpPr>
        <p:spPr>
          <a:xfrm>
            <a:off x="466344" y="1037844"/>
            <a:ext cx="2619756"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ACU課金（Agent Compute Units）</a:t>
            </a:r>
            <a:endParaRPr lang="en-US" sz="1200" dirty="0"/>
          </a:p>
        </p:txBody>
      </p:sp>
      <p:sp>
        <p:nvSpPr>
          <p:cNvPr id="7" name="Shape 5"/>
          <p:cNvSpPr/>
          <p:nvPr/>
        </p:nvSpPr>
        <p:spPr>
          <a:xfrm>
            <a:off x="5449824" y="1076249"/>
            <a:ext cx="1390802" cy="152705"/>
          </a:xfrm>
          <a:prstGeom prst="roundRect">
            <a:avLst>
              <a:gd name="adj" fmla="val 598802"/>
            </a:avLst>
          </a:prstGeom>
          <a:solidFill>
            <a:srgbClr val="E0F2FE"/>
          </a:solidFill>
          <a:ln/>
        </p:spPr>
      </p:sp>
      <p:sp>
        <p:nvSpPr>
          <p:cNvPr id="8" name="Text 6"/>
          <p:cNvSpPr txBox="1"/>
          <p:nvPr/>
        </p:nvSpPr>
        <p:spPr>
          <a:xfrm>
            <a:off x="5525719" y="1067105"/>
            <a:ext cx="1324051" cy="162763"/>
          </a:xfrm>
          <a:prstGeom prst="rect">
            <a:avLst/>
          </a:prstGeom>
          <a:noFill/>
          <a:ln/>
        </p:spPr>
        <p:txBody>
          <a:bodyPr wrap="square" lIns="0" tIns="0" rIns="0" bIns="0" rtlCol="0" anchor="ctr"/>
          <a:lstStyle/>
          <a:p>
            <a:pPr algn="l" indent="0" marL="0">
              <a:buNone/>
            </a:pPr>
            <a:r>
              <a:rPr lang="en-US" sz="900" b="1" dirty="0">
                <a:solidFill>
                  <a:srgbClr val="075985"/>
                </a:solidFill>
                <a:latin typeface="Noto Sans JP" pitchFamily="34" charset="0"/>
                <a:ea typeface="Noto Sans JP" pitchFamily="34" charset="-122"/>
                <a:cs typeface="Noto Sans JP" pitchFamily="34" charset="-120"/>
              </a:rPr>
              <a:t>1 ACU ≈ ジュニア1時間</a:t>
            </a:r>
            <a:endParaRPr lang="en-US" sz="900" dirty="0"/>
          </a:p>
        </p:txBody>
      </p:sp>
      <p:sp>
        <p:nvSpPr>
          <p:cNvPr id="9" name="Shape 7"/>
          <p:cNvSpPr/>
          <p:nvPr/>
        </p:nvSpPr>
        <p:spPr>
          <a:xfrm>
            <a:off x="466344" y="1343254"/>
            <a:ext cx="2048256" cy="780898"/>
          </a:xfrm>
          <a:prstGeom prst="roundRect">
            <a:avLst>
              <a:gd name="adj" fmla="val 5712"/>
            </a:avLst>
          </a:prstGeom>
          <a:noFill/>
          <a:ln w="12700">
            <a:solidFill>
              <a:srgbClr val="E5E7EB"/>
            </a:solidFill>
            <a:prstDash val="solid"/>
          </a:ln>
        </p:spPr>
      </p:sp>
      <p:sp>
        <p:nvSpPr>
          <p:cNvPr id="10" name="Shape 8"/>
          <p:cNvSpPr/>
          <p:nvPr/>
        </p:nvSpPr>
        <p:spPr>
          <a:xfrm>
            <a:off x="2627986" y="1343254"/>
            <a:ext cx="2048256" cy="780898"/>
          </a:xfrm>
          <a:prstGeom prst="roundRect">
            <a:avLst>
              <a:gd name="adj" fmla="val 5712"/>
            </a:avLst>
          </a:prstGeom>
          <a:noFill/>
          <a:ln w="12700">
            <a:solidFill>
              <a:srgbClr val="E5E7EB"/>
            </a:solidFill>
            <a:prstDash val="solid"/>
          </a:ln>
        </p:spPr>
      </p:sp>
      <p:sp>
        <p:nvSpPr>
          <p:cNvPr id="11" name="Shape 9"/>
          <p:cNvSpPr/>
          <p:nvPr/>
        </p:nvSpPr>
        <p:spPr>
          <a:xfrm>
            <a:off x="4788713" y="1343254"/>
            <a:ext cx="2048256" cy="780898"/>
          </a:xfrm>
          <a:prstGeom prst="roundRect">
            <a:avLst>
              <a:gd name="adj" fmla="val 5712"/>
            </a:avLst>
          </a:prstGeom>
          <a:noFill/>
          <a:ln w="12700">
            <a:solidFill>
              <a:srgbClr val="E5E7EB"/>
            </a:solidFill>
            <a:prstDash val="solid"/>
          </a:ln>
        </p:spPr>
      </p:sp>
      <p:sp>
        <p:nvSpPr>
          <p:cNvPr id="12" name="Text 10"/>
          <p:cNvSpPr txBox="1"/>
          <p:nvPr/>
        </p:nvSpPr>
        <p:spPr>
          <a:xfrm>
            <a:off x="590702" y="1466698"/>
            <a:ext cx="405079"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Core</a:t>
            </a:r>
            <a:endParaRPr lang="en-US" sz="1000" dirty="0"/>
          </a:p>
        </p:txBody>
      </p:sp>
      <p:sp>
        <p:nvSpPr>
          <p:cNvPr id="13" name="Text 11"/>
          <p:cNvSpPr txBox="1"/>
          <p:nvPr/>
        </p:nvSpPr>
        <p:spPr>
          <a:xfrm>
            <a:off x="2751430" y="1466698"/>
            <a:ext cx="529438"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Teams</a:t>
            </a:r>
            <a:endParaRPr lang="en-US" sz="1000" dirty="0"/>
          </a:p>
        </p:txBody>
      </p:sp>
      <p:sp>
        <p:nvSpPr>
          <p:cNvPr id="14" name="Text 12"/>
          <p:cNvSpPr txBox="1"/>
          <p:nvPr/>
        </p:nvSpPr>
        <p:spPr>
          <a:xfrm>
            <a:off x="4913071" y="1466698"/>
            <a:ext cx="786384"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Enterprise</a:t>
            </a:r>
            <a:endParaRPr lang="en-US" sz="1000" dirty="0"/>
          </a:p>
        </p:txBody>
      </p:sp>
      <p:sp>
        <p:nvSpPr>
          <p:cNvPr id="15" name="Text 13"/>
          <p:cNvSpPr txBox="1"/>
          <p:nvPr/>
        </p:nvSpPr>
        <p:spPr>
          <a:xfrm>
            <a:off x="590702" y="1657807"/>
            <a:ext cx="728777"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$20～／月</a:t>
            </a:r>
            <a:endParaRPr lang="en-US" sz="1000" dirty="0"/>
          </a:p>
        </p:txBody>
      </p:sp>
      <p:sp>
        <p:nvSpPr>
          <p:cNvPr id="16" name="Text 14"/>
          <p:cNvSpPr txBox="1"/>
          <p:nvPr/>
        </p:nvSpPr>
        <p:spPr>
          <a:xfrm>
            <a:off x="2751430" y="1657807"/>
            <a:ext cx="672084"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$500／月</a:t>
            </a:r>
            <a:endParaRPr lang="en-US" sz="1000" dirty="0"/>
          </a:p>
        </p:txBody>
      </p:sp>
      <p:sp>
        <p:nvSpPr>
          <p:cNvPr id="17" name="Text 15"/>
          <p:cNvSpPr txBox="1"/>
          <p:nvPr/>
        </p:nvSpPr>
        <p:spPr>
          <a:xfrm>
            <a:off x="4913071" y="1657807"/>
            <a:ext cx="633679"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カスタム</a:t>
            </a:r>
            <a:endParaRPr lang="en-US" sz="1000" dirty="0"/>
          </a:p>
        </p:txBody>
      </p:sp>
      <p:sp>
        <p:nvSpPr>
          <p:cNvPr id="18" name="Text 16"/>
          <p:cNvSpPr txBox="1"/>
          <p:nvPr/>
        </p:nvSpPr>
        <p:spPr>
          <a:xfrm>
            <a:off x="590702" y="1837944"/>
            <a:ext cx="896112"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従量 $2.25/ACU</a:t>
            </a:r>
            <a:endParaRPr lang="en-US" sz="900" dirty="0"/>
          </a:p>
        </p:txBody>
      </p:sp>
      <p:sp>
        <p:nvSpPr>
          <p:cNvPr id="19" name="Text 17"/>
          <p:cNvSpPr txBox="1"/>
          <p:nvPr/>
        </p:nvSpPr>
        <p:spPr>
          <a:xfrm>
            <a:off x="2751430" y="1837944"/>
            <a:ext cx="1762963"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250 ACU含む（超過$2.00/ACU）</a:t>
            </a:r>
            <a:endParaRPr lang="en-US" sz="900" dirty="0"/>
          </a:p>
        </p:txBody>
      </p:sp>
      <p:sp>
        <p:nvSpPr>
          <p:cNvPr id="20" name="Text 18"/>
          <p:cNvSpPr txBox="1"/>
          <p:nvPr/>
        </p:nvSpPr>
        <p:spPr>
          <a:xfrm>
            <a:off x="4913071" y="1837944"/>
            <a:ext cx="896112"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契約条件に準拠</a:t>
            </a:r>
            <a:endParaRPr lang="en-US" sz="900" dirty="0"/>
          </a:p>
        </p:txBody>
      </p:sp>
      <p:sp>
        <p:nvSpPr>
          <p:cNvPr id="21" name="Text 19"/>
          <p:cNvSpPr txBox="1"/>
          <p:nvPr/>
        </p:nvSpPr>
        <p:spPr>
          <a:xfrm>
            <a:off x="466344" y="2238451"/>
            <a:ext cx="1310335"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ACU消費例（目安）</a:t>
            </a:r>
            <a:endParaRPr lang="en-US" sz="1000" dirty="0"/>
          </a:p>
        </p:txBody>
      </p:sp>
      <p:sp>
        <p:nvSpPr>
          <p:cNvPr id="22" name="Shape 20"/>
          <p:cNvSpPr/>
          <p:nvPr/>
        </p:nvSpPr>
        <p:spPr>
          <a:xfrm>
            <a:off x="466344" y="2467051"/>
            <a:ext cx="6372454" cy="1419149"/>
          </a:xfrm>
          <a:prstGeom prst="roundRect">
            <a:avLst>
              <a:gd name="adj" fmla="val 2595"/>
            </a:avLst>
          </a:prstGeom>
          <a:noFill/>
          <a:ln w="12700">
            <a:solidFill>
              <a:srgbClr val="E5E7EB"/>
            </a:solidFill>
            <a:prstDash val="solid"/>
          </a:ln>
        </p:spPr>
      </p:sp>
      <p:sp>
        <p:nvSpPr>
          <p:cNvPr id="23" name="Shape 21"/>
          <p:cNvSpPr/>
          <p:nvPr/>
        </p:nvSpPr>
        <p:spPr>
          <a:xfrm>
            <a:off x="476402" y="2476195"/>
            <a:ext cx="6353251" cy="304495"/>
          </a:xfrm>
          <a:prstGeom prst="rect">
            <a:avLst/>
          </a:prstGeom>
          <a:solidFill>
            <a:srgbClr val="F9FAFB"/>
          </a:solidFill>
          <a:ln/>
        </p:spPr>
      </p:sp>
      <p:sp>
        <p:nvSpPr>
          <p:cNvPr id="24" name="Text 22"/>
          <p:cNvSpPr txBox="1"/>
          <p:nvPr/>
        </p:nvSpPr>
        <p:spPr>
          <a:xfrm>
            <a:off x="590702" y="2542946"/>
            <a:ext cx="667512" cy="162763"/>
          </a:xfrm>
          <a:prstGeom prst="rect">
            <a:avLst/>
          </a:prstGeom>
          <a:noFill/>
          <a:ln/>
        </p:spPr>
        <p:txBody>
          <a:bodyPr wrap="square" lIns="0" tIns="0" rIns="0" bIns="0" rtlCol="0" anchor="ctr"/>
          <a:lstStyle/>
          <a:p>
            <a:pPr algn="l" indent="0" marL="0">
              <a:buNone/>
            </a:pPr>
            <a:r>
              <a:rPr lang="en-US" sz="900" b="1" dirty="0">
                <a:solidFill>
                  <a:srgbClr val="1F2937"/>
                </a:solidFill>
                <a:latin typeface="Noto Sans JP" pitchFamily="34" charset="0"/>
                <a:ea typeface="Noto Sans JP" pitchFamily="34" charset="-122"/>
                <a:cs typeface="Noto Sans JP" pitchFamily="34" charset="-120"/>
              </a:rPr>
              <a:t>タスク種別</a:t>
            </a:r>
            <a:endParaRPr lang="en-US" sz="900" dirty="0"/>
          </a:p>
        </p:txBody>
      </p:sp>
      <p:sp>
        <p:nvSpPr>
          <p:cNvPr id="25" name="Text 23"/>
          <p:cNvSpPr txBox="1"/>
          <p:nvPr/>
        </p:nvSpPr>
        <p:spPr>
          <a:xfrm>
            <a:off x="4400093" y="2542946"/>
            <a:ext cx="553212" cy="162763"/>
          </a:xfrm>
          <a:prstGeom prst="rect">
            <a:avLst/>
          </a:prstGeom>
          <a:noFill/>
          <a:ln/>
        </p:spPr>
        <p:txBody>
          <a:bodyPr wrap="square" lIns="0" tIns="0" rIns="0" bIns="0" rtlCol="0" anchor="ctr"/>
          <a:lstStyle/>
          <a:p>
            <a:pPr algn="l" indent="0" marL="0">
              <a:buNone/>
            </a:pPr>
            <a:r>
              <a:rPr lang="en-US" sz="900" b="1" dirty="0">
                <a:solidFill>
                  <a:srgbClr val="1F2937"/>
                </a:solidFill>
                <a:latin typeface="Noto Sans JP" pitchFamily="34" charset="0"/>
                <a:ea typeface="Noto Sans JP" pitchFamily="34" charset="-122"/>
                <a:cs typeface="Noto Sans JP" pitchFamily="34" charset="-120"/>
              </a:rPr>
              <a:t>ACU目安</a:t>
            </a:r>
            <a:endParaRPr lang="en-US" sz="900" dirty="0"/>
          </a:p>
        </p:txBody>
      </p:sp>
      <p:sp>
        <p:nvSpPr>
          <p:cNvPr id="26" name="Text 24"/>
          <p:cNvSpPr txBox="1"/>
          <p:nvPr/>
        </p:nvSpPr>
        <p:spPr>
          <a:xfrm>
            <a:off x="590702" y="2829154"/>
            <a:ext cx="1638605"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シンプルバグ修正（～1時間）</a:t>
            </a:r>
            <a:endParaRPr lang="en-US" sz="900" dirty="0"/>
          </a:p>
        </p:txBody>
      </p:sp>
      <p:sp>
        <p:nvSpPr>
          <p:cNvPr id="27" name="Text 25"/>
          <p:cNvSpPr txBox="1"/>
          <p:nvPr/>
        </p:nvSpPr>
        <p:spPr>
          <a:xfrm>
            <a:off x="4400093" y="2829154"/>
            <a:ext cx="619963"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0.5–1 ACU</a:t>
            </a:r>
            <a:endParaRPr lang="en-US" sz="900" dirty="0"/>
          </a:p>
        </p:txBody>
      </p:sp>
      <p:sp>
        <p:nvSpPr>
          <p:cNvPr id="28" name="Shape 26"/>
          <p:cNvSpPr/>
          <p:nvPr/>
        </p:nvSpPr>
        <p:spPr>
          <a:xfrm>
            <a:off x="476402" y="3053182"/>
            <a:ext cx="6353251" cy="9144"/>
          </a:xfrm>
          <a:prstGeom prst="rect">
            <a:avLst/>
          </a:prstGeom>
          <a:solidFill>
            <a:srgbClr val="E5E7EB"/>
          </a:solidFill>
          <a:ln/>
        </p:spPr>
      </p:sp>
      <p:sp>
        <p:nvSpPr>
          <p:cNvPr id="29" name="Text 27"/>
          <p:cNvSpPr txBox="1"/>
          <p:nvPr/>
        </p:nvSpPr>
        <p:spPr>
          <a:xfrm>
            <a:off x="590702" y="3105302"/>
            <a:ext cx="2048256"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中規模リファクタリング（5–10時間）</a:t>
            </a:r>
            <a:endParaRPr lang="en-US" sz="900" dirty="0"/>
          </a:p>
        </p:txBody>
      </p:sp>
      <p:sp>
        <p:nvSpPr>
          <p:cNvPr id="30" name="Text 28"/>
          <p:cNvSpPr txBox="1"/>
          <p:nvPr/>
        </p:nvSpPr>
        <p:spPr>
          <a:xfrm>
            <a:off x="4400093" y="3105302"/>
            <a:ext cx="590702"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5–10 ACU</a:t>
            </a:r>
            <a:endParaRPr lang="en-US" sz="900" dirty="0"/>
          </a:p>
        </p:txBody>
      </p:sp>
      <p:sp>
        <p:nvSpPr>
          <p:cNvPr id="31" name="Shape 29"/>
          <p:cNvSpPr/>
          <p:nvPr/>
        </p:nvSpPr>
        <p:spPr>
          <a:xfrm>
            <a:off x="476402" y="3329330"/>
            <a:ext cx="6353251" cy="9144"/>
          </a:xfrm>
          <a:prstGeom prst="rect">
            <a:avLst/>
          </a:prstGeom>
          <a:solidFill>
            <a:srgbClr val="E5E7EB"/>
          </a:solidFill>
          <a:ln/>
        </p:spPr>
      </p:sp>
      <p:sp>
        <p:nvSpPr>
          <p:cNvPr id="32" name="Text 30"/>
          <p:cNvSpPr txBox="1"/>
          <p:nvPr/>
        </p:nvSpPr>
        <p:spPr>
          <a:xfrm>
            <a:off x="590702" y="3381451"/>
            <a:ext cx="1552651"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複雑機能開発（20–50時間）</a:t>
            </a:r>
            <a:endParaRPr lang="en-US" sz="900" dirty="0"/>
          </a:p>
        </p:txBody>
      </p:sp>
      <p:sp>
        <p:nvSpPr>
          <p:cNvPr id="33" name="Text 31"/>
          <p:cNvSpPr txBox="1"/>
          <p:nvPr/>
        </p:nvSpPr>
        <p:spPr>
          <a:xfrm>
            <a:off x="4400093" y="3381451"/>
            <a:ext cx="648310"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20–50 ACU</a:t>
            </a:r>
            <a:endParaRPr lang="en-US" sz="900" dirty="0"/>
          </a:p>
        </p:txBody>
      </p:sp>
      <p:sp>
        <p:nvSpPr>
          <p:cNvPr id="34" name="Shape 32"/>
          <p:cNvSpPr/>
          <p:nvPr/>
        </p:nvSpPr>
        <p:spPr>
          <a:xfrm>
            <a:off x="476402" y="3605479"/>
            <a:ext cx="6353251" cy="9144"/>
          </a:xfrm>
          <a:prstGeom prst="rect">
            <a:avLst/>
          </a:prstGeom>
          <a:solidFill>
            <a:srgbClr val="E5E7EB"/>
          </a:solidFill>
          <a:ln/>
        </p:spPr>
      </p:sp>
      <p:sp>
        <p:nvSpPr>
          <p:cNvPr id="35" name="Text 33"/>
          <p:cNvSpPr txBox="1"/>
          <p:nvPr/>
        </p:nvSpPr>
        <p:spPr>
          <a:xfrm>
            <a:off x="590702" y="3657600"/>
            <a:ext cx="1534363"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レガシー移行（100時間～）</a:t>
            </a:r>
            <a:endParaRPr lang="en-US" sz="900" dirty="0"/>
          </a:p>
        </p:txBody>
      </p:sp>
      <p:sp>
        <p:nvSpPr>
          <p:cNvPr id="36" name="Text 34"/>
          <p:cNvSpPr txBox="1"/>
          <p:nvPr/>
        </p:nvSpPr>
        <p:spPr>
          <a:xfrm>
            <a:off x="4400093" y="3657600"/>
            <a:ext cx="590702"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100+ ACU</a:t>
            </a:r>
            <a:endParaRPr lang="en-US" sz="900" dirty="0"/>
          </a:p>
        </p:txBody>
      </p:sp>
      <p:sp>
        <p:nvSpPr>
          <p:cNvPr id="37" name="Shape 35"/>
          <p:cNvSpPr/>
          <p:nvPr/>
        </p:nvSpPr>
        <p:spPr>
          <a:xfrm>
            <a:off x="7149694" y="875995"/>
            <a:ext cx="4743907" cy="2266798"/>
          </a:xfrm>
          <a:prstGeom prst="roundRect">
            <a:avLst>
              <a:gd name="adj" fmla="val 1017"/>
            </a:avLst>
          </a:prstGeom>
          <a:no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38" name="Text 36"/>
          <p:cNvSpPr txBox="1"/>
          <p:nvPr/>
        </p:nvSpPr>
        <p:spPr>
          <a:xfrm>
            <a:off x="7311542" y="1037844"/>
            <a:ext cx="734263"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基本情報</a:t>
            </a:r>
            <a:endParaRPr lang="en-US" sz="1200" dirty="0"/>
          </a:p>
        </p:txBody>
      </p:sp>
      <p:sp>
        <p:nvSpPr>
          <p:cNvPr id="39" name="Text 37"/>
          <p:cNvSpPr txBox="1"/>
          <p:nvPr/>
        </p:nvSpPr>
        <p:spPr>
          <a:xfrm>
            <a:off x="7311542" y="1304849"/>
            <a:ext cx="2157984"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開発元: Cognition AI（2022設立）</a:t>
            </a:r>
            <a:endParaRPr lang="en-US" sz="1000" dirty="0"/>
          </a:p>
        </p:txBody>
      </p:sp>
      <p:sp>
        <p:nvSpPr>
          <p:cNvPr id="40" name="Text 38"/>
          <p:cNvSpPr txBox="1"/>
          <p:nvPr/>
        </p:nvSpPr>
        <p:spPr>
          <a:xfrm>
            <a:off x="7311542" y="1533449"/>
            <a:ext cx="2024482"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企業評価額: 102億ドル（2025）</a:t>
            </a:r>
            <a:endParaRPr lang="en-US" sz="1000" dirty="0"/>
          </a:p>
        </p:txBody>
      </p:sp>
      <p:sp>
        <p:nvSpPr>
          <p:cNvPr id="41" name="Text 39"/>
          <p:cNvSpPr txBox="1"/>
          <p:nvPr/>
        </p:nvSpPr>
        <p:spPr>
          <a:xfrm>
            <a:off x="7311542" y="1762049"/>
            <a:ext cx="3129077"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顧客数: 数千社（例: Goldman Sachs, Nubank 他）</a:t>
            </a:r>
            <a:endParaRPr lang="en-US" sz="1000" dirty="0"/>
          </a:p>
        </p:txBody>
      </p:sp>
      <p:sp>
        <p:nvSpPr>
          <p:cNvPr id="42" name="Text 40"/>
          <p:cNvSpPr txBox="1"/>
          <p:nvPr/>
        </p:nvSpPr>
        <p:spPr>
          <a:xfrm>
            <a:off x="7311542" y="2066544"/>
            <a:ext cx="886054"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展開モデル</a:t>
            </a:r>
            <a:endParaRPr lang="en-US" sz="1200" dirty="0"/>
          </a:p>
        </p:txBody>
      </p:sp>
      <p:sp>
        <p:nvSpPr>
          <p:cNvPr id="43" name="Shape 41"/>
          <p:cNvSpPr/>
          <p:nvPr/>
        </p:nvSpPr>
        <p:spPr>
          <a:xfrm>
            <a:off x="11007547" y="2104949"/>
            <a:ext cx="724205" cy="152705"/>
          </a:xfrm>
          <a:prstGeom prst="roundRect">
            <a:avLst>
              <a:gd name="adj" fmla="val 598802"/>
            </a:avLst>
          </a:prstGeom>
          <a:solidFill>
            <a:srgbClr val="EDE9FE"/>
          </a:solidFill>
          <a:ln/>
        </p:spPr>
      </p:sp>
      <p:sp>
        <p:nvSpPr>
          <p:cNvPr id="44" name="Text 42"/>
          <p:cNvSpPr txBox="1"/>
          <p:nvPr/>
        </p:nvSpPr>
        <p:spPr>
          <a:xfrm>
            <a:off x="11084357" y="2095805"/>
            <a:ext cx="657454" cy="162763"/>
          </a:xfrm>
          <a:prstGeom prst="rect">
            <a:avLst/>
          </a:prstGeom>
          <a:noFill/>
          <a:ln/>
        </p:spPr>
        <p:txBody>
          <a:bodyPr wrap="square" lIns="0" tIns="0" rIns="0" bIns="0" rtlCol="0" anchor="ctr"/>
          <a:lstStyle/>
          <a:p>
            <a:pPr algn="l" indent="0" marL="0">
              <a:buNone/>
            </a:pPr>
            <a:r>
              <a:rPr lang="en-US" sz="900" b="1" dirty="0">
                <a:solidFill>
                  <a:srgbClr val="4C1D95"/>
                </a:solidFill>
                <a:latin typeface="Noto Sans JP" pitchFamily="34" charset="0"/>
                <a:ea typeface="Noto Sans JP" pitchFamily="34" charset="-122"/>
                <a:cs typeface="Noto Sans JP" pitchFamily="34" charset="-120"/>
              </a:rPr>
              <a:t>VPC選択可</a:t>
            </a:r>
            <a:endParaRPr lang="en-US" sz="900" dirty="0"/>
          </a:p>
        </p:txBody>
      </p:sp>
      <p:sp>
        <p:nvSpPr>
          <p:cNvPr id="45" name="Text 43"/>
          <p:cNvSpPr txBox="1"/>
          <p:nvPr/>
        </p:nvSpPr>
        <p:spPr>
          <a:xfrm>
            <a:off x="7311542" y="2333549"/>
            <a:ext cx="2891333"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Enterprise SaaS（標準・Cognitionクラウド）</a:t>
            </a:r>
            <a:endParaRPr lang="en-US" sz="1000" dirty="0"/>
          </a:p>
        </p:txBody>
      </p:sp>
      <p:sp>
        <p:nvSpPr>
          <p:cNvPr id="46" name="Text 44"/>
          <p:cNvSpPr txBox="1"/>
          <p:nvPr/>
        </p:nvSpPr>
        <p:spPr>
          <a:xfrm>
            <a:off x="7311542" y="2562149"/>
            <a:ext cx="2481682"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Customer Dedicated SaaS（専用VPC）</a:t>
            </a:r>
            <a:endParaRPr lang="en-US" sz="1000" dirty="0"/>
          </a:p>
        </p:txBody>
      </p:sp>
      <p:sp>
        <p:nvSpPr>
          <p:cNvPr id="47" name="Text 45"/>
          <p:cNvSpPr txBox="1"/>
          <p:nvPr/>
        </p:nvSpPr>
        <p:spPr>
          <a:xfrm>
            <a:off x="7311542" y="2790749"/>
            <a:ext cx="2634386"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Customer Hosted VPC（顧客VPCで実行）</a:t>
            </a:r>
            <a:endParaRPr lang="en-US" sz="1000" dirty="0"/>
          </a:p>
        </p:txBody>
      </p:sp>
      <p:sp>
        <p:nvSpPr>
          <p:cNvPr id="48" name="Shape 46"/>
          <p:cNvSpPr/>
          <p:nvPr/>
        </p:nvSpPr>
        <p:spPr>
          <a:xfrm>
            <a:off x="304495" y="4200754"/>
            <a:ext cx="5715000" cy="1752905"/>
          </a:xfrm>
          <a:prstGeom prst="roundRect">
            <a:avLst>
              <a:gd name="adj" fmla="val 1701"/>
            </a:avLst>
          </a:prstGeom>
          <a:no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49" name="Shape 47"/>
          <p:cNvSpPr/>
          <p:nvPr/>
        </p:nvSpPr>
        <p:spPr>
          <a:xfrm>
            <a:off x="6172200" y="4200754"/>
            <a:ext cx="5715000" cy="1619402"/>
          </a:xfrm>
          <a:prstGeom prst="roundRect">
            <a:avLst>
              <a:gd name="adj" fmla="val 1993"/>
            </a:avLst>
          </a:prstGeom>
          <a:no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50" name="Text 48"/>
          <p:cNvSpPr txBox="1"/>
          <p:nvPr/>
        </p:nvSpPr>
        <p:spPr>
          <a:xfrm>
            <a:off x="466344" y="4362602"/>
            <a:ext cx="1485900"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パフォーマンス実績</a:t>
            </a:r>
            <a:endParaRPr lang="en-US" sz="1200" dirty="0"/>
          </a:p>
        </p:txBody>
      </p:sp>
      <p:sp>
        <p:nvSpPr>
          <p:cNvPr id="51" name="Text 49"/>
          <p:cNvSpPr txBox="1"/>
          <p:nvPr/>
        </p:nvSpPr>
        <p:spPr>
          <a:xfrm>
            <a:off x="6334049" y="4362602"/>
            <a:ext cx="1038758"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主要顧客事例</a:t>
            </a:r>
            <a:endParaRPr lang="en-US" sz="1200" dirty="0"/>
          </a:p>
        </p:txBody>
      </p:sp>
      <p:sp>
        <p:nvSpPr>
          <p:cNvPr id="52" name="Shape 50"/>
          <p:cNvSpPr/>
          <p:nvPr/>
        </p:nvSpPr>
        <p:spPr>
          <a:xfrm>
            <a:off x="466344" y="4667098"/>
            <a:ext cx="1723644" cy="895198"/>
          </a:xfrm>
          <a:prstGeom prst="roundRect">
            <a:avLst>
              <a:gd name="adj" fmla="val 8693"/>
            </a:avLst>
          </a:prstGeom>
          <a:solidFill>
            <a:srgbClr val="EFF6FF"/>
          </a:solidFill>
          <a:ln w="12700">
            <a:solidFill>
              <a:srgbClr val="DBEAFE"/>
            </a:solidFill>
            <a:prstDash val="solid"/>
          </a:ln>
        </p:spPr>
      </p:sp>
      <p:sp>
        <p:nvSpPr>
          <p:cNvPr id="53" name="Text 51"/>
          <p:cNvSpPr txBox="1"/>
          <p:nvPr/>
        </p:nvSpPr>
        <p:spPr>
          <a:xfrm>
            <a:off x="590702" y="4791456"/>
            <a:ext cx="862279"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PR merge率</a:t>
            </a:r>
            <a:endParaRPr lang="en-US" sz="1000" dirty="0"/>
          </a:p>
        </p:txBody>
      </p:sp>
      <p:sp>
        <p:nvSpPr>
          <p:cNvPr id="54" name="Text 52"/>
          <p:cNvSpPr txBox="1"/>
          <p:nvPr/>
        </p:nvSpPr>
        <p:spPr>
          <a:xfrm>
            <a:off x="590702" y="5029200"/>
            <a:ext cx="510235" cy="247802"/>
          </a:xfrm>
          <a:prstGeom prst="rect">
            <a:avLst/>
          </a:prstGeom>
          <a:noFill/>
          <a:ln/>
        </p:spPr>
        <p:txBody>
          <a:bodyPr wrap="square" lIns="0" tIns="0" rIns="0" bIns="0" rtlCol="0" anchor="ctr"/>
          <a:lstStyle/>
          <a:p>
            <a:pPr algn="l" indent="0" marL="0">
              <a:buNone/>
            </a:pPr>
            <a:r>
              <a:rPr lang="en-US" sz="1300" b="1" dirty="0">
                <a:solidFill>
                  <a:srgbClr val="1E3A8A"/>
                </a:solidFill>
                <a:latin typeface="Noto Sans JP" pitchFamily="34" charset="0"/>
                <a:ea typeface="Noto Sans JP" pitchFamily="34" charset="-122"/>
                <a:cs typeface="Noto Sans JP" pitchFamily="34" charset="-120"/>
              </a:rPr>
              <a:t>67%</a:t>
            </a:r>
            <a:endParaRPr lang="en-US" sz="1300" dirty="0"/>
          </a:p>
        </p:txBody>
      </p:sp>
      <p:sp>
        <p:nvSpPr>
          <p:cNvPr id="55" name="Text 53"/>
          <p:cNvSpPr txBox="1"/>
          <p:nvPr/>
        </p:nvSpPr>
        <p:spPr>
          <a:xfrm>
            <a:off x="590702" y="5277002"/>
            <a:ext cx="896112"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（34%→67%）</a:t>
            </a:r>
            <a:endParaRPr lang="en-US" sz="900" dirty="0"/>
          </a:p>
        </p:txBody>
      </p:sp>
      <p:sp>
        <p:nvSpPr>
          <p:cNvPr id="56" name="Shape 54"/>
          <p:cNvSpPr/>
          <p:nvPr/>
        </p:nvSpPr>
        <p:spPr>
          <a:xfrm>
            <a:off x="2301545" y="4667098"/>
            <a:ext cx="1723644" cy="895198"/>
          </a:xfrm>
          <a:prstGeom prst="roundRect">
            <a:avLst>
              <a:gd name="adj" fmla="val 8693"/>
            </a:avLst>
          </a:prstGeom>
          <a:solidFill>
            <a:srgbClr val="F5F3FF"/>
          </a:solidFill>
          <a:ln w="12700">
            <a:solidFill>
              <a:srgbClr val="EDE9FE"/>
            </a:solidFill>
            <a:prstDash val="solid"/>
          </a:ln>
        </p:spPr>
      </p:sp>
      <p:sp>
        <p:nvSpPr>
          <p:cNvPr id="57" name="Text 55"/>
          <p:cNvSpPr txBox="1"/>
          <p:nvPr/>
        </p:nvSpPr>
        <p:spPr>
          <a:xfrm>
            <a:off x="2425903" y="4791456"/>
            <a:ext cx="900684"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問題解決速度</a:t>
            </a:r>
            <a:endParaRPr lang="en-US" sz="1000" dirty="0"/>
          </a:p>
        </p:txBody>
      </p:sp>
      <p:sp>
        <p:nvSpPr>
          <p:cNvPr id="58" name="Text 56"/>
          <p:cNvSpPr txBox="1"/>
          <p:nvPr/>
        </p:nvSpPr>
        <p:spPr>
          <a:xfrm>
            <a:off x="2425903" y="5029200"/>
            <a:ext cx="405079" cy="247802"/>
          </a:xfrm>
          <a:prstGeom prst="rect">
            <a:avLst/>
          </a:prstGeom>
          <a:noFill/>
          <a:ln/>
        </p:spPr>
        <p:txBody>
          <a:bodyPr wrap="square" lIns="0" tIns="0" rIns="0" bIns="0" rtlCol="0" anchor="ctr"/>
          <a:lstStyle/>
          <a:p>
            <a:pPr algn="l" indent="0" marL="0">
              <a:buNone/>
            </a:pPr>
            <a:r>
              <a:rPr lang="en-US" sz="1300" b="1" dirty="0">
                <a:solidFill>
                  <a:srgbClr val="4C1D95"/>
                </a:solidFill>
                <a:latin typeface="Noto Sans JP" pitchFamily="34" charset="0"/>
                <a:ea typeface="Noto Sans JP" pitchFamily="34" charset="-122"/>
                <a:cs typeface="Noto Sans JP" pitchFamily="34" charset="-120"/>
              </a:rPr>
              <a:t>4倍</a:t>
            </a:r>
            <a:endParaRPr lang="en-US" sz="1300" dirty="0"/>
          </a:p>
        </p:txBody>
      </p:sp>
      <p:sp>
        <p:nvSpPr>
          <p:cNvPr id="59" name="Text 57"/>
          <p:cNvSpPr txBox="1"/>
          <p:nvPr/>
        </p:nvSpPr>
        <p:spPr>
          <a:xfrm>
            <a:off x="2425903" y="5277002"/>
            <a:ext cx="886054"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ベースライン比</a:t>
            </a:r>
            <a:endParaRPr lang="en-US" sz="900" dirty="0"/>
          </a:p>
        </p:txBody>
      </p:sp>
      <p:sp>
        <p:nvSpPr>
          <p:cNvPr id="60" name="Shape 58"/>
          <p:cNvSpPr/>
          <p:nvPr/>
        </p:nvSpPr>
        <p:spPr>
          <a:xfrm>
            <a:off x="4136746" y="4667098"/>
            <a:ext cx="1723644" cy="895198"/>
          </a:xfrm>
          <a:prstGeom prst="roundRect">
            <a:avLst>
              <a:gd name="adj" fmla="val 8693"/>
            </a:avLst>
          </a:prstGeom>
          <a:solidFill>
            <a:srgbClr val="ECFDF5"/>
          </a:solidFill>
          <a:ln w="12700">
            <a:solidFill>
              <a:srgbClr val="D1FAE5"/>
            </a:solidFill>
            <a:prstDash val="solid"/>
          </a:ln>
        </p:spPr>
      </p:sp>
      <p:sp>
        <p:nvSpPr>
          <p:cNvPr id="61" name="Text 59"/>
          <p:cNvSpPr txBox="1"/>
          <p:nvPr/>
        </p:nvSpPr>
        <p:spPr>
          <a:xfrm>
            <a:off x="4261104" y="4791456"/>
            <a:ext cx="900684"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リソース効率</a:t>
            </a:r>
            <a:endParaRPr lang="en-US" sz="1000" dirty="0"/>
          </a:p>
        </p:txBody>
      </p:sp>
      <p:sp>
        <p:nvSpPr>
          <p:cNvPr id="62" name="Text 60"/>
          <p:cNvSpPr txBox="1"/>
          <p:nvPr/>
        </p:nvSpPr>
        <p:spPr>
          <a:xfrm>
            <a:off x="4261104" y="5029200"/>
            <a:ext cx="405079" cy="247802"/>
          </a:xfrm>
          <a:prstGeom prst="rect">
            <a:avLst/>
          </a:prstGeom>
          <a:noFill/>
          <a:ln/>
        </p:spPr>
        <p:txBody>
          <a:bodyPr wrap="square" lIns="0" tIns="0" rIns="0" bIns="0" rtlCol="0" anchor="ctr"/>
          <a:lstStyle/>
          <a:p>
            <a:pPr algn="l" indent="0" marL="0">
              <a:buNone/>
            </a:pPr>
            <a:r>
              <a:rPr lang="en-US" sz="1300" b="1" dirty="0">
                <a:solidFill>
                  <a:srgbClr val="064E3B"/>
                </a:solidFill>
                <a:latin typeface="Noto Sans JP" pitchFamily="34" charset="0"/>
                <a:ea typeface="Noto Sans JP" pitchFamily="34" charset="-122"/>
                <a:cs typeface="Noto Sans JP" pitchFamily="34" charset="-120"/>
              </a:rPr>
              <a:t>2倍</a:t>
            </a:r>
            <a:endParaRPr lang="en-US" sz="1300" dirty="0"/>
          </a:p>
        </p:txBody>
      </p:sp>
      <p:sp>
        <p:nvSpPr>
          <p:cNvPr id="63" name="Text 61"/>
          <p:cNvSpPr txBox="1"/>
          <p:nvPr/>
        </p:nvSpPr>
        <p:spPr>
          <a:xfrm>
            <a:off x="4261104" y="5277002"/>
            <a:ext cx="771754"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ACU消費半減</a:t>
            </a:r>
            <a:endParaRPr lang="en-US" sz="900" dirty="0"/>
          </a:p>
        </p:txBody>
      </p:sp>
      <p:sp>
        <p:nvSpPr>
          <p:cNvPr id="64" name="Text 62"/>
          <p:cNvSpPr txBox="1"/>
          <p:nvPr/>
        </p:nvSpPr>
        <p:spPr>
          <a:xfrm>
            <a:off x="466344" y="5629046"/>
            <a:ext cx="2352751"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注: SWE-benchで業界初の実用レベルに到達</a:t>
            </a:r>
            <a:endParaRPr lang="en-US" sz="900" dirty="0"/>
          </a:p>
        </p:txBody>
      </p:sp>
      <p:sp>
        <p:nvSpPr>
          <p:cNvPr id="65" name="Text 63"/>
          <p:cNvSpPr txBox="1"/>
          <p:nvPr/>
        </p:nvSpPr>
        <p:spPr>
          <a:xfrm>
            <a:off x="6334049" y="4667098"/>
            <a:ext cx="5448910"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Nubank: 600万行ETL分離で8–12x効率、20xコスト削減。18ヶ月想定→数週間で主要移行。</a:t>
            </a:r>
            <a:endParaRPr lang="en-US" sz="1200" dirty="0"/>
          </a:p>
        </p:txBody>
      </p:sp>
      <p:sp>
        <p:nvSpPr>
          <p:cNvPr id="66" name="Text 64"/>
          <p:cNvSpPr txBox="1"/>
          <p:nvPr/>
        </p:nvSpPr>
        <p:spPr>
          <a:xfrm>
            <a:off x="6334049" y="5201107"/>
            <a:ext cx="3672230"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Goldman Sachs: 金融リスク管理システムの近代化を推進。</a:t>
            </a:r>
            <a:endParaRPr lang="en-US" sz="1000" dirty="0"/>
          </a:p>
        </p:txBody>
      </p:sp>
      <p:sp>
        <p:nvSpPr>
          <p:cNvPr id="67" name="Text 65"/>
          <p:cNvSpPr txBox="1"/>
          <p:nvPr/>
        </p:nvSpPr>
        <p:spPr>
          <a:xfrm>
            <a:off x="6334049" y="5467198"/>
            <a:ext cx="4529938"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他: 大手銀行（匿名）のセキュリティ修正高速化、Eight Sleep/ Litera 等。</a:t>
            </a:r>
            <a:endParaRPr lang="en-US" sz="1000" dirty="0"/>
          </a:p>
        </p:txBody>
      </p:sp>
      <p:sp>
        <p:nvSpPr>
          <p:cNvPr id="68" name="Text 66"/>
          <p:cNvSpPr txBox="1"/>
          <p:nvPr/>
        </p:nvSpPr>
        <p:spPr>
          <a:xfrm>
            <a:off x="304495" y="6057900"/>
            <a:ext cx="3439058" cy="162763"/>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凡例: ACU＝作業量の基準単位、VPC＝仮想プライベートクラウド</a:t>
            </a:r>
            <a:endParaRPr lang="en-US" sz="900" dirty="0"/>
          </a:p>
        </p:txBody>
      </p:sp>
      <p:sp>
        <p:nvSpPr>
          <p:cNvPr id="69" name="Text 67"/>
          <p:cNvSpPr txBox="1"/>
          <p:nvPr/>
        </p:nvSpPr>
        <p:spPr>
          <a:xfrm>
            <a:off x="9061704" y="6057900"/>
            <a:ext cx="2915107"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出典: 添付PDF「AI開発ツール包括比較レポート 2025」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9325051"/>
          </a:xfrm>
          <a:prstGeom prst="rect">
            <a:avLst/>
          </a:prstGeom>
          <a:solidFill>
            <a:srgbClr val="FFFFFF"/>
          </a:solidFill>
          <a:ln/>
        </p:spPr>
      </p:sp>
      <p:sp>
        <p:nvSpPr>
          <p:cNvPr id="3" name="Text 1"/>
          <p:cNvSpPr txBox="1"/>
          <p:nvPr/>
        </p:nvSpPr>
        <p:spPr>
          <a:xfrm>
            <a:off x="304495" y="209398"/>
            <a:ext cx="6820510" cy="333756"/>
          </a:xfrm>
          <a:prstGeom prst="rect">
            <a:avLst/>
          </a:prstGeom>
          <a:noFill/>
          <a:ln/>
        </p:spPr>
        <p:txBody>
          <a:bodyPr wrap="square" lIns="0" tIns="0" rIns="0" bIns="0" rtlCol="0" anchor="ctr"/>
          <a:lstStyle/>
          <a:p>
            <a:pPr algn="l" indent="0" marL="0">
              <a:buNone/>
            </a:pPr>
            <a:r>
              <a:rPr lang="en-US" sz="1800" b="1" dirty="0">
                <a:solidFill>
                  <a:srgbClr val="111827"/>
                </a:solidFill>
                <a:latin typeface="Noto Sans JP" pitchFamily="34" charset="0"/>
                <a:ea typeface="Noto Sans JP" pitchFamily="34" charset="-122"/>
                <a:cs typeface="Noto Sans JP" pitchFamily="34" charset="-120"/>
              </a:rPr>
              <a:t>Devin 詳細評価②｜セキュリティ・推奨シナリオ・選定の決め手</a:t>
            </a:r>
            <a:endParaRPr lang="en-US" sz="1800" dirty="0"/>
          </a:p>
        </p:txBody>
      </p:sp>
      <p:sp>
        <p:nvSpPr>
          <p:cNvPr id="4" name="Text 2"/>
          <p:cNvSpPr txBox="1"/>
          <p:nvPr/>
        </p:nvSpPr>
        <p:spPr>
          <a:xfrm>
            <a:off x="304495" y="571500"/>
            <a:ext cx="3700577"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委任型（自律実行）としての適用判断を支援する要点を整理</a:t>
            </a:r>
            <a:endParaRPr lang="en-US" sz="1000" dirty="0"/>
          </a:p>
        </p:txBody>
      </p:sp>
      <p:sp>
        <p:nvSpPr>
          <p:cNvPr id="5" name="Shape 3"/>
          <p:cNvSpPr/>
          <p:nvPr/>
        </p:nvSpPr>
        <p:spPr>
          <a:xfrm>
            <a:off x="304495" y="875995"/>
            <a:ext cx="6696151" cy="1276502"/>
          </a:xfrm>
          <a:prstGeom prst="roundRect">
            <a:avLst>
              <a:gd name="adj" fmla="val 4277"/>
            </a:avLst>
          </a:prstGeom>
          <a:noFill/>
          <a:ln w="12700">
            <a:solidFill>
              <a:srgbClr val="E5E7EB"/>
            </a:solidFill>
            <a:prstDash val="solid"/>
          </a:ln>
        </p:spPr>
      </p:sp>
      <p:sp>
        <p:nvSpPr>
          <p:cNvPr id="6" name="Shape 4"/>
          <p:cNvSpPr/>
          <p:nvPr/>
        </p:nvSpPr>
        <p:spPr>
          <a:xfrm>
            <a:off x="304495" y="2305202"/>
            <a:ext cx="6696151" cy="1466698"/>
          </a:xfrm>
          <a:prstGeom prst="roundRect">
            <a:avLst>
              <a:gd name="adj" fmla="val 3239"/>
            </a:avLst>
          </a:prstGeom>
          <a:noFill/>
          <a:ln w="12700">
            <a:solidFill>
              <a:srgbClr val="E5E7EB"/>
            </a:solidFill>
            <a:prstDash val="solid"/>
          </a:ln>
        </p:spPr>
      </p:sp>
      <p:sp>
        <p:nvSpPr>
          <p:cNvPr id="7" name="Text 5"/>
          <p:cNvSpPr txBox="1"/>
          <p:nvPr/>
        </p:nvSpPr>
        <p:spPr>
          <a:xfrm>
            <a:off x="466344" y="1037844"/>
            <a:ext cx="2391156"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セキュリティ／データガバナンス</a:t>
            </a:r>
            <a:endParaRPr lang="en-US" sz="1200" dirty="0"/>
          </a:p>
        </p:txBody>
      </p:sp>
      <p:sp>
        <p:nvSpPr>
          <p:cNvPr id="8" name="Shape 6"/>
          <p:cNvSpPr/>
          <p:nvPr/>
        </p:nvSpPr>
        <p:spPr>
          <a:xfrm>
            <a:off x="5955487" y="1076249"/>
            <a:ext cx="886054" cy="152705"/>
          </a:xfrm>
          <a:prstGeom prst="roundRect">
            <a:avLst>
              <a:gd name="adj" fmla="val 598802"/>
            </a:avLst>
          </a:prstGeom>
          <a:solidFill>
            <a:srgbClr val="E0F2FE"/>
          </a:solidFill>
          <a:ln/>
        </p:spPr>
      </p:sp>
      <p:sp>
        <p:nvSpPr>
          <p:cNvPr id="9" name="Text 7"/>
          <p:cNvSpPr txBox="1"/>
          <p:nvPr/>
        </p:nvSpPr>
        <p:spPr>
          <a:xfrm>
            <a:off x="6031382" y="1067105"/>
            <a:ext cx="819302" cy="162763"/>
          </a:xfrm>
          <a:prstGeom prst="rect">
            <a:avLst/>
          </a:prstGeom>
          <a:noFill/>
          <a:ln/>
        </p:spPr>
        <p:txBody>
          <a:bodyPr wrap="square" lIns="0" tIns="0" rIns="0" bIns="0" rtlCol="0" anchor="ctr"/>
          <a:lstStyle/>
          <a:p>
            <a:pPr algn="l" indent="0" marL="0">
              <a:buNone/>
            </a:pPr>
            <a:r>
              <a:rPr lang="en-US" sz="900" b="1" dirty="0">
                <a:solidFill>
                  <a:srgbClr val="075985"/>
                </a:solidFill>
                <a:latin typeface="Noto Sans JP" pitchFamily="34" charset="0"/>
                <a:ea typeface="Noto Sans JP" pitchFamily="34" charset="-122"/>
                <a:cs typeface="Noto Sans JP" pitchFamily="34" charset="-120"/>
              </a:rPr>
              <a:t>SOC 2 Type II</a:t>
            </a:r>
            <a:endParaRPr lang="en-US" sz="900" dirty="0"/>
          </a:p>
        </p:txBody>
      </p:sp>
      <p:sp>
        <p:nvSpPr>
          <p:cNvPr id="10" name="Text 8"/>
          <p:cNvSpPr txBox="1"/>
          <p:nvPr/>
        </p:nvSpPr>
        <p:spPr>
          <a:xfrm>
            <a:off x="714146" y="1343254"/>
            <a:ext cx="4491533"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認証: SOC 2 Type II（2024/9）、GDPR準拠（全プラン学習オプトアウト）</a:t>
            </a:r>
            <a:endParaRPr lang="en-US" sz="1000" dirty="0"/>
          </a:p>
        </p:txBody>
      </p:sp>
      <p:sp>
        <p:nvSpPr>
          <p:cNvPr id="11" name="Text 9"/>
          <p:cNvSpPr txBox="1"/>
          <p:nvPr/>
        </p:nvSpPr>
        <p:spPr>
          <a:xfrm>
            <a:off x="714146" y="1571854"/>
            <a:ext cx="4120286"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VPC対応: Customer Hosted VPC、Private Link で厳格なデータ分離</a:t>
            </a:r>
            <a:endParaRPr lang="en-US" sz="1000" dirty="0"/>
          </a:p>
        </p:txBody>
      </p:sp>
      <p:sp>
        <p:nvSpPr>
          <p:cNvPr id="12" name="Text 10"/>
          <p:cNvSpPr txBox="1"/>
          <p:nvPr/>
        </p:nvSpPr>
        <p:spPr>
          <a:xfrm>
            <a:off x="714146" y="1800454"/>
            <a:ext cx="5348326"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制約: 完全エアギャップ不可（Brain通信必須）／監査ログAPIはEnterprise向け提供予定</a:t>
            </a:r>
            <a:endParaRPr lang="en-US" sz="1000" dirty="0"/>
          </a:p>
        </p:txBody>
      </p:sp>
      <p:sp>
        <p:nvSpPr>
          <p:cNvPr id="13" name="Text 11"/>
          <p:cNvSpPr txBox="1"/>
          <p:nvPr/>
        </p:nvSpPr>
        <p:spPr>
          <a:xfrm>
            <a:off x="466344" y="2467051"/>
            <a:ext cx="734263"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得意分野</a:t>
            </a:r>
            <a:endParaRPr lang="en-US" sz="1200" dirty="0"/>
          </a:p>
        </p:txBody>
      </p:sp>
      <p:sp>
        <p:nvSpPr>
          <p:cNvPr id="14" name="Text 12"/>
          <p:cNvSpPr txBox="1"/>
          <p:nvPr/>
        </p:nvSpPr>
        <p:spPr>
          <a:xfrm>
            <a:off x="3708806" y="2467051"/>
            <a:ext cx="1038758"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推奨シナリオ</a:t>
            </a:r>
            <a:endParaRPr lang="en-US" sz="1200" dirty="0"/>
          </a:p>
        </p:txBody>
      </p:sp>
      <p:sp>
        <p:nvSpPr>
          <p:cNvPr id="15" name="Text 13"/>
          <p:cNvSpPr txBox="1"/>
          <p:nvPr/>
        </p:nvSpPr>
        <p:spPr>
          <a:xfrm>
            <a:off x="714146" y="2771546"/>
            <a:ext cx="2634386"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レガシー近代化・大規模リファクタリング</a:t>
            </a:r>
            <a:endParaRPr lang="en-US" sz="1000" dirty="0"/>
          </a:p>
        </p:txBody>
      </p:sp>
      <p:sp>
        <p:nvSpPr>
          <p:cNvPr id="16" name="Text 14"/>
          <p:cNvSpPr txBox="1"/>
          <p:nvPr/>
        </p:nvSpPr>
        <p:spPr>
          <a:xfrm>
            <a:off x="714146" y="3000146"/>
            <a:ext cx="1700784"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セキュリティ修正の高速化</a:t>
            </a:r>
            <a:endParaRPr lang="en-US" sz="1000" dirty="0"/>
          </a:p>
        </p:txBody>
      </p:sp>
      <p:sp>
        <p:nvSpPr>
          <p:cNvPr id="17" name="Text 15"/>
          <p:cNvSpPr txBox="1"/>
          <p:nvPr/>
        </p:nvSpPr>
        <p:spPr>
          <a:xfrm>
            <a:off x="714146" y="3228746"/>
            <a:ext cx="1433779"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テスト生成・品質向上</a:t>
            </a:r>
            <a:endParaRPr lang="en-US" sz="1000" dirty="0"/>
          </a:p>
        </p:txBody>
      </p:sp>
      <p:sp>
        <p:nvSpPr>
          <p:cNvPr id="18" name="Text 16"/>
          <p:cNvSpPr txBox="1"/>
          <p:nvPr/>
        </p:nvSpPr>
        <p:spPr>
          <a:xfrm>
            <a:off x="3955694" y="2771546"/>
            <a:ext cx="2500884"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大規模移行／レガシー刷新プロジェクト</a:t>
            </a:r>
            <a:endParaRPr lang="en-US" sz="1000" dirty="0"/>
          </a:p>
        </p:txBody>
      </p:sp>
      <p:sp>
        <p:nvSpPr>
          <p:cNvPr id="19" name="Text 17"/>
          <p:cNvSpPr txBox="1"/>
          <p:nvPr/>
        </p:nvSpPr>
        <p:spPr>
          <a:xfrm>
            <a:off x="3941064" y="3000146"/>
            <a:ext cx="2882189" cy="381305"/>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金融・規制産業など高セキュリティ要件（VPC運用）</a:t>
            </a:r>
            <a:endParaRPr lang="en-US" sz="1000" dirty="0"/>
          </a:p>
        </p:txBody>
      </p:sp>
      <p:sp>
        <p:nvSpPr>
          <p:cNvPr id="20" name="Text 18"/>
          <p:cNvSpPr txBox="1"/>
          <p:nvPr/>
        </p:nvSpPr>
        <p:spPr>
          <a:xfrm>
            <a:off x="3954780" y="3419856"/>
            <a:ext cx="3014777"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効率重視（8–12倍効率、20xコスト削減の実績）</a:t>
            </a:r>
            <a:endParaRPr lang="en-US" sz="1000" dirty="0"/>
          </a:p>
        </p:txBody>
      </p:sp>
      <p:sp>
        <p:nvSpPr>
          <p:cNvPr id="21" name="Shape 19"/>
          <p:cNvSpPr/>
          <p:nvPr/>
        </p:nvSpPr>
        <p:spPr>
          <a:xfrm>
            <a:off x="7149694" y="875995"/>
            <a:ext cx="4743907" cy="6524244"/>
          </a:xfrm>
          <a:prstGeom prst="roundRect">
            <a:avLst>
              <a:gd name="adj" fmla="val 310"/>
            </a:avLst>
          </a:prstGeom>
          <a:solidFill>
            <a:srgbClr val="F5F3FF"/>
          </a:solidFill>
          <a:ln w="12700">
            <a:solidFill>
              <a:srgbClr val="E5E7EB"/>
            </a:solidFill>
            <a:prstDash val="solid"/>
          </a:ln>
        </p:spPr>
      </p:sp>
      <p:sp>
        <p:nvSpPr>
          <p:cNvPr id="22" name="Shape 20"/>
          <p:cNvSpPr/>
          <p:nvPr/>
        </p:nvSpPr>
        <p:spPr>
          <a:xfrm>
            <a:off x="7149694" y="7552944"/>
            <a:ext cx="4743907" cy="1276502"/>
          </a:xfrm>
          <a:prstGeom prst="roundRect">
            <a:avLst>
              <a:gd name="adj" fmla="val 4277"/>
            </a:avLst>
          </a:prstGeom>
          <a:noFill/>
          <a:ln w="12700">
            <a:solidFill>
              <a:srgbClr val="E5E7EB"/>
            </a:solidFill>
            <a:prstDash val="solid"/>
          </a:ln>
        </p:spPr>
      </p:sp>
      <p:sp>
        <p:nvSpPr>
          <p:cNvPr id="23" name="Text 21"/>
          <p:cNvSpPr txBox="1"/>
          <p:nvPr/>
        </p:nvSpPr>
        <p:spPr>
          <a:xfrm>
            <a:off x="7311542" y="1037844"/>
            <a:ext cx="1457554"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Devinを選ぶ決め手</a:t>
            </a:r>
            <a:endParaRPr lang="en-US" sz="1200" dirty="0"/>
          </a:p>
        </p:txBody>
      </p:sp>
      <p:sp>
        <p:nvSpPr>
          <p:cNvPr id="24" name="Shape 22"/>
          <p:cNvSpPr/>
          <p:nvPr/>
        </p:nvSpPr>
        <p:spPr>
          <a:xfrm>
            <a:off x="10984687" y="1076249"/>
            <a:ext cx="743407" cy="152705"/>
          </a:xfrm>
          <a:prstGeom prst="roundRect">
            <a:avLst>
              <a:gd name="adj" fmla="val 598802"/>
            </a:avLst>
          </a:prstGeom>
          <a:solidFill>
            <a:srgbClr val="EDE9FE"/>
          </a:solidFill>
          <a:ln/>
        </p:spPr>
      </p:sp>
      <p:sp>
        <p:nvSpPr>
          <p:cNvPr id="25" name="Text 23"/>
          <p:cNvSpPr txBox="1"/>
          <p:nvPr/>
        </p:nvSpPr>
        <p:spPr>
          <a:xfrm>
            <a:off x="11061497" y="1067105"/>
            <a:ext cx="676656" cy="162763"/>
          </a:xfrm>
          <a:prstGeom prst="rect">
            <a:avLst/>
          </a:prstGeom>
          <a:noFill/>
          <a:ln/>
        </p:spPr>
        <p:txBody>
          <a:bodyPr wrap="square" lIns="0" tIns="0" rIns="0" bIns="0" rtlCol="0" anchor="ctr"/>
          <a:lstStyle/>
          <a:p>
            <a:pPr algn="l" indent="0" marL="0">
              <a:buNone/>
            </a:pPr>
            <a:r>
              <a:rPr lang="en-US" sz="900" b="1" dirty="0">
                <a:solidFill>
                  <a:srgbClr val="4C1D95"/>
                </a:solidFill>
                <a:latin typeface="Noto Sans JP" pitchFamily="34" charset="0"/>
                <a:ea typeface="Noto Sans JP" pitchFamily="34" charset="-122"/>
                <a:cs typeface="Noto Sans JP" pitchFamily="34" charset="-120"/>
              </a:rPr>
              <a:t>Key Points</a:t>
            </a:r>
            <a:endParaRPr lang="en-US" sz="900" dirty="0"/>
          </a:p>
        </p:txBody>
      </p:sp>
      <p:sp>
        <p:nvSpPr>
          <p:cNvPr id="26" name="Shape 24"/>
          <p:cNvSpPr/>
          <p:nvPr/>
        </p:nvSpPr>
        <p:spPr>
          <a:xfrm>
            <a:off x="7311542" y="1362456"/>
            <a:ext cx="1076249" cy="152705"/>
          </a:xfrm>
          <a:prstGeom prst="roundRect">
            <a:avLst>
              <a:gd name="adj" fmla="val 598802"/>
            </a:avLst>
          </a:prstGeom>
          <a:solidFill>
            <a:srgbClr val="EDE9FE"/>
          </a:solidFill>
          <a:ln/>
        </p:spPr>
      </p:sp>
      <p:sp>
        <p:nvSpPr>
          <p:cNvPr id="27" name="Text 25"/>
          <p:cNvSpPr txBox="1"/>
          <p:nvPr/>
        </p:nvSpPr>
        <p:spPr>
          <a:xfrm>
            <a:off x="7388352" y="1352398"/>
            <a:ext cx="1010412" cy="162763"/>
          </a:xfrm>
          <a:prstGeom prst="rect">
            <a:avLst/>
          </a:prstGeom>
          <a:noFill/>
          <a:ln/>
        </p:spPr>
        <p:txBody>
          <a:bodyPr wrap="square" lIns="0" tIns="0" rIns="0" bIns="0" rtlCol="0" anchor="ctr"/>
          <a:lstStyle/>
          <a:p>
            <a:pPr algn="l" indent="0" marL="0">
              <a:buNone/>
            </a:pPr>
            <a:r>
              <a:rPr lang="en-US" sz="900" b="1" dirty="0">
                <a:solidFill>
                  <a:srgbClr val="4C1D95"/>
                </a:solidFill>
                <a:latin typeface="Noto Sans JP" pitchFamily="34" charset="0"/>
                <a:ea typeface="Noto Sans JP" pitchFamily="34" charset="-122"/>
                <a:cs typeface="Noto Sans JP" pitchFamily="34" charset="-120"/>
              </a:rPr>
              <a:t>委任型のメリット</a:t>
            </a:r>
            <a:endParaRPr lang="en-US" sz="900" dirty="0"/>
          </a:p>
        </p:txBody>
      </p:sp>
      <p:sp>
        <p:nvSpPr>
          <p:cNvPr id="28" name="Shape 26"/>
          <p:cNvSpPr/>
          <p:nvPr/>
        </p:nvSpPr>
        <p:spPr>
          <a:xfrm>
            <a:off x="8455457" y="1362456"/>
            <a:ext cx="847649" cy="152705"/>
          </a:xfrm>
          <a:prstGeom prst="roundRect">
            <a:avLst>
              <a:gd name="adj" fmla="val 598802"/>
            </a:avLst>
          </a:prstGeom>
          <a:solidFill>
            <a:srgbClr val="E0F2FE"/>
          </a:solidFill>
          <a:ln/>
        </p:spPr>
      </p:sp>
      <p:sp>
        <p:nvSpPr>
          <p:cNvPr id="29" name="Text 27"/>
          <p:cNvSpPr txBox="1"/>
          <p:nvPr/>
        </p:nvSpPr>
        <p:spPr>
          <a:xfrm>
            <a:off x="8531352" y="1352398"/>
            <a:ext cx="781812" cy="162763"/>
          </a:xfrm>
          <a:prstGeom prst="rect">
            <a:avLst/>
          </a:prstGeom>
          <a:noFill/>
          <a:ln/>
        </p:spPr>
        <p:txBody>
          <a:bodyPr wrap="square" lIns="0" tIns="0" rIns="0" bIns="0" rtlCol="0" anchor="ctr"/>
          <a:lstStyle/>
          <a:p>
            <a:pPr algn="l" indent="0" marL="0">
              <a:buNone/>
            </a:pPr>
            <a:r>
              <a:rPr lang="en-US" sz="900" b="1" dirty="0">
                <a:solidFill>
                  <a:srgbClr val="075985"/>
                </a:solidFill>
                <a:latin typeface="Noto Sans JP" pitchFamily="34" charset="0"/>
                <a:ea typeface="Noto Sans JP" pitchFamily="34" charset="-122"/>
                <a:cs typeface="Noto Sans JP" pitchFamily="34" charset="-120"/>
              </a:rPr>
              <a:t>並列スケール</a:t>
            </a:r>
            <a:endParaRPr lang="en-US" sz="900" dirty="0"/>
          </a:p>
        </p:txBody>
      </p:sp>
      <p:sp>
        <p:nvSpPr>
          <p:cNvPr id="30" name="Text 28"/>
          <p:cNvSpPr txBox="1"/>
          <p:nvPr/>
        </p:nvSpPr>
        <p:spPr>
          <a:xfrm>
            <a:off x="7311542" y="1609344"/>
            <a:ext cx="22485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実証済み品質: PR merge率67%</a:t>
            </a:r>
            <a:endParaRPr lang="en-US" sz="1200" dirty="0"/>
          </a:p>
        </p:txBody>
      </p:sp>
      <p:sp>
        <p:nvSpPr>
          <p:cNvPr id="31" name="Text 29"/>
          <p:cNvSpPr txBox="1"/>
          <p:nvPr/>
        </p:nvSpPr>
        <p:spPr>
          <a:xfrm>
            <a:off x="7559345" y="1876349"/>
            <a:ext cx="3814877" cy="191110"/>
          </a:xfrm>
          <a:prstGeom prst="rect">
            <a:avLst/>
          </a:prstGeom>
          <a:noFill/>
          <a:ln/>
        </p:spPr>
        <p:txBody>
          <a:bodyPr wrap="square" lIns="0" tIns="0" rIns="0" bIns="0" rtlCol="0" anchor="ctr"/>
          <a:lstStyle/>
          <a:p>
            <a:pPr algn="l" indent="0" marL="0">
              <a:buNone/>
            </a:pPr>
            <a:r>
              <a:rPr lang="en-US" sz="1000" dirty="0">
                <a:solidFill>
                  <a:srgbClr val="111827"/>
                </a:solidFill>
                <a:latin typeface="Noto Sans JP" pitchFamily="34" charset="0"/>
                <a:ea typeface="Noto Sans JP" pitchFamily="34" charset="-122"/>
                <a:cs typeface="Noto Sans JP" pitchFamily="34" charset="-120"/>
              </a:rPr>
              <a:t>ACUによる成果ベース課金で見積り容易・費用対効果を可視化</a:t>
            </a:r>
            <a:endParaRPr lang="en-US" sz="1000" dirty="0"/>
          </a:p>
        </p:txBody>
      </p:sp>
      <p:sp>
        <p:nvSpPr>
          <p:cNvPr id="32" name="Text 30"/>
          <p:cNvSpPr txBox="1"/>
          <p:nvPr/>
        </p:nvSpPr>
        <p:spPr>
          <a:xfrm>
            <a:off x="7559345" y="2104949"/>
            <a:ext cx="3700577" cy="191110"/>
          </a:xfrm>
          <a:prstGeom prst="rect">
            <a:avLst/>
          </a:prstGeom>
          <a:noFill/>
          <a:ln/>
        </p:spPr>
        <p:txBody>
          <a:bodyPr wrap="square" lIns="0" tIns="0" rIns="0" bIns="0" rtlCol="0" anchor="ctr"/>
          <a:lstStyle/>
          <a:p>
            <a:pPr algn="l" indent="0" marL="0">
              <a:buNone/>
            </a:pPr>
            <a:r>
              <a:rPr lang="en-US" sz="1000" dirty="0">
                <a:solidFill>
                  <a:srgbClr val="111827"/>
                </a:solidFill>
                <a:latin typeface="Noto Sans JP" pitchFamily="34" charset="0"/>
                <a:ea typeface="Noto Sans JP" pitchFamily="34" charset="-122"/>
                <a:cs typeface="Noto Sans JP" pitchFamily="34" charset="-120"/>
              </a:rPr>
              <a:t>顧客VPC展開で厳格なデータ分離（Customer Hosted VPC）</a:t>
            </a:r>
            <a:endParaRPr lang="en-US" sz="1000" dirty="0"/>
          </a:p>
        </p:txBody>
      </p:sp>
      <p:sp>
        <p:nvSpPr>
          <p:cNvPr id="33" name="Text 31"/>
          <p:cNvSpPr txBox="1"/>
          <p:nvPr/>
        </p:nvSpPr>
        <p:spPr>
          <a:xfrm>
            <a:off x="7559345" y="2333549"/>
            <a:ext cx="2843784" cy="191110"/>
          </a:xfrm>
          <a:prstGeom prst="rect">
            <a:avLst/>
          </a:prstGeom>
          <a:noFill/>
          <a:ln/>
        </p:spPr>
        <p:txBody>
          <a:bodyPr wrap="square" lIns="0" tIns="0" rIns="0" bIns="0" rtlCol="0" anchor="ctr"/>
          <a:lstStyle/>
          <a:p>
            <a:pPr algn="l" indent="0" marL="0">
              <a:buNone/>
            </a:pPr>
            <a:r>
              <a:rPr lang="en-US" sz="1000" dirty="0">
                <a:solidFill>
                  <a:srgbClr val="111827"/>
                </a:solidFill>
                <a:latin typeface="Noto Sans JP" pitchFamily="34" charset="0"/>
                <a:ea typeface="Noto Sans JP" pitchFamily="34" charset="-122"/>
                <a:cs typeface="Noto Sans JP" pitchFamily="34" charset="-120"/>
              </a:rPr>
              <a:t>600万行レガシー移行の実績（Nubank 事例）</a:t>
            </a:r>
            <a:endParaRPr lang="en-US" sz="1000" dirty="0"/>
          </a:p>
        </p:txBody>
      </p:sp>
      <p:sp>
        <p:nvSpPr>
          <p:cNvPr id="34" name="Text 32"/>
          <p:cNvSpPr txBox="1"/>
          <p:nvPr/>
        </p:nvSpPr>
        <p:spPr>
          <a:xfrm>
            <a:off x="7559345" y="2562149"/>
            <a:ext cx="2634386" cy="191110"/>
          </a:xfrm>
          <a:prstGeom prst="rect">
            <a:avLst/>
          </a:prstGeom>
          <a:noFill/>
          <a:ln/>
        </p:spPr>
        <p:txBody>
          <a:bodyPr wrap="square" lIns="0" tIns="0" rIns="0" bIns="0" rtlCol="0" anchor="ctr"/>
          <a:lstStyle/>
          <a:p>
            <a:pPr algn="l" indent="0" marL="0">
              <a:buNone/>
            </a:pPr>
            <a:r>
              <a:rPr lang="en-US" sz="1000" dirty="0">
                <a:solidFill>
                  <a:srgbClr val="111827"/>
                </a:solidFill>
                <a:latin typeface="Noto Sans JP" pitchFamily="34" charset="0"/>
                <a:ea typeface="Noto Sans JP" pitchFamily="34" charset="-122"/>
                <a:cs typeface="Noto Sans JP" pitchFamily="34" charset="-120"/>
              </a:rPr>
              <a:t>自律実行性能で長時間・複雑タスクに適合</a:t>
            </a:r>
            <a:endParaRPr lang="en-US" sz="1000" dirty="0"/>
          </a:p>
        </p:txBody>
      </p:sp>
      <p:sp>
        <p:nvSpPr>
          <p:cNvPr id="35" name="Text 33"/>
          <p:cNvSpPr txBox="1"/>
          <p:nvPr/>
        </p:nvSpPr>
        <p:spPr>
          <a:xfrm>
            <a:off x="7559345" y="2790749"/>
            <a:ext cx="4167835" cy="381305"/>
          </a:xfrm>
          <a:prstGeom prst="rect">
            <a:avLst/>
          </a:prstGeom>
          <a:noFill/>
          <a:ln/>
        </p:spPr>
        <p:txBody>
          <a:bodyPr wrap="square" lIns="0" tIns="0" rIns="0" bIns="0" rtlCol="0" anchor="ctr"/>
          <a:lstStyle/>
          <a:p>
            <a:pPr algn="l" indent="0" marL="0">
              <a:buNone/>
            </a:pPr>
            <a:r>
              <a:rPr lang="en-US" sz="1000" dirty="0">
                <a:solidFill>
                  <a:srgbClr val="111827"/>
                </a:solidFill>
                <a:latin typeface="Noto Sans JP" pitchFamily="34" charset="0"/>
                <a:ea typeface="Noto Sans JP" pitchFamily="34" charset="-122"/>
                <a:cs typeface="Noto Sans JP" pitchFamily="34" charset="-120"/>
              </a:rPr>
              <a:t>委任型のメリット: コンテキストスイッチングを削減し、設計・レビュー等の戦略タスクに集中</a:t>
            </a:r>
            <a:endParaRPr lang="en-US" sz="1000" dirty="0"/>
          </a:p>
        </p:txBody>
      </p:sp>
      <p:sp>
        <p:nvSpPr>
          <p:cNvPr id="36" name="Text 34"/>
          <p:cNvSpPr txBox="1"/>
          <p:nvPr/>
        </p:nvSpPr>
        <p:spPr>
          <a:xfrm>
            <a:off x="7559345" y="3209544"/>
            <a:ext cx="4167835" cy="381305"/>
          </a:xfrm>
          <a:prstGeom prst="rect">
            <a:avLst/>
          </a:prstGeom>
          <a:noFill/>
          <a:ln/>
        </p:spPr>
        <p:txBody>
          <a:bodyPr wrap="square" lIns="0" tIns="0" rIns="0" bIns="0" rtlCol="0" anchor="ctr"/>
          <a:lstStyle/>
          <a:p>
            <a:pPr algn="l" indent="0" marL="0">
              <a:buNone/>
            </a:pPr>
            <a:r>
              <a:rPr lang="en-US" sz="1000" dirty="0">
                <a:solidFill>
                  <a:srgbClr val="111827"/>
                </a:solidFill>
                <a:latin typeface="Noto Sans JP" pitchFamily="34" charset="0"/>
                <a:ea typeface="Noto Sans JP" pitchFamily="34" charset="-122"/>
                <a:cs typeface="Noto Sans JP" pitchFamily="34" charset="-120"/>
              </a:rPr>
              <a:t>並列スケール実行: 複数タスク／マルチリポを同時進行し、チームのスループットを向上</a:t>
            </a:r>
            <a:endParaRPr lang="en-US" sz="1000" dirty="0"/>
          </a:p>
        </p:txBody>
      </p:sp>
      <p:sp>
        <p:nvSpPr>
          <p:cNvPr id="37" name="Shape 35"/>
          <p:cNvSpPr/>
          <p:nvPr/>
        </p:nvSpPr>
        <p:spPr>
          <a:xfrm>
            <a:off x="7311542" y="3705149"/>
            <a:ext cx="4419295" cy="3534156"/>
          </a:xfrm>
          <a:prstGeom prst="roundRect">
            <a:avLst>
              <a:gd name="adj" fmla="val 279"/>
            </a:avLst>
          </a:prstGeom>
          <a:solidFill>
            <a:srgbClr val="FFFFFF"/>
          </a:solidFill>
          <a:ln w="12700">
            <a:solidFill>
              <a:srgbClr val="DDD6FE"/>
            </a:solidFill>
            <a:prstDash val="solid"/>
          </a:ln>
        </p:spPr>
      </p:sp>
      <p:sp>
        <p:nvSpPr>
          <p:cNvPr id="38" name="Text 36"/>
          <p:cNvSpPr txBox="1"/>
          <p:nvPr/>
        </p:nvSpPr>
        <p:spPr>
          <a:xfrm>
            <a:off x="7435901" y="3829507"/>
            <a:ext cx="1700784"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委任型のメリット（詳細）</a:t>
            </a:r>
            <a:endParaRPr lang="en-US" sz="1000" dirty="0"/>
          </a:p>
        </p:txBody>
      </p:sp>
      <p:sp>
        <p:nvSpPr>
          <p:cNvPr id="39" name="Text 37"/>
          <p:cNvSpPr txBox="1"/>
          <p:nvPr/>
        </p:nvSpPr>
        <p:spPr>
          <a:xfrm>
            <a:off x="7435901" y="5553151"/>
            <a:ext cx="1700784" cy="191110"/>
          </a:xfrm>
          <a:prstGeom prst="rect">
            <a:avLst/>
          </a:prstGeom>
          <a:noFill/>
          <a:ln/>
        </p:spPr>
        <p:txBody>
          <a:bodyPr wrap="square" lIns="0" tIns="0" rIns="0" bIns="0" rtlCol="0" anchor="ctr"/>
          <a:lstStyle/>
          <a:p>
            <a:pPr algn="l" indent="0" marL="0">
              <a:buNone/>
            </a:pPr>
            <a:r>
              <a:rPr lang="en-US" sz="1000" b="1" dirty="0">
                <a:solidFill>
                  <a:srgbClr val="111827"/>
                </a:solidFill>
                <a:latin typeface="Noto Sans JP" pitchFamily="34" charset="0"/>
                <a:ea typeface="Noto Sans JP" pitchFamily="34" charset="-122"/>
                <a:cs typeface="Noto Sans JP" pitchFamily="34" charset="-120"/>
              </a:rPr>
              <a:t>並列スケール実行（詳細）</a:t>
            </a:r>
            <a:endParaRPr lang="en-US" sz="1000" dirty="0"/>
          </a:p>
        </p:txBody>
      </p:sp>
      <p:sp>
        <p:nvSpPr>
          <p:cNvPr id="40" name="Text 38"/>
          <p:cNvSpPr txBox="1"/>
          <p:nvPr/>
        </p:nvSpPr>
        <p:spPr>
          <a:xfrm>
            <a:off x="7435901" y="4058107"/>
            <a:ext cx="4262933" cy="1334110"/>
          </a:xfrm>
          <a:prstGeom prst="rect">
            <a:avLst/>
          </a:prstGeom>
          <a:noFill/>
          <a:ln/>
        </p:spPr>
        <p:txBody>
          <a:bodyPr wrap="square" lIns="0" tIns="0" rIns="0" bIns="0" rtlCol="0" anchor="ctr"/>
          <a:lstStyle/>
          <a:p>
            <a:pPr algn="l" indent="0" marL="0">
              <a:buNone/>
            </a:pPr>
            <a:r>
              <a:rPr lang="en-US" sz="1000" dirty="0">
                <a:solidFill>
                  <a:srgbClr val="111827"/>
                </a:solidFill>
                <a:latin typeface="Noto Sans JP" pitchFamily="34" charset="0"/>
                <a:ea typeface="Noto Sans JP" pitchFamily="34" charset="-122"/>
                <a:cs typeface="Noto Sans JP" pitchFamily="34" charset="-120"/>
              </a:rPr>
              <a:t>伴走型（GitHub CopilotやCursor）は開発者が提案を逐次監視し採否判断する前提ですが、Devinは要件と成果物定義を渡せば設計→実装→テスト→PRまで自律的に遂行します。これにより開発者は補完の監視から解放され、アーキテクチャ設計・コードレビュー・要件定義といった上位タスクに集中できます。頻繁なコンテキストスイッチが減ることで認知負荷が下がり、レビュー品質と実効生産性の向上につながります。</a:t>
            </a:r>
            <a:endParaRPr lang="en-US" sz="1000" dirty="0"/>
          </a:p>
        </p:txBody>
      </p:sp>
      <p:sp>
        <p:nvSpPr>
          <p:cNvPr id="41" name="Text 39"/>
          <p:cNvSpPr txBox="1"/>
          <p:nvPr/>
        </p:nvSpPr>
        <p:spPr>
          <a:xfrm>
            <a:off x="7435901" y="5781751"/>
            <a:ext cx="4262933" cy="1334110"/>
          </a:xfrm>
          <a:prstGeom prst="rect">
            <a:avLst/>
          </a:prstGeom>
          <a:noFill/>
          <a:ln/>
        </p:spPr>
        <p:txBody>
          <a:bodyPr wrap="square" lIns="0" tIns="0" rIns="0" bIns="0" rtlCol="0" anchor="ctr"/>
          <a:lstStyle/>
          <a:p>
            <a:pPr algn="l" indent="0" marL="0">
              <a:buNone/>
            </a:pPr>
            <a:r>
              <a:rPr lang="en-US" sz="1000" dirty="0">
                <a:solidFill>
                  <a:srgbClr val="111827"/>
                </a:solidFill>
                <a:latin typeface="Noto Sans JP" pitchFamily="34" charset="0"/>
                <a:ea typeface="Noto Sans JP" pitchFamily="34" charset="-122"/>
                <a:cs typeface="Noto Sans JP" pitchFamily="34" charset="-120"/>
              </a:rPr>
              <a:t>1人の開発者が複数のDevinインスタンスを同時稼働させ、別ブランチや別リポジトリのタスクを並列で進行できます。テストやビルド待ち時間を他タスクへ充当できるため、人的リソースを増やさずにスループットを高める経済的メリットがあります（例: 1人で3〜5タスクの並列実行）。大規模移行ではコンポーネント単位に分割して並列化しやすく、Nubankのレガシー分離のような大規模案件とも相性が良い運用モデルです。</a:t>
            </a:r>
            <a:endParaRPr lang="en-US" sz="1000" dirty="0"/>
          </a:p>
        </p:txBody>
      </p:sp>
      <p:sp>
        <p:nvSpPr>
          <p:cNvPr id="42" name="Shape 40"/>
          <p:cNvSpPr/>
          <p:nvPr/>
        </p:nvSpPr>
        <p:spPr>
          <a:xfrm>
            <a:off x="7435901" y="5467198"/>
            <a:ext cx="4172407" cy="9144"/>
          </a:xfrm>
          <a:prstGeom prst="rect">
            <a:avLst/>
          </a:prstGeom>
          <a:solidFill>
            <a:srgbClr val="EDE9FE"/>
          </a:solidFill>
          <a:ln/>
        </p:spPr>
      </p:sp>
      <p:sp>
        <p:nvSpPr>
          <p:cNvPr id="43" name="Text 41"/>
          <p:cNvSpPr txBox="1"/>
          <p:nvPr/>
        </p:nvSpPr>
        <p:spPr>
          <a:xfrm>
            <a:off x="7311542" y="7715707"/>
            <a:ext cx="1038758"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リスクと対策</a:t>
            </a:r>
            <a:endParaRPr lang="en-US" sz="1200" dirty="0"/>
          </a:p>
        </p:txBody>
      </p:sp>
      <p:sp>
        <p:nvSpPr>
          <p:cNvPr id="44" name="Text 42"/>
          <p:cNvSpPr txBox="1"/>
          <p:nvPr/>
        </p:nvSpPr>
        <p:spPr>
          <a:xfrm>
            <a:off x="7559345" y="8020202"/>
            <a:ext cx="3615538"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IP補償なし → ソースコードスキャン／法務レビューを併用</a:t>
            </a:r>
            <a:endParaRPr lang="en-US" sz="1000" dirty="0"/>
          </a:p>
        </p:txBody>
      </p:sp>
      <p:sp>
        <p:nvSpPr>
          <p:cNvPr id="45" name="Text 43"/>
          <p:cNvSpPr txBox="1"/>
          <p:nvPr/>
        </p:nvSpPr>
        <p:spPr>
          <a:xfrm>
            <a:off x="7559345" y="8248802"/>
            <a:ext cx="3767328"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日本語サポート限定 → 運用手順の内製・ナレッジ共有で補完</a:t>
            </a:r>
            <a:endParaRPr lang="en-US" sz="1000" dirty="0"/>
          </a:p>
        </p:txBody>
      </p:sp>
      <p:sp>
        <p:nvSpPr>
          <p:cNvPr id="46" name="Text 44"/>
          <p:cNvSpPr txBox="1"/>
          <p:nvPr/>
        </p:nvSpPr>
        <p:spPr>
          <a:xfrm>
            <a:off x="7559345" y="8477402"/>
            <a:ext cx="4110228" cy="19111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完全オフライン不可 → Customer Hosted VPC＋Private Linkで代替</a:t>
            </a:r>
            <a:endParaRPr lang="en-US" sz="1000" dirty="0"/>
          </a:p>
        </p:txBody>
      </p:sp>
      <p:sp>
        <p:nvSpPr>
          <p:cNvPr id="47" name="Text 45"/>
          <p:cNvSpPr txBox="1"/>
          <p:nvPr/>
        </p:nvSpPr>
        <p:spPr>
          <a:xfrm>
            <a:off x="304495" y="8934602"/>
            <a:ext cx="3200400" cy="162763"/>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注: 本ページは添付PDFの要点を簡潔化して記載しています。</a:t>
            </a:r>
            <a:endParaRPr lang="en-US" sz="900" dirty="0"/>
          </a:p>
        </p:txBody>
      </p:sp>
      <p:sp>
        <p:nvSpPr>
          <p:cNvPr id="48" name="Text 46"/>
          <p:cNvSpPr txBox="1"/>
          <p:nvPr/>
        </p:nvSpPr>
        <p:spPr>
          <a:xfrm>
            <a:off x="9061704" y="8934602"/>
            <a:ext cx="2915107"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出典: 添付PDF「AI開発ツール包括比較レポート 2025」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7125005"/>
          </a:xfrm>
          <a:prstGeom prst="rect">
            <a:avLst/>
          </a:prstGeom>
          <a:solidFill>
            <a:srgbClr val="FFFFFF"/>
          </a:solidFill>
          <a:ln/>
        </p:spPr>
      </p:sp>
      <p:sp>
        <p:nvSpPr>
          <p:cNvPr id="3" name="Text 1"/>
          <p:cNvSpPr txBox="1"/>
          <p:nvPr/>
        </p:nvSpPr>
        <p:spPr>
          <a:xfrm>
            <a:off x="304495" y="209398"/>
            <a:ext cx="5372100" cy="333756"/>
          </a:xfrm>
          <a:prstGeom prst="rect">
            <a:avLst/>
          </a:prstGeom>
          <a:noFill/>
          <a:ln/>
        </p:spPr>
        <p:txBody>
          <a:bodyPr wrap="square" lIns="0" tIns="0" rIns="0" bIns="0" rtlCol="0" anchor="ctr"/>
          <a:lstStyle/>
          <a:p>
            <a:pPr algn="l" indent="0" marL="0">
              <a:buNone/>
            </a:pPr>
            <a:r>
              <a:rPr lang="en-US" sz="1800" b="1" dirty="0">
                <a:solidFill>
                  <a:srgbClr val="111827"/>
                </a:solidFill>
                <a:latin typeface="Noto Sans JP" pitchFamily="34" charset="0"/>
                <a:ea typeface="Noto Sans JP" pitchFamily="34" charset="-122"/>
                <a:cs typeface="Noto Sans JP" pitchFamily="34" charset="-120"/>
              </a:rPr>
              <a:t>Devin 詳細評価②｜3つの主要メリットと補足情報</a:t>
            </a:r>
            <a:endParaRPr lang="en-US" sz="1800" dirty="0"/>
          </a:p>
        </p:txBody>
      </p:sp>
      <p:sp>
        <p:nvSpPr>
          <p:cNvPr id="4" name="Text 2"/>
          <p:cNvSpPr txBox="1"/>
          <p:nvPr/>
        </p:nvSpPr>
        <p:spPr>
          <a:xfrm>
            <a:off x="304495" y="571500"/>
            <a:ext cx="463417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完全委任型 × 並列スケール × 複数リポジトリ横断理解（QCD効果を明記）</a:t>
            </a:r>
            <a:endParaRPr lang="en-US" sz="1000" dirty="0"/>
          </a:p>
        </p:txBody>
      </p:sp>
      <p:sp>
        <p:nvSpPr>
          <p:cNvPr id="5" name="Shape 3"/>
          <p:cNvSpPr/>
          <p:nvPr/>
        </p:nvSpPr>
        <p:spPr>
          <a:xfrm>
            <a:off x="304495" y="875995"/>
            <a:ext cx="11582705" cy="1580998"/>
          </a:xfrm>
          <a:prstGeom prst="roundRect">
            <a:avLst>
              <a:gd name="adj" fmla="val 2787"/>
            </a:avLst>
          </a:prstGeom>
          <a:noFill/>
          <a:ln w="12700">
            <a:solidFill>
              <a:srgbClr val="E5E7EB"/>
            </a:solidFill>
            <a:prstDash val="solid"/>
          </a:ln>
        </p:spPr>
      </p:sp>
      <p:sp>
        <p:nvSpPr>
          <p:cNvPr id="6" name="Text 4"/>
          <p:cNvSpPr txBox="1"/>
          <p:nvPr/>
        </p:nvSpPr>
        <p:spPr>
          <a:xfrm>
            <a:off x="733349" y="1037844"/>
            <a:ext cx="1638605"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完全委任型であること</a:t>
            </a:r>
            <a:endParaRPr lang="en-US" sz="1200" dirty="0"/>
          </a:p>
        </p:txBody>
      </p:sp>
      <p:sp>
        <p:nvSpPr>
          <p:cNvPr id="7" name="Text 5"/>
          <p:cNvSpPr txBox="1"/>
          <p:nvPr/>
        </p:nvSpPr>
        <p:spPr>
          <a:xfrm>
            <a:off x="466344" y="1343254"/>
            <a:ext cx="11291926" cy="381305"/>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伴走型（GitHub Copilot、Cursor）は開発者が提案を逐次監視・採否判断しますが、Devinは要件定義と受入条件を渡せば設計→実装→テスト→PRまで自律完遂。監視から解放され、設計やレビュー等の戦略タスクに集中でき、コンテキストスイッチが減ることで認知負荷が低下します。</a:t>
            </a:r>
            <a:endParaRPr lang="en-US" sz="1000" dirty="0"/>
          </a:p>
        </p:txBody>
      </p:sp>
      <p:sp>
        <p:nvSpPr>
          <p:cNvPr id="8" name="Shape 6"/>
          <p:cNvSpPr/>
          <p:nvPr/>
        </p:nvSpPr>
        <p:spPr>
          <a:xfrm>
            <a:off x="466344" y="1800454"/>
            <a:ext cx="3705149" cy="495605"/>
          </a:xfrm>
          <a:prstGeom prst="roundRect">
            <a:avLst>
              <a:gd name="adj" fmla="val 21289"/>
            </a:avLst>
          </a:prstGeom>
          <a:solidFill>
            <a:srgbClr val="F9FAFB"/>
          </a:solidFill>
          <a:ln w="12700">
            <a:solidFill>
              <a:srgbClr val="E5E7EB"/>
            </a:solidFill>
            <a:prstDash val="solid"/>
          </a:ln>
        </p:spPr>
      </p:sp>
      <p:sp>
        <p:nvSpPr>
          <p:cNvPr id="9" name="Text 7"/>
          <p:cNvSpPr txBox="1"/>
          <p:nvPr/>
        </p:nvSpPr>
        <p:spPr>
          <a:xfrm>
            <a:off x="552298" y="1876349"/>
            <a:ext cx="638251"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品質（Q）</a:t>
            </a:r>
            <a:endParaRPr lang="en-US" sz="900" dirty="0"/>
          </a:p>
        </p:txBody>
      </p:sp>
      <p:sp>
        <p:nvSpPr>
          <p:cNvPr id="10" name="Text 8"/>
          <p:cNvSpPr txBox="1"/>
          <p:nvPr/>
        </p:nvSpPr>
        <p:spPr>
          <a:xfrm>
            <a:off x="552298" y="2048256"/>
            <a:ext cx="3525012"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レビューに集中でき品質管理が向上。自律実行で人為ミスを減少。</a:t>
            </a:r>
            <a:endParaRPr lang="en-US" sz="900" dirty="0"/>
          </a:p>
        </p:txBody>
      </p:sp>
      <p:sp>
        <p:nvSpPr>
          <p:cNvPr id="11" name="Shape 9"/>
          <p:cNvSpPr/>
          <p:nvPr/>
        </p:nvSpPr>
        <p:spPr>
          <a:xfrm>
            <a:off x="4244645" y="1800454"/>
            <a:ext cx="3705149" cy="495605"/>
          </a:xfrm>
          <a:prstGeom prst="roundRect">
            <a:avLst>
              <a:gd name="adj" fmla="val 21289"/>
            </a:avLst>
          </a:prstGeom>
          <a:solidFill>
            <a:srgbClr val="F9FAFB"/>
          </a:solidFill>
          <a:ln w="12700">
            <a:solidFill>
              <a:srgbClr val="E5E7EB"/>
            </a:solidFill>
            <a:prstDash val="solid"/>
          </a:ln>
        </p:spPr>
      </p:sp>
      <p:sp>
        <p:nvSpPr>
          <p:cNvPr id="12" name="Text 10"/>
          <p:cNvSpPr txBox="1"/>
          <p:nvPr/>
        </p:nvSpPr>
        <p:spPr>
          <a:xfrm>
            <a:off x="4330598" y="1876349"/>
            <a:ext cx="734263"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コスト（C）</a:t>
            </a:r>
            <a:endParaRPr lang="en-US" sz="900" dirty="0"/>
          </a:p>
        </p:txBody>
      </p:sp>
      <p:sp>
        <p:nvSpPr>
          <p:cNvPr id="13" name="Text 11"/>
          <p:cNvSpPr txBox="1"/>
          <p:nvPr/>
        </p:nvSpPr>
        <p:spPr>
          <a:xfrm>
            <a:off x="4330598" y="2048256"/>
            <a:ext cx="2943454"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上位タスクへ時間配分でき、組織の実効生産性が向上。</a:t>
            </a:r>
            <a:endParaRPr lang="en-US" sz="900" dirty="0"/>
          </a:p>
        </p:txBody>
      </p:sp>
      <p:sp>
        <p:nvSpPr>
          <p:cNvPr id="14" name="Shape 12"/>
          <p:cNvSpPr/>
          <p:nvPr/>
        </p:nvSpPr>
        <p:spPr>
          <a:xfrm>
            <a:off x="8022946" y="1800454"/>
            <a:ext cx="3705149" cy="495605"/>
          </a:xfrm>
          <a:prstGeom prst="roundRect">
            <a:avLst>
              <a:gd name="adj" fmla="val 21289"/>
            </a:avLst>
          </a:prstGeom>
          <a:solidFill>
            <a:srgbClr val="F9FAFB"/>
          </a:solidFill>
          <a:ln w="12700">
            <a:solidFill>
              <a:srgbClr val="E5E7EB"/>
            </a:solidFill>
            <a:prstDash val="solid"/>
          </a:ln>
        </p:spPr>
      </p:sp>
      <p:sp>
        <p:nvSpPr>
          <p:cNvPr id="15" name="Text 13"/>
          <p:cNvSpPr txBox="1"/>
          <p:nvPr/>
        </p:nvSpPr>
        <p:spPr>
          <a:xfrm>
            <a:off x="8108899" y="1876349"/>
            <a:ext cx="629107"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期限（D）</a:t>
            </a:r>
            <a:endParaRPr lang="en-US" sz="900" dirty="0"/>
          </a:p>
        </p:txBody>
      </p:sp>
      <p:sp>
        <p:nvSpPr>
          <p:cNvPr id="16" name="Text 14"/>
          <p:cNvSpPr txBox="1"/>
          <p:nvPr/>
        </p:nvSpPr>
        <p:spPr>
          <a:xfrm>
            <a:off x="8108899" y="2048256"/>
            <a:ext cx="3172054"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コンテキストスイッチ削減で実作業時間が増加し納期短縮。</a:t>
            </a:r>
            <a:endParaRPr lang="en-US" sz="900" dirty="0"/>
          </a:p>
        </p:txBody>
      </p:sp>
      <p:sp>
        <p:nvSpPr>
          <p:cNvPr id="17" name="Shape 15"/>
          <p:cNvSpPr/>
          <p:nvPr/>
        </p:nvSpPr>
        <p:spPr>
          <a:xfrm>
            <a:off x="304495" y="2572207"/>
            <a:ext cx="11582705" cy="1580998"/>
          </a:xfrm>
          <a:prstGeom prst="roundRect">
            <a:avLst>
              <a:gd name="adj" fmla="val 2787"/>
            </a:avLst>
          </a:prstGeom>
          <a:noFill/>
          <a:ln w="12700">
            <a:solidFill>
              <a:srgbClr val="E5E7EB"/>
            </a:solidFill>
            <a:prstDash val="solid"/>
          </a:ln>
        </p:spPr>
      </p:sp>
      <p:sp>
        <p:nvSpPr>
          <p:cNvPr id="18" name="Text 16"/>
          <p:cNvSpPr txBox="1"/>
          <p:nvPr/>
        </p:nvSpPr>
        <p:spPr>
          <a:xfrm>
            <a:off x="714146" y="2734056"/>
            <a:ext cx="1800454"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並列スケール実行が可能</a:t>
            </a:r>
            <a:endParaRPr lang="en-US" sz="1200" dirty="0"/>
          </a:p>
        </p:txBody>
      </p:sp>
      <p:sp>
        <p:nvSpPr>
          <p:cNvPr id="19" name="Text 17"/>
          <p:cNvSpPr txBox="1"/>
          <p:nvPr/>
        </p:nvSpPr>
        <p:spPr>
          <a:xfrm>
            <a:off x="466344" y="3038551"/>
            <a:ext cx="11301984" cy="381305"/>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1人の開発者が複数のDevinを同時稼働し、別ブランチや別リポのタスクを並列に進行。テスト/ビルド待ちを他タスクへ充当し、人的増員なしでスループットを底上げ。運用例として1人で3〜5タスクの並列実行が可能で、Nubankの600万行レガシー分離でも高い経済性を実証。</a:t>
            </a:r>
            <a:endParaRPr lang="en-US" sz="1000" dirty="0"/>
          </a:p>
        </p:txBody>
      </p:sp>
      <p:sp>
        <p:nvSpPr>
          <p:cNvPr id="20" name="Shape 18"/>
          <p:cNvSpPr/>
          <p:nvPr/>
        </p:nvSpPr>
        <p:spPr>
          <a:xfrm>
            <a:off x="466344" y="3495751"/>
            <a:ext cx="3705149" cy="495605"/>
          </a:xfrm>
          <a:prstGeom prst="roundRect">
            <a:avLst>
              <a:gd name="adj" fmla="val 21289"/>
            </a:avLst>
          </a:prstGeom>
          <a:solidFill>
            <a:srgbClr val="F9FAFB"/>
          </a:solidFill>
          <a:ln w="12700">
            <a:solidFill>
              <a:srgbClr val="E5E7EB"/>
            </a:solidFill>
            <a:prstDash val="solid"/>
          </a:ln>
        </p:spPr>
      </p:sp>
      <p:sp>
        <p:nvSpPr>
          <p:cNvPr id="21" name="Text 19"/>
          <p:cNvSpPr txBox="1"/>
          <p:nvPr/>
        </p:nvSpPr>
        <p:spPr>
          <a:xfrm>
            <a:off x="552298" y="3571646"/>
            <a:ext cx="638251"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品質（Q）</a:t>
            </a:r>
            <a:endParaRPr lang="en-US" sz="900" dirty="0"/>
          </a:p>
        </p:txBody>
      </p:sp>
      <p:sp>
        <p:nvSpPr>
          <p:cNvPr id="22" name="Text 20"/>
          <p:cNvSpPr txBox="1"/>
          <p:nvPr/>
        </p:nvSpPr>
        <p:spPr>
          <a:xfrm>
            <a:off x="552298" y="3743554"/>
            <a:ext cx="3172054"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並列でも十分なテスト時間を確保し多面的に品質チェック。</a:t>
            </a:r>
            <a:endParaRPr lang="en-US" sz="900" dirty="0"/>
          </a:p>
        </p:txBody>
      </p:sp>
      <p:sp>
        <p:nvSpPr>
          <p:cNvPr id="23" name="Shape 21"/>
          <p:cNvSpPr/>
          <p:nvPr/>
        </p:nvSpPr>
        <p:spPr>
          <a:xfrm>
            <a:off x="4244645" y="3495751"/>
            <a:ext cx="3705149" cy="495605"/>
          </a:xfrm>
          <a:prstGeom prst="roundRect">
            <a:avLst>
              <a:gd name="adj" fmla="val 21289"/>
            </a:avLst>
          </a:prstGeom>
          <a:solidFill>
            <a:srgbClr val="F9FAFB"/>
          </a:solidFill>
          <a:ln w="12700">
            <a:solidFill>
              <a:srgbClr val="E5E7EB"/>
            </a:solidFill>
            <a:prstDash val="solid"/>
          </a:ln>
        </p:spPr>
      </p:sp>
      <p:sp>
        <p:nvSpPr>
          <p:cNvPr id="24" name="Text 22"/>
          <p:cNvSpPr txBox="1"/>
          <p:nvPr/>
        </p:nvSpPr>
        <p:spPr>
          <a:xfrm>
            <a:off x="4330598" y="3571646"/>
            <a:ext cx="734263"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コスト（C）</a:t>
            </a:r>
            <a:endParaRPr lang="en-US" sz="900" dirty="0"/>
          </a:p>
        </p:txBody>
      </p:sp>
      <p:sp>
        <p:nvSpPr>
          <p:cNvPr id="25" name="Text 23"/>
          <p:cNvSpPr txBox="1"/>
          <p:nvPr/>
        </p:nvSpPr>
        <p:spPr>
          <a:xfrm>
            <a:off x="4330598" y="3743554"/>
            <a:ext cx="3410712"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人的増員なしで作業量を拡大。事例では最大20倍のコスト削減。</a:t>
            </a:r>
            <a:endParaRPr lang="en-US" sz="900" dirty="0"/>
          </a:p>
        </p:txBody>
      </p:sp>
      <p:sp>
        <p:nvSpPr>
          <p:cNvPr id="26" name="Shape 24"/>
          <p:cNvSpPr/>
          <p:nvPr/>
        </p:nvSpPr>
        <p:spPr>
          <a:xfrm>
            <a:off x="8022946" y="3495751"/>
            <a:ext cx="3705149" cy="495605"/>
          </a:xfrm>
          <a:prstGeom prst="roundRect">
            <a:avLst>
              <a:gd name="adj" fmla="val 21289"/>
            </a:avLst>
          </a:prstGeom>
          <a:solidFill>
            <a:srgbClr val="F9FAFB"/>
          </a:solidFill>
          <a:ln w="12700">
            <a:solidFill>
              <a:srgbClr val="E5E7EB"/>
            </a:solidFill>
            <a:prstDash val="solid"/>
          </a:ln>
        </p:spPr>
      </p:sp>
      <p:sp>
        <p:nvSpPr>
          <p:cNvPr id="27" name="Text 25"/>
          <p:cNvSpPr txBox="1"/>
          <p:nvPr/>
        </p:nvSpPr>
        <p:spPr>
          <a:xfrm>
            <a:off x="8108899" y="3571646"/>
            <a:ext cx="629107"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期限（D）</a:t>
            </a:r>
            <a:endParaRPr lang="en-US" sz="900" dirty="0"/>
          </a:p>
        </p:txBody>
      </p:sp>
      <p:sp>
        <p:nvSpPr>
          <p:cNvPr id="28" name="Text 26"/>
          <p:cNvSpPr txBox="1"/>
          <p:nvPr/>
        </p:nvSpPr>
        <p:spPr>
          <a:xfrm>
            <a:off x="8108899" y="3743554"/>
            <a:ext cx="2962656"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並列化で18ヶ月想定の作業を数週間へ圧縮し納期短縮。</a:t>
            </a:r>
            <a:endParaRPr lang="en-US" sz="900" dirty="0"/>
          </a:p>
        </p:txBody>
      </p:sp>
      <p:sp>
        <p:nvSpPr>
          <p:cNvPr id="29" name="Shape 27"/>
          <p:cNvSpPr/>
          <p:nvPr/>
        </p:nvSpPr>
        <p:spPr>
          <a:xfrm>
            <a:off x="304495" y="4267505"/>
            <a:ext cx="11582705" cy="1580998"/>
          </a:xfrm>
          <a:prstGeom prst="roundRect">
            <a:avLst>
              <a:gd name="adj" fmla="val 2787"/>
            </a:avLst>
          </a:prstGeom>
          <a:noFill/>
          <a:ln w="12700">
            <a:solidFill>
              <a:srgbClr val="E5E7EB"/>
            </a:solidFill>
            <a:prstDash val="solid"/>
          </a:ln>
        </p:spPr>
      </p:sp>
      <p:sp>
        <p:nvSpPr>
          <p:cNvPr id="30" name="Text 28"/>
          <p:cNvSpPr txBox="1"/>
          <p:nvPr/>
        </p:nvSpPr>
        <p:spPr>
          <a:xfrm>
            <a:off x="714146" y="4429354"/>
            <a:ext cx="2705710" cy="228600"/>
          </a:xfrm>
          <a:prstGeom prst="rect">
            <a:avLst/>
          </a:prstGeom>
          <a:noFill/>
          <a:ln/>
        </p:spPr>
        <p:txBody>
          <a:bodyPr wrap="square" lIns="0" tIns="0" rIns="0" bIns="0" rtlCol="0" anchor="ctr"/>
          <a:lstStyle/>
          <a:p>
            <a:pPr algn="l" indent="0" marL="0">
              <a:buNone/>
            </a:pPr>
            <a:r>
              <a:rPr lang="en-US" sz="1200" b="1" dirty="0">
                <a:solidFill>
                  <a:srgbClr val="111827"/>
                </a:solidFill>
                <a:latin typeface="Noto Sans JP" pitchFamily="34" charset="0"/>
                <a:ea typeface="Noto Sans JP" pitchFamily="34" charset="-122"/>
                <a:cs typeface="Noto Sans JP" pitchFamily="34" charset="-120"/>
              </a:rPr>
              <a:t>複数リポジトリに跨った理解ができる</a:t>
            </a:r>
            <a:endParaRPr lang="en-US" sz="1200" dirty="0"/>
          </a:p>
        </p:txBody>
      </p:sp>
      <p:sp>
        <p:nvSpPr>
          <p:cNvPr id="31" name="Text 29"/>
          <p:cNvSpPr txBox="1"/>
          <p:nvPr/>
        </p:nvSpPr>
        <p:spPr>
          <a:xfrm>
            <a:off x="466344" y="4733849"/>
            <a:ext cx="11235233" cy="381305"/>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マイクロサービスやマルチリポ構成で、リポジトリ横断のコード理解と変更に対応。API契約変更や共通ライブラリ更新など影響範囲が広い作業を一貫して実行し、全体最適と整合性を担保しながら大規模システムの近代化を推進します。</a:t>
            </a:r>
            <a:endParaRPr lang="en-US" sz="1000" dirty="0"/>
          </a:p>
        </p:txBody>
      </p:sp>
      <p:sp>
        <p:nvSpPr>
          <p:cNvPr id="32" name="Shape 30"/>
          <p:cNvSpPr/>
          <p:nvPr/>
        </p:nvSpPr>
        <p:spPr>
          <a:xfrm>
            <a:off x="466344" y="5191049"/>
            <a:ext cx="3705149" cy="495605"/>
          </a:xfrm>
          <a:prstGeom prst="roundRect">
            <a:avLst>
              <a:gd name="adj" fmla="val 21289"/>
            </a:avLst>
          </a:prstGeom>
          <a:solidFill>
            <a:srgbClr val="F9FAFB"/>
          </a:solidFill>
          <a:ln w="12700">
            <a:solidFill>
              <a:srgbClr val="E5E7EB"/>
            </a:solidFill>
            <a:prstDash val="solid"/>
          </a:ln>
        </p:spPr>
      </p:sp>
      <p:sp>
        <p:nvSpPr>
          <p:cNvPr id="33" name="Text 31"/>
          <p:cNvSpPr txBox="1"/>
          <p:nvPr/>
        </p:nvSpPr>
        <p:spPr>
          <a:xfrm>
            <a:off x="552298" y="5266944"/>
            <a:ext cx="638251"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品質（Q）</a:t>
            </a:r>
            <a:endParaRPr lang="en-US" sz="900" dirty="0"/>
          </a:p>
        </p:txBody>
      </p:sp>
      <p:sp>
        <p:nvSpPr>
          <p:cNvPr id="34" name="Text 32"/>
          <p:cNvSpPr txBox="1"/>
          <p:nvPr/>
        </p:nvSpPr>
        <p:spPr>
          <a:xfrm>
            <a:off x="552298" y="5438851"/>
            <a:ext cx="3067812"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横断整合性を自動確認し依存不整合を防止、品質を向上。</a:t>
            </a:r>
            <a:endParaRPr lang="en-US" sz="900" dirty="0"/>
          </a:p>
        </p:txBody>
      </p:sp>
      <p:sp>
        <p:nvSpPr>
          <p:cNvPr id="35" name="Shape 33"/>
          <p:cNvSpPr/>
          <p:nvPr/>
        </p:nvSpPr>
        <p:spPr>
          <a:xfrm>
            <a:off x="4244645" y="5191049"/>
            <a:ext cx="3705149" cy="495605"/>
          </a:xfrm>
          <a:prstGeom prst="roundRect">
            <a:avLst>
              <a:gd name="adj" fmla="val 21289"/>
            </a:avLst>
          </a:prstGeom>
          <a:solidFill>
            <a:srgbClr val="F9FAFB"/>
          </a:solidFill>
          <a:ln w="12700">
            <a:solidFill>
              <a:srgbClr val="E5E7EB"/>
            </a:solidFill>
            <a:prstDash val="solid"/>
          </a:ln>
        </p:spPr>
      </p:sp>
      <p:sp>
        <p:nvSpPr>
          <p:cNvPr id="36" name="Text 34"/>
          <p:cNvSpPr txBox="1"/>
          <p:nvPr/>
        </p:nvSpPr>
        <p:spPr>
          <a:xfrm>
            <a:off x="4330598" y="5266944"/>
            <a:ext cx="734263"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コスト（C）</a:t>
            </a:r>
            <a:endParaRPr lang="en-US" sz="900" dirty="0"/>
          </a:p>
        </p:txBody>
      </p:sp>
      <p:sp>
        <p:nvSpPr>
          <p:cNvPr id="37" name="Text 35"/>
          <p:cNvSpPr txBox="1"/>
          <p:nvPr/>
        </p:nvSpPr>
        <p:spPr>
          <a:xfrm>
            <a:off x="4330598" y="5438851"/>
            <a:ext cx="3057754"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手動の横断調査が不要になり、影響分析のコストを削減。</a:t>
            </a:r>
            <a:endParaRPr lang="en-US" sz="900" dirty="0"/>
          </a:p>
        </p:txBody>
      </p:sp>
      <p:sp>
        <p:nvSpPr>
          <p:cNvPr id="38" name="Shape 36"/>
          <p:cNvSpPr/>
          <p:nvPr/>
        </p:nvSpPr>
        <p:spPr>
          <a:xfrm>
            <a:off x="8022946" y="5191049"/>
            <a:ext cx="3705149" cy="495605"/>
          </a:xfrm>
          <a:prstGeom prst="roundRect">
            <a:avLst>
              <a:gd name="adj" fmla="val 21289"/>
            </a:avLst>
          </a:prstGeom>
          <a:solidFill>
            <a:srgbClr val="F9FAFB"/>
          </a:solidFill>
          <a:ln w="12700">
            <a:solidFill>
              <a:srgbClr val="E5E7EB"/>
            </a:solidFill>
            <a:prstDash val="solid"/>
          </a:ln>
        </p:spPr>
      </p:sp>
      <p:sp>
        <p:nvSpPr>
          <p:cNvPr id="39" name="Text 37"/>
          <p:cNvSpPr txBox="1"/>
          <p:nvPr/>
        </p:nvSpPr>
        <p:spPr>
          <a:xfrm>
            <a:off x="8108899" y="5266944"/>
            <a:ext cx="629107"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期限（D）</a:t>
            </a:r>
            <a:endParaRPr lang="en-US" sz="900" dirty="0"/>
          </a:p>
        </p:txBody>
      </p:sp>
      <p:sp>
        <p:nvSpPr>
          <p:cNvPr id="40" name="Text 38"/>
          <p:cNvSpPr txBox="1"/>
          <p:nvPr/>
        </p:nvSpPr>
        <p:spPr>
          <a:xfrm>
            <a:off x="8108899" y="5438851"/>
            <a:ext cx="3172054" cy="162763"/>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複数リポの同時更新により段階移行のリードタイムを短縮。</a:t>
            </a:r>
            <a:endParaRPr lang="en-US" sz="900" dirty="0"/>
          </a:p>
        </p:txBody>
      </p:sp>
      <p:sp>
        <p:nvSpPr>
          <p:cNvPr id="41" name="Shape 39"/>
          <p:cNvSpPr/>
          <p:nvPr/>
        </p:nvSpPr>
        <p:spPr>
          <a:xfrm>
            <a:off x="304495" y="6001207"/>
            <a:ext cx="2229307" cy="895198"/>
          </a:xfrm>
          <a:prstGeom prst="roundRect">
            <a:avLst>
              <a:gd name="adj" fmla="val 8693"/>
            </a:avLst>
          </a:prstGeom>
          <a:noFill/>
          <a:ln w="12700">
            <a:solidFill>
              <a:srgbClr val="E5E7EB"/>
            </a:solidFill>
            <a:prstDash val="solid"/>
          </a:ln>
        </p:spPr>
      </p:sp>
      <p:sp>
        <p:nvSpPr>
          <p:cNvPr id="42" name="Shape 40"/>
          <p:cNvSpPr/>
          <p:nvPr/>
        </p:nvSpPr>
        <p:spPr>
          <a:xfrm>
            <a:off x="2644445" y="6001207"/>
            <a:ext cx="2229307" cy="895198"/>
          </a:xfrm>
          <a:prstGeom prst="roundRect">
            <a:avLst>
              <a:gd name="adj" fmla="val 8693"/>
            </a:avLst>
          </a:prstGeom>
          <a:noFill/>
          <a:ln w="12700">
            <a:solidFill>
              <a:srgbClr val="E5E7EB"/>
            </a:solidFill>
            <a:prstDash val="solid"/>
          </a:ln>
        </p:spPr>
      </p:sp>
      <p:sp>
        <p:nvSpPr>
          <p:cNvPr id="43" name="Shape 41"/>
          <p:cNvSpPr/>
          <p:nvPr/>
        </p:nvSpPr>
        <p:spPr>
          <a:xfrm>
            <a:off x="4983480" y="6001207"/>
            <a:ext cx="2229307" cy="895198"/>
          </a:xfrm>
          <a:prstGeom prst="roundRect">
            <a:avLst>
              <a:gd name="adj" fmla="val 8693"/>
            </a:avLst>
          </a:prstGeom>
          <a:noFill/>
          <a:ln w="12700">
            <a:solidFill>
              <a:srgbClr val="E5E7EB"/>
            </a:solidFill>
            <a:prstDash val="solid"/>
          </a:ln>
        </p:spPr>
      </p:sp>
      <p:sp>
        <p:nvSpPr>
          <p:cNvPr id="44" name="Shape 42"/>
          <p:cNvSpPr/>
          <p:nvPr/>
        </p:nvSpPr>
        <p:spPr>
          <a:xfrm>
            <a:off x="7322515" y="6001207"/>
            <a:ext cx="2229307" cy="895198"/>
          </a:xfrm>
          <a:prstGeom prst="roundRect">
            <a:avLst>
              <a:gd name="adj" fmla="val 8693"/>
            </a:avLst>
          </a:prstGeom>
          <a:noFill/>
          <a:ln w="12700">
            <a:solidFill>
              <a:srgbClr val="E5E7EB"/>
            </a:solidFill>
            <a:prstDash val="solid"/>
          </a:ln>
        </p:spPr>
      </p:sp>
      <p:sp>
        <p:nvSpPr>
          <p:cNvPr id="45" name="Shape 43"/>
          <p:cNvSpPr/>
          <p:nvPr/>
        </p:nvSpPr>
        <p:spPr>
          <a:xfrm>
            <a:off x="9662465" y="6001207"/>
            <a:ext cx="2229307" cy="895198"/>
          </a:xfrm>
          <a:prstGeom prst="roundRect">
            <a:avLst>
              <a:gd name="adj" fmla="val 8693"/>
            </a:avLst>
          </a:prstGeom>
          <a:noFill/>
          <a:ln w="12700">
            <a:solidFill>
              <a:srgbClr val="E5E7EB"/>
            </a:solidFill>
            <a:prstDash val="solid"/>
          </a:ln>
        </p:spPr>
      </p:sp>
      <p:sp>
        <p:nvSpPr>
          <p:cNvPr id="46" name="Text 44"/>
          <p:cNvSpPr txBox="1"/>
          <p:nvPr/>
        </p:nvSpPr>
        <p:spPr>
          <a:xfrm>
            <a:off x="428854" y="6115507"/>
            <a:ext cx="771754"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セキュリティ</a:t>
            </a:r>
            <a:endParaRPr lang="en-US" sz="900" dirty="0"/>
          </a:p>
        </p:txBody>
      </p:sp>
      <p:sp>
        <p:nvSpPr>
          <p:cNvPr id="47" name="Text 45"/>
          <p:cNvSpPr txBox="1"/>
          <p:nvPr/>
        </p:nvSpPr>
        <p:spPr>
          <a:xfrm>
            <a:off x="2767889" y="6115507"/>
            <a:ext cx="553212"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得意分野</a:t>
            </a:r>
            <a:endParaRPr lang="en-US" sz="900" dirty="0"/>
          </a:p>
        </p:txBody>
      </p:sp>
      <p:sp>
        <p:nvSpPr>
          <p:cNvPr id="48" name="Text 46"/>
          <p:cNvSpPr txBox="1"/>
          <p:nvPr/>
        </p:nvSpPr>
        <p:spPr>
          <a:xfrm>
            <a:off x="5106924" y="6115507"/>
            <a:ext cx="781812"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推奨シナリオ</a:t>
            </a:r>
            <a:endParaRPr lang="en-US" sz="900" dirty="0"/>
          </a:p>
        </p:txBody>
      </p:sp>
      <p:sp>
        <p:nvSpPr>
          <p:cNvPr id="49" name="Text 47"/>
          <p:cNvSpPr txBox="1"/>
          <p:nvPr/>
        </p:nvSpPr>
        <p:spPr>
          <a:xfrm>
            <a:off x="7446874" y="6115507"/>
            <a:ext cx="896112"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その他メリット</a:t>
            </a:r>
            <a:endParaRPr lang="en-US" sz="900" dirty="0"/>
          </a:p>
        </p:txBody>
      </p:sp>
      <p:sp>
        <p:nvSpPr>
          <p:cNvPr id="50" name="Text 48"/>
          <p:cNvSpPr txBox="1"/>
          <p:nvPr/>
        </p:nvSpPr>
        <p:spPr>
          <a:xfrm>
            <a:off x="9785909" y="6115507"/>
            <a:ext cx="781812" cy="162763"/>
          </a:xfrm>
          <a:prstGeom prst="rect">
            <a:avLst/>
          </a:prstGeom>
          <a:noFill/>
          <a:ln/>
        </p:spPr>
        <p:txBody>
          <a:bodyPr wrap="square" lIns="0" tIns="0" rIns="0" bIns="0" rtlCol="0" anchor="ctr"/>
          <a:lstStyle/>
          <a:p>
            <a:pPr algn="l" indent="0" marL="0">
              <a:buNone/>
            </a:pPr>
            <a:r>
              <a:rPr lang="en-US" sz="900" b="1" dirty="0">
                <a:solidFill>
                  <a:srgbClr val="111827"/>
                </a:solidFill>
                <a:latin typeface="Noto Sans JP" pitchFamily="34" charset="0"/>
                <a:ea typeface="Noto Sans JP" pitchFamily="34" charset="-122"/>
                <a:cs typeface="Noto Sans JP" pitchFamily="34" charset="-120"/>
              </a:rPr>
              <a:t>リスクと対策</a:t>
            </a:r>
            <a:endParaRPr lang="en-US" sz="900" dirty="0"/>
          </a:p>
        </p:txBody>
      </p:sp>
      <p:sp>
        <p:nvSpPr>
          <p:cNvPr id="51" name="Text 49"/>
          <p:cNvSpPr txBox="1"/>
          <p:nvPr/>
        </p:nvSpPr>
        <p:spPr>
          <a:xfrm>
            <a:off x="428854" y="6305702"/>
            <a:ext cx="1819656" cy="314554"/>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SOC2 Type II（2024/9）・GDPR・VPC/Private Link</a:t>
            </a:r>
            <a:endParaRPr lang="en-US" sz="900" dirty="0"/>
          </a:p>
        </p:txBody>
      </p:sp>
      <p:sp>
        <p:nvSpPr>
          <p:cNvPr id="52" name="Text 50"/>
          <p:cNvSpPr txBox="1"/>
          <p:nvPr/>
        </p:nvSpPr>
        <p:spPr>
          <a:xfrm>
            <a:off x="2767889" y="6305702"/>
            <a:ext cx="2029054" cy="314554"/>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レガシー移行・セキュリティ修正・テスト生成</a:t>
            </a:r>
            <a:endParaRPr lang="en-US" sz="900" dirty="0"/>
          </a:p>
        </p:txBody>
      </p:sp>
      <p:sp>
        <p:nvSpPr>
          <p:cNvPr id="53" name="Text 51"/>
          <p:cNvSpPr txBox="1"/>
          <p:nvPr/>
        </p:nvSpPr>
        <p:spPr>
          <a:xfrm>
            <a:off x="5106924" y="6305702"/>
            <a:ext cx="1962302" cy="314554"/>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大規模移行・金融/規制産業・効率重視</a:t>
            </a:r>
            <a:endParaRPr lang="en-US" sz="900" dirty="0"/>
          </a:p>
        </p:txBody>
      </p:sp>
      <p:sp>
        <p:nvSpPr>
          <p:cNvPr id="54" name="Text 52"/>
          <p:cNvSpPr txBox="1"/>
          <p:nvPr/>
        </p:nvSpPr>
        <p:spPr>
          <a:xfrm>
            <a:off x="7446874" y="6305702"/>
            <a:ext cx="1895551" cy="314554"/>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ACU課金（成果ベース）・PR merge 67%・600万行実績</a:t>
            </a:r>
            <a:endParaRPr lang="en-US" sz="900" dirty="0"/>
          </a:p>
        </p:txBody>
      </p:sp>
      <p:sp>
        <p:nvSpPr>
          <p:cNvPr id="55" name="Text 53"/>
          <p:cNvSpPr txBox="1"/>
          <p:nvPr/>
        </p:nvSpPr>
        <p:spPr>
          <a:xfrm>
            <a:off x="9785909" y="6305702"/>
            <a:ext cx="1953158" cy="467258"/>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IP補償なし→スキャン/法務、日サポ限定→内製化、オフライン不可→VPC+PL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2025-11-24T23:17:49Z</dcterms:created>
  <dcterms:modified xsi:type="dcterms:W3CDTF">2025-11-24T23:17:49Z</dcterms:modified>
</cp:coreProperties>
</file>